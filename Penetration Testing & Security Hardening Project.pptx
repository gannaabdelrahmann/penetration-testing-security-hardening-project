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65" r:id="rId5"/>
    <p:sldId id="259" r:id="rId6"/>
    <p:sldId id="260" r:id="rId7"/>
    <p:sldId id="266" r:id="rId8"/>
    <p:sldId id="267" r:id="rId9"/>
    <p:sldId id="261" r:id="rId10"/>
    <p:sldId id="268" r:id="rId11"/>
    <p:sldId id="262" r:id="rId12"/>
    <p:sldId id="263" r:id="rId13"/>
    <p:sldId id="270" r:id="rId14"/>
    <p:sldId id="272" r:id="rId15"/>
    <p:sldId id="277" r:id="rId16"/>
    <p:sldId id="273" r:id="rId17"/>
    <p:sldId id="278" r:id="rId18"/>
    <p:sldId id="274" r:id="rId19"/>
    <p:sldId id="279" r:id="rId20"/>
    <p:sldId id="275" r:id="rId21"/>
    <p:sldId id="280" r:id="rId22"/>
    <p:sldId id="281" r:id="rId23"/>
  </p:sldIdLst>
  <p:sldSz cx="11430000" cy="6445250"/>
  <p:notesSz cx="11430000" cy="64452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3" d="100"/>
          <a:sy n="83" d="100"/>
        </p:scale>
        <p:origin x="854" y="6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57250" y="1998027"/>
            <a:ext cx="9715500" cy="135350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650" b="0" i="0">
                <a:solidFill>
                  <a:srgbClr val="F4E882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714500" y="3609340"/>
            <a:ext cx="8001000" cy="16113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350" b="0" i="0">
                <a:solidFill>
                  <a:srgbClr val="CFCBBE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650" b="0" i="0">
                <a:solidFill>
                  <a:srgbClr val="F4E882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350" b="0" i="0">
                <a:solidFill>
                  <a:srgbClr val="CFCBBE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650" b="0" i="0">
                <a:solidFill>
                  <a:srgbClr val="F4E882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71500" y="1482407"/>
            <a:ext cx="4972050" cy="42538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886450" y="1482407"/>
            <a:ext cx="4972050" cy="42538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8/24/2025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650" b="0" i="0">
                <a:solidFill>
                  <a:srgbClr val="F4E882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8/24/2025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8/24/2025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1430000" cy="6438900"/>
          </a:xfrm>
          <a:custGeom>
            <a:avLst/>
            <a:gdLst/>
            <a:ahLst/>
            <a:cxnLst/>
            <a:rect l="l" t="t" r="r" b="b"/>
            <a:pathLst>
              <a:path w="11430000" h="6438900">
                <a:moveTo>
                  <a:pt x="11430000" y="0"/>
                </a:moveTo>
                <a:lnTo>
                  <a:pt x="0" y="0"/>
                </a:lnTo>
                <a:lnTo>
                  <a:pt x="0" y="6438900"/>
                </a:lnTo>
                <a:lnTo>
                  <a:pt x="11430000" y="6438900"/>
                </a:lnTo>
                <a:lnTo>
                  <a:pt x="11430000" y="0"/>
                </a:lnTo>
                <a:close/>
              </a:path>
            </a:pathLst>
          </a:custGeom>
          <a:solidFill>
            <a:srgbClr val="1B1C1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86519" y="1311275"/>
            <a:ext cx="10256960" cy="118205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650" b="0" i="0">
                <a:solidFill>
                  <a:srgbClr val="F4E882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147767" y="2806700"/>
            <a:ext cx="5230495" cy="17837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350" b="0" i="0">
                <a:solidFill>
                  <a:srgbClr val="CFCBBE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886200" y="5994082"/>
            <a:ext cx="3657600" cy="3222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71500" y="5994082"/>
            <a:ext cx="2628900" cy="3222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229600" y="5994082"/>
            <a:ext cx="2628900" cy="3222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.png"/><Relationship Id="rId5" Type="http://schemas.openxmlformats.org/officeDocument/2006/relationships/image" Target="../media/image2.png"/><Relationship Id="rId4" Type="http://schemas.openxmlformats.org/officeDocument/2006/relationships/hyperlink" Target="https://gamma.app/?utm_source=made-with-gamma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.png"/><Relationship Id="rId5" Type="http://schemas.openxmlformats.org/officeDocument/2006/relationships/image" Target="../media/image2.png"/><Relationship Id="rId4" Type="http://schemas.openxmlformats.org/officeDocument/2006/relationships/hyperlink" Target="https://gamma.app/?utm_source=made-with-gamma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7" Type="http://schemas.openxmlformats.org/officeDocument/2006/relationships/image" Target="../media/image11.pn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10" Type="http://schemas.openxmlformats.org/officeDocument/2006/relationships/image" Target="../media/image2.png"/><Relationship Id="rId4" Type="http://schemas.openxmlformats.org/officeDocument/2006/relationships/image" Target="../media/image14.png"/><Relationship Id="rId9" Type="http://schemas.openxmlformats.org/officeDocument/2006/relationships/hyperlink" Target="https://gamma.app/?utm_source=made-with-gamma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22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2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0.png"/><Relationship Id="rId5" Type="http://schemas.openxmlformats.org/officeDocument/2006/relationships/image" Target="../media/image2.png"/><Relationship Id="rId4" Type="http://schemas.openxmlformats.org/officeDocument/2006/relationships/hyperlink" Target="https://gamma.app/?utm_source=made-with-gamma" TargetMode="Externa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hyperlink" Target="https://gamma.app/?utm_source=made-with-gamma" TargetMode="Externa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5.png"/><Relationship Id="rId4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36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36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7.png"/><Relationship Id="rId4" Type="http://schemas.openxmlformats.org/officeDocument/2006/relationships/image" Target="../media/image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7" Type="http://schemas.openxmlformats.org/officeDocument/2006/relationships/image" Target="../media/image2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gamma.app/?utm_source=made-with-gamma" TargetMode="External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1430000" cy="6438900"/>
          </a:xfrm>
          <a:custGeom>
            <a:avLst/>
            <a:gdLst/>
            <a:ahLst/>
            <a:cxnLst/>
            <a:rect l="l" t="t" r="r" b="b"/>
            <a:pathLst>
              <a:path w="11430000" h="6438900">
                <a:moveTo>
                  <a:pt x="11430000" y="0"/>
                </a:moveTo>
                <a:lnTo>
                  <a:pt x="0" y="0"/>
                </a:lnTo>
                <a:lnTo>
                  <a:pt x="0" y="6438900"/>
                </a:lnTo>
                <a:lnTo>
                  <a:pt x="11430000" y="6438900"/>
                </a:lnTo>
                <a:lnTo>
                  <a:pt x="11430000" y="0"/>
                </a:lnTo>
                <a:close/>
              </a:path>
            </a:pathLst>
          </a:custGeom>
          <a:solidFill>
            <a:srgbClr val="0D0D09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53"/>
            <a:ext cx="4286250" cy="6438900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5559869" y="2206625"/>
            <a:ext cx="4596765" cy="11112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11175" marR="5080" indent="-499109">
              <a:lnSpc>
                <a:spcPct val="106300"/>
              </a:lnSpc>
              <a:spcBef>
                <a:spcPts val="95"/>
              </a:spcBef>
            </a:pPr>
            <a:r>
              <a:rPr sz="3350" spc="300" dirty="0">
                <a:solidFill>
                  <a:srgbClr val="F2E781"/>
                </a:solidFill>
              </a:rPr>
              <a:t>Cybersecurity</a:t>
            </a:r>
            <a:r>
              <a:rPr sz="3350" spc="85" dirty="0">
                <a:solidFill>
                  <a:srgbClr val="F2E781"/>
                </a:solidFill>
              </a:rPr>
              <a:t> </a:t>
            </a:r>
            <a:r>
              <a:rPr sz="3350" spc="220" dirty="0">
                <a:solidFill>
                  <a:srgbClr val="F2E781"/>
                </a:solidFill>
              </a:rPr>
              <a:t>Project: </a:t>
            </a:r>
            <a:r>
              <a:rPr sz="3350" spc="254" dirty="0">
                <a:solidFill>
                  <a:srgbClr val="F2E781"/>
                </a:solidFill>
              </a:rPr>
              <a:t>Attack</a:t>
            </a:r>
            <a:r>
              <a:rPr sz="3350" spc="50" dirty="0">
                <a:solidFill>
                  <a:srgbClr val="F2E781"/>
                </a:solidFill>
              </a:rPr>
              <a:t> </a:t>
            </a:r>
            <a:r>
              <a:rPr lang="en-US" sz="3350" spc="480" dirty="0">
                <a:solidFill>
                  <a:srgbClr val="F2E781"/>
                </a:solidFill>
              </a:rPr>
              <a:t>a</a:t>
            </a:r>
            <a:r>
              <a:rPr sz="3350" spc="50" dirty="0">
                <a:solidFill>
                  <a:srgbClr val="F2E781"/>
                </a:solidFill>
              </a:rPr>
              <a:t> </a:t>
            </a:r>
            <a:r>
              <a:rPr sz="3350" spc="300" dirty="0">
                <a:solidFill>
                  <a:srgbClr val="F2E781"/>
                </a:solidFill>
              </a:rPr>
              <a:t>Defense</a:t>
            </a:r>
            <a:endParaRPr sz="3350" dirty="0"/>
          </a:p>
        </p:txBody>
      </p:sp>
      <p:sp>
        <p:nvSpPr>
          <p:cNvPr id="5" name="object 5"/>
          <p:cNvSpPr txBox="1"/>
          <p:nvPr/>
        </p:nvSpPr>
        <p:spPr>
          <a:xfrm>
            <a:off x="5019331" y="3545840"/>
            <a:ext cx="5678170" cy="53982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58720" marR="5080" indent="-2446655">
              <a:lnSpc>
                <a:spcPct val="134300"/>
              </a:lnSpc>
              <a:spcBef>
                <a:spcPts val="100"/>
              </a:spcBef>
            </a:pPr>
            <a:r>
              <a:rPr sz="1350" spc="110" dirty="0">
                <a:solidFill>
                  <a:srgbClr val="CFCBBE"/>
                </a:solidFill>
                <a:latin typeface="Trebuchet MS"/>
                <a:cs typeface="Trebuchet MS"/>
              </a:rPr>
              <a:t>A</a:t>
            </a:r>
            <a:r>
              <a:rPr sz="1350" spc="10" dirty="0">
                <a:solidFill>
                  <a:srgbClr val="CFCBBE"/>
                </a:solidFill>
                <a:latin typeface="Trebuchet MS"/>
                <a:cs typeface="Trebuchet MS"/>
              </a:rPr>
              <a:t> </a:t>
            </a:r>
            <a:r>
              <a:rPr sz="1350" dirty="0">
                <a:solidFill>
                  <a:srgbClr val="CFCBBE"/>
                </a:solidFill>
                <a:latin typeface="Trebuchet MS"/>
                <a:cs typeface="Trebuchet MS"/>
              </a:rPr>
              <a:t>comprehensive</a:t>
            </a:r>
            <a:r>
              <a:rPr sz="1350" spc="65" dirty="0">
                <a:solidFill>
                  <a:srgbClr val="CFCBBE"/>
                </a:solidFill>
                <a:latin typeface="Trebuchet MS"/>
                <a:cs typeface="Trebuchet MS"/>
              </a:rPr>
              <a:t> </a:t>
            </a:r>
            <a:r>
              <a:rPr sz="1350" dirty="0">
                <a:solidFill>
                  <a:srgbClr val="CFCBBE"/>
                </a:solidFill>
                <a:latin typeface="Trebuchet MS"/>
                <a:cs typeface="Trebuchet MS"/>
              </a:rPr>
              <a:t>look</a:t>
            </a:r>
            <a:r>
              <a:rPr sz="1350" spc="70" dirty="0">
                <a:solidFill>
                  <a:srgbClr val="CFCBBE"/>
                </a:solidFill>
                <a:latin typeface="Trebuchet MS"/>
                <a:cs typeface="Trebuchet MS"/>
              </a:rPr>
              <a:t> </a:t>
            </a:r>
            <a:r>
              <a:rPr sz="1350" spc="-20" dirty="0">
                <a:solidFill>
                  <a:srgbClr val="CFCBBE"/>
                </a:solidFill>
                <a:latin typeface="Trebuchet MS"/>
                <a:cs typeface="Trebuchet MS"/>
              </a:rPr>
              <a:t>into</a:t>
            </a:r>
            <a:r>
              <a:rPr sz="1350" spc="65" dirty="0">
                <a:solidFill>
                  <a:srgbClr val="CFCBBE"/>
                </a:solidFill>
                <a:latin typeface="Trebuchet MS"/>
                <a:cs typeface="Trebuchet MS"/>
              </a:rPr>
              <a:t> </a:t>
            </a:r>
            <a:r>
              <a:rPr sz="1350" spc="-10" dirty="0">
                <a:solidFill>
                  <a:srgbClr val="CFCBBE"/>
                </a:solidFill>
                <a:latin typeface="Trebuchet MS"/>
                <a:cs typeface="Trebuchet MS"/>
              </a:rPr>
              <a:t>simul</a:t>
            </a:r>
            <a:r>
              <a:rPr lang="en-US" sz="1350" spc="-10" dirty="0">
                <a:solidFill>
                  <a:srgbClr val="CFCBBE"/>
                </a:solidFill>
                <a:latin typeface="Trebuchet MS"/>
                <a:cs typeface="Trebuchet MS"/>
              </a:rPr>
              <a:t>a</a:t>
            </a:r>
            <a:r>
              <a:rPr sz="1350" spc="-10" dirty="0">
                <a:solidFill>
                  <a:srgbClr val="CFCBBE"/>
                </a:solidFill>
                <a:latin typeface="Trebuchet MS"/>
                <a:cs typeface="Trebuchet MS"/>
              </a:rPr>
              <a:t>ting</a:t>
            </a:r>
            <a:r>
              <a:rPr sz="1350" spc="65" dirty="0">
                <a:solidFill>
                  <a:srgbClr val="CFCBBE"/>
                </a:solidFill>
                <a:latin typeface="Trebuchet MS"/>
                <a:cs typeface="Trebuchet MS"/>
              </a:rPr>
              <a:t> </a:t>
            </a:r>
            <a:r>
              <a:rPr sz="1350" dirty="0">
                <a:solidFill>
                  <a:srgbClr val="CFCBBE"/>
                </a:solidFill>
                <a:latin typeface="Trebuchet MS"/>
                <a:cs typeface="Trebuchet MS"/>
              </a:rPr>
              <a:t>cyber</a:t>
            </a:r>
            <a:r>
              <a:rPr sz="1350" spc="25" dirty="0">
                <a:solidFill>
                  <a:srgbClr val="CFCBBE"/>
                </a:solidFill>
                <a:latin typeface="Trebuchet MS"/>
                <a:cs typeface="Trebuchet MS"/>
              </a:rPr>
              <a:t> </a:t>
            </a:r>
            <a:r>
              <a:rPr lang="en-US" sz="1350" spc="-65" dirty="0">
                <a:solidFill>
                  <a:srgbClr val="CFCBBE"/>
                </a:solidFill>
                <a:latin typeface="Trebuchet MS"/>
                <a:cs typeface="Trebuchet MS"/>
              </a:rPr>
              <a:t>a</a:t>
            </a:r>
            <a:r>
              <a:rPr sz="1350" spc="-65" dirty="0">
                <a:solidFill>
                  <a:srgbClr val="CFCBBE"/>
                </a:solidFill>
                <a:latin typeface="Trebuchet MS"/>
                <a:cs typeface="Trebuchet MS"/>
              </a:rPr>
              <a:t>tt</a:t>
            </a:r>
            <a:r>
              <a:rPr lang="en-US" sz="1350" spc="-65" dirty="0">
                <a:solidFill>
                  <a:srgbClr val="CFCBBE"/>
                </a:solidFill>
                <a:latin typeface="Trebuchet MS"/>
                <a:cs typeface="Trebuchet MS"/>
              </a:rPr>
              <a:t>a</a:t>
            </a:r>
            <a:r>
              <a:rPr sz="1350" spc="-65" dirty="0">
                <a:solidFill>
                  <a:srgbClr val="CFCBBE"/>
                </a:solidFill>
                <a:latin typeface="Trebuchet MS"/>
                <a:cs typeface="Trebuchet MS"/>
              </a:rPr>
              <a:t>cks</a:t>
            </a:r>
            <a:r>
              <a:rPr sz="1350" spc="70" dirty="0">
                <a:solidFill>
                  <a:srgbClr val="CFCBBE"/>
                </a:solidFill>
                <a:latin typeface="Trebuchet MS"/>
                <a:cs typeface="Trebuchet MS"/>
              </a:rPr>
              <a:t> </a:t>
            </a:r>
            <a:r>
              <a:rPr lang="en-US" sz="1350" spc="-35" dirty="0">
                <a:solidFill>
                  <a:srgbClr val="CFCBBE"/>
                </a:solidFill>
                <a:latin typeface="Trebuchet MS"/>
                <a:cs typeface="Trebuchet MS"/>
              </a:rPr>
              <a:t>a</a:t>
            </a:r>
            <a:r>
              <a:rPr sz="1350" spc="-35" dirty="0">
                <a:solidFill>
                  <a:srgbClr val="CFCBBE"/>
                </a:solidFill>
                <a:latin typeface="Trebuchet MS"/>
                <a:cs typeface="Trebuchet MS"/>
              </a:rPr>
              <a:t>nd</a:t>
            </a:r>
            <a:r>
              <a:rPr sz="1350" spc="65" dirty="0">
                <a:solidFill>
                  <a:srgbClr val="CFCBBE"/>
                </a:solidFill>
                <a:latin typeface="Trebuchet MS"/>
                <a:cs typeface="Trebuchet MS"/>
              </a:rPr>
              <a:t> </a:t>
            </a:r>
            <a:r>
              <a:rPr sz="1350" dirty="0">
                <a:solidFill>
                  <a:srgbClr val="CFCBBE"/>
                </a:solidFill>
                <a:latin typeface="Trebuchet MS"/>
                <a:cs typeface="Trebuchet MS"/>
              </a:rPr>
              <a:t>building</a:t>
            </a:r>
            <a:r>
              <a:rPr sz="1350" spc="65" dirty="0">
                <a:solidFill>
                  <a:srgbClr val="CFCBBE"/>
                </a:solidFill>
                <a:latin typeface="Trebuchet MS"/>
                <a:cs typeface="Trebuchet MS"/>
              </a:rPr>
              <a:t> </a:t>
            </a:r>
            <a:r>
              <a:rPr sz="1350" spc="-10" dirty="0">
                <a:solidFill>
                  <a:srgbClr val="CFCBBE"/>
                </a:solidFill>
                <a:latin typeface="Trebuchet MS"/>
                <a:cs typeface="Trebuchet MS"/>
              </a:rPr>
              <a:t>robust defenses.</a:t>
            </a:r>
            <a:endParaRPr sz="1350" dirty="0">
              <a:latin typeface="Trebuchet MS"/>
              <a:cs typeface="Trebuchet MS"/>
            </a:endParaRPr>
          </a:p>
        </p:txBody>
      </p:sp>
      <p:pic>
        <p:nvPicPr>
          <p:cNvPr id="6" name="object 6">
            <a:hlinkClick r:id="rId3"/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580244" y="5926073"/>
            <a:ext cx="1754504" cy="4191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53"/>
            <a:ext cx="11430000" cy="2142871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5423243" y="3411537"/>
            <a:ext cx="583565" cy="2825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spc="155" dirty="0">
                <a:solidFill>
                  <a:srgbClr val="F2E781"/>
                </a:solidFill>
                <a:latin typeface="Calibri"/>
                <a:cs typeface="Calibri"/>
              </a:rPr>
              <a:t>Part</a:t>
            </a:r>
            <a:r>
              <a:rPr sz="1650" spc="35" dirty="0">
                <a:solidFill>
                  <a:srgbClr val="F2E781"/>
                </a:solidFill>
                <a:latin typeface="Calibri"/>
                <a:cs typeface="Calibri"/>
              </a:rPr>
              <a:t> </a:t>
            </a:r>
            <a:r>
              <a:rPr sz="1650" spc="-310" dirty="0">
                <a:solidFill>
                  <a:srgbClr val="F2E781"/>
                </a:solidFill>
                <a:latin typeface="Calibri"/>
                <a:cs typeface="Calibri"/>
              </a:rPr>
              <a:t>1</a:t>
            </a:r>
            <a:endParaRPr sz="165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80728" y="3824922"/>
            <a:ext cx="9469120" cy="128016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5"/>
              </a:spcBef>
            </a:pPr>
            <a:r>
              <a:rPr sz="4650" spc="340" dirty="0">
                <a:solidFill>
                  <a:srgbClr val="EEE27D"/>
                </a:solidFill>
                <a:latin typeface="Calibri"/>
                <a:cs typeface="Calibri"/>
              </a:rPr>
              <a:t>Attack</a:t>
            </a:r>
            <a:r>
              <a:rPr sz="4650" spc="60" dirty="0">
                <a:solidFill>
                  <a:srgbClr val="EEE27D"/>
                </a:solidFill>
                <a:latin typeface="Calibri"/>
                <a:cs typeface="Calibri"/>
              </a:rPr>
              <a:t> </a:t>
            </a:r>
            <a:r>
              <a:rPr sz="4650" spc="325" dirty="0">
                <a:solidFill>
                  <a:srgbClr val="F2E781"/>
                </a:solidFill>
                <a:latin typeface="Calibri"/>
                <a:cs typeface="Calibri"/>
              </a:rPr>
              <a:t>with</a:t>
            </a:r>
            <a:r>
              <a:rPr sz="4650" spc="70" dirty="0">
                <a:solidFill>
                  <a:srgbClr val="F2E781"/>
                </a:solidFill>
                <a:latin typeface="Calibri"/>
                <a:cs typeface="Calibri"/>
              </a:rPr>
              <a:t> </a:t>
            </a:r>
            <a:r>
              <a:rPr sz="4650" spc="459" dirty="0">
                <a:solidFill>
                  <a:srgbClr val="F2E781"/>
                </a:solidFill>
                <a:latin typeface="Calibri"/>
                <a:cs typeface="Calibri"/>
              </a:rPr>
              <a:t>Kali</a:t>
            </a:r>
            <a:r>
              <a:rPr sz="4650" spc="75" dirty="0">
                <a:solidFill>
                  <a:srgbClr val="F2E781"/>
                </a:solidFill>
                <a:latin typeface="Calibri"/>
                <a:cs typeface="Calibri"/>
              </a:rPr>
              <a:t> </a:t>
            </a:r>
            <a:r>
              <a:rPr sz="4650" spc="600" dirty="0">
                <a:solidFill>
                  <a:srgbClr val="F2E781"/>
                </a:solidFill>
                <a:latin typeface="Calibri"/>
                <a:cs typeface="Calibri"/>
              </a:rPr>
              <a:t>Linux</a:t>
            </a:r>
            <a:endParaRPr sz="4650" dirty="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2670"/>
              </a:spcBef>
            </a:pPr>
            <a:r>
              <a:rPr sz="1350" dirty="0">
                <a:solidFill>
                  <a:srgbClr val="CFCBBE"/>
                </a:solidFill>
                <a:latin typeface="Trebuchet MS"/>
                <a:cs typeface="Trebuchet MS"/>
              </a:rPr>
              <a:t>This</a:t>
            </a:r>
            <a:r>
              <a:rPr sz="1350" spc="10" dirty="0">
                <a:solidFill>
                  <a:srgbClr val="CFCBBE"/>
                </a:solidFill>
                <a:latin typeface="Trebuchet MS"/>
                <a:cs typeface="Trebuchet MS"/>
              </a:rPr>
              <a:t> </a:t>
            </a:r>
            <a:r>
              <a:rPr sz="1350" dirty="0">
                <a:solidFill>
                  <a:srgbClr val="CFCBBE"/>
                </a:solidFill>
                <a:latin typeface="Trebuchet MS"/>
                <a:cs typeface="Trebuchet MS"/>
              </a:rPr>
              <a:t>section</a:t>
            </a:r>
            <a:r>
              <a:rPr sz="1350" spc="10" dirty="0">
                <a:solidFill>
                  <a:srgbClr val="CFCBBE"/>
                </a:solidFill>
                <a:latin typeface="Trebuchet MS"/>
                <a:cs typeface="Trebuchet MS"/>
              </a:rPr>
              <a:t> </a:t>
            </a:r>
            <a:r>
              <a:rPr sz="1350" spc="-35" dirty="0">
                <a:solidFill>
                  <a:srgbClr val="CFCBBE"/>
                </a:solidFill>
                <a:latin typeface="Trebuchet MS"/>
                <a:cs typeface="Trebuchet MS"/>
              </a:rPr>
              <a:t>det</a:t>
            </a:r>
            <a:r>
              <a:rPr lang="en-US" sz="1350" spc="-35" dirty="0">
                <a:solidFill>
                  <a:srgbClr val="CFCBBE"/>
                </a:solidFill>
                <a:latin typeface="Trebuchet MS"/>
                <a:cs typeface="Trebuchet MS"/>
              </a:rPr>
              <a:t>a</a:t>
            </a:r>
            <a:r>
              <a:rPr sz="1350" spc="-35" dirty="0">
                <a:solidFill>
                  <a:srgbClr val="CFCBBE"/>
                </a:solidFill>
                <a:latin typeface="Trebuchet MS"/>
                <a:cs typeface="Trebuchet MS"/>
              </a:rPr>
              <a:t>ils</a:t>
            </a:r>
            <a:r>
              <a:rPr sz="1350" spc="10" dirty="0">
                <a:solidFill>
                  <a:srgbClr val="CFCBBE"/>
                </a:solidFill>
                <a:latin typeface="Trebuchet MS"/>
                <a:cs typeface="Trebuchet MS"/>
              </a:rPr>
              <a:t> </a:t>
            </a:r>
            <a:r>
              <a:rPr sz="1350" dirty="0">
                <a:solidFill>
                  <a:srgbClr val="CFCBBE"/>
                </a:solidFill>
                <a:latin typeface="Trebuchet MS"/>
                <a:cs typeface="Trebuchet MS"/>
              </a:rPr>
              <a:t>the</a:t>
            </a:r>
            <a:r>
              <a:rPr sz="1350" spc="10" dirty="0">
                <a:solidFill>
                  <a:srgbClr val="CFCBBE"/>
                </a:solidFill>
                <a:latin typeface="Trebuchet MS"/>
                <a:cs typeface="Trebuchet MS"/>
              </a:rPr>
              <a:t> </a:t>
            </a:r>
            <a:r>
              <a:rPr sz="1350" dirty="0">
                <a:solidFill>
                  <a:srgbClr val="CFCBBE"/>
                </a:solidFill>
                <a:latin typeface="Trebuchet MS"/>
                <a:cs typeface="Trebuchet MS"/>
              </a:rPr>
              <a:t>steps</a:t>
            </a:r>
            <a:r>
              <a:rPr sz="1350" spc="15" dirty="0">
                <a:solidFill>
                  <a:srgbClr val="CFCBBE"/>
                </a:solidFill>
                <a:latin typeface="Trebuchet MS"/>
                <a:cs typeface="Trebuchet MS"/>
              </a:rPr>
              <a:t> </a:t>
            </a:r>
            <a:r>
              <a:rPr lang="en-US" sz="1350" spc="-35" dirty="0">
                <a:solidFill>
                  <a:srgbClr val="CFCBBE"/>
                </a:solidFill>
                <a:latin typeface="Trebuchet MS"/>
                <a:cs typeface="Trebuchet MS"/>
              </a:rPr>
              <a:t>a</a:t>
            </a:r>
            <a:r>
              <a:rPr sz="1350" spc="-35" dirty="0">
                <a:solidFill>
                  <a:srgbClr val="CFCBBE"/>
                </a:solidFill>
                <a:latin typeface="Trebuchet MS"/>
                <a:cs typeface="Trebuchet MS"/>
              </a:rPr>
              <a:t>nd</a:t>
            </a:r>
            <a:r>
              <a:rPr sz="1350" spc="10" dirty="0">
                <a:solidFill>
                  <a:srgbClr val="CFCBBE"/>
                </a:solidFill>
                <a:latin typeface="Trebuchet MS"/>
                <a:cs typeface="Trebuchet MS"/>
              </a:rPr>
              <a:t> </a:t>
            </a:r>
            <a:r>
              <a:rPr sz="1350" dirty="0">
                <a:solidFill>
                  <a:srgbClr val="CFCBBE"/>
                </a:solidFill>
                <a:latin typeface="Trebuchet MS"/>
                <a:cs typeface="Trebuchet MS"/>
              </a:rPr>
              <a:t>comm</a:t>
            </a:r>
            <a:r>
              <a:rPr lang="en-US" sz="1350" dirty="0">
                <a:solidFill>
                  <a:srgbClr val="CFCBBE"/>
                </a:solidFill>
                <a:latin typeface="Trebuchet MS"/>
                <a:cs typeface="Trebuchet MS"/>
              </a:rPr>
              <a:t>a</a:t>
            </a:r>
            <a:r>
              <a:rPr sz="1350" dirty="0">
                <a:solidFill>
                  <a:srgbClr val="CFCBBE"/>
                </a:solidFill>
                <a:latin typeface="Trebuchet MS"/>
                <a:cs typeface="Trebuchet MS"/>
              </a:rPr>
              <a:t>nds</a:t>
            </a:r>
            <a:r>
              <a:rPr sz="1350" spc="10" dirty="0">
                <a:solidFill>
                  <a:srgbClr val="CFCBBE"/>
                </a:solidFill>
                <a:latin typeface="Trebuchet MS"/>
                <a:cs typeface="Trebuchet MS"/>
              </a:rPr>
              <a:t> </a:t>
            </a:r>
            <a:r>
              <a:rPr sz="1350" dirty="0">
                <a:solidFill>
                  <a:srgbClr val="CFCBBE"/>
                </a:solidFill>
                <a:latin typeface="Trebuchet MS"/>
                <a:cs typeface="Trebuchet MS"/>
              </a:rPr>
              <a:t>executed</a:t>
            </a:r>
            <a:r>
              <a:rPr sz="1350" spc="10" dirty="0">
                <a:solidFill>
                  <a:srgbClr val="CFCBBE"/>
                </a:solidFill>
                <a:latin typeface="Trebuchet MS"/>
                <a:cs typeface="Trebuchet MS"/>
              </a:rPr>
              <a:t> </a:t>
            </a:r>
            <a:r>
              <a:rPr sz="1350" spc="55" dirty="0">
                <a:solidFill>
                  <a:srgbClr val="CFCBBE"/>
                </a:solidFill>
                <a:latin typeface="Trebuchet MS"/>
                <a:cs typeface="Trebuchet MS"/>
              </a:rPr>
              <a:t>on</a:t>
            </a:r>
            <a:r>
              <a:rPr sz="1350" spc="15" dirty="0">
                <a:solidFill>
                  <a:srgbClr val="CFCBBE"/>
                </a:solidFill>
                <a:latin typeface="Trebuchet MS"/>
                <a:cs typeface="Trebuchet MS"/>
              </a:rPr>
              <a:t> </a:t>
            </a:r>
            <a:r>
              <a:rPr sz="1350" spc="-70" dirty="0">
                <a:solidFill>
                  <a:srgbClr val="CFCBBE"/>
                </a:solidFill>
                <a:latin typeface="Trebuchet MS"/>
                <a:cs typeface="Trebuchet MS"/>
              </a:rPr>
              <a:t>K</a:t>
            </a:r>
            <a:r>
              <a:rPr lang="en-US" sz="1350" spc="-70" dirty="0">
                <a:solidFill>
                  <a:srgbClr val="CFCBBE"/>
                </a:solidFill>
                <a:latin typeface="Trebuchet MS"/>
                <a:cs typeface="Trebuchet MS"/>
              </a:rPr>
              <a:t>a</a:t>
            </a:r>
            <a:r>
              <a:rPr sz="1350" spc="-70" dirty="0">
                <a:solidFill>
                  <a:srgbClr val="CFCBBE"/>
                </a:solidFill>
                <a:latin typeface="Trebuchet MS"/>
                <a:cs typeface="Trebuchet MS"/>
              </a:rPr>
              <a:t>li</a:t>
            </a:r>
            <a:r>
              <a:rPr sz="1350" spc="10" dirty="0">
                <a:solidFill>
                  <a:srgbClr val="CFCBBE"/>
                </a:solidFill>
                <a:latin typeface="Trebuchet MS"/>
                <a:cs typeface="Trebuchet MS"/>
              </a:rPr>
              <a:t> </a:t>
            </a:r>
            <a:r>
              <a:rPr sz="1350" dirty="0">
                <a:solidFill>
                  <a:srgbClr val="CFCBBE"/>
                </a:solidFill>
                <a:latin typeface="Trebuchet MS"/>
                <a:cs typeface="Trebuchet MS"/>
              </a:rPr>
              <a:t>Linux</a:t>
            </a:r>
            <a:r>
              <a:rPr sz="1350" spc="10" dirty="0">
                <a:solidFill>
                  <a:srgbClr val="CFCBBE"/>
                </a:solidFill>
                <a:latin typeface="Trebuchet MS"/>
                <a:cs typeface="Trebuchet MS"/>
              </a:rPr>
              <a:t> </a:t>
            </a:r>
            <a:r>
              <a:rPr sz="1350" dirty="0">
                <a:solidFill>
                  <a:srgbClr val="CFCBBE"/>
                </a:solidFill>
                <a:latin typeface="Trebuchet MS"/>
                <a:cs typeface="Trebuchet MS"/>
              </a:rPr>
              <a:t>to</a:t>
            </a:r>
            <a:r>
              <a:rPr sz="1350" spc="10" dirty="0">
                <a:solidFill>
                  <a:srgbClr val="CFCBBE"/>
                </a:solidFill>
                <a:latin typeface="Trebuchet MS"/>
                <a:cs typeface="Trebuchet MS"/>
              </a:rPr>
              <a:t> </a:t>
            </a:r>
            <a:r>
              <a:rPr sz="1350" dirty="0">
                <a:solidFill>
                  <a:srgbClr val="CFCBBE"/>
                </a:solidFill>
                <a:latin typeface="Trebuchet MS"/>
                <a:cs typeface="Trebuchet MS"/>
              </a:rPr>
              <a:t>perform</a:t>
            </a:r>
            <a:r>
              <a:rPr sz="1350" spc="15" dirty="0">
                <a:solidFill>
                  <a:srgbClr val="CFCBBE"/>
                </a:solidFill>
                <a:latin typeface="Trebuchet MS"/>
                <a:cs typeface="Trebuchet MS"/>
              </a:rPr>
              <a:t> </a:t>
            </a:r>
            <a:r>
              <a:rPr lang="en-US" sz="1350" spc="-90" dirty="0">
                <a:solidFill>
                  <a:srgbClr val="CFCBBE"/>
                </a:solidFill>
                <a:latin typeface="Trebuchet MS"/>
                <a:cs typeface="Trebuchet MS"/>
              </a:rPr>
              <a:t>a</a:t>
            </a:r>
            <a:r>
              <a:rPr sz="1350" spc="-90" dirty="0">
                <a:solidFill>
                  <a:srgbClr val="CFCBBE"/>
                </a:solidFill>
                <a:latin typeface="Trebuchet MS"/>
                <a:cs typeface="Trebuchet MS"/>
              </a:rPr>
              <a:t>n</a:t>
            </a:r>
            <a:r>
              <a:rPr sz="1350" spc="10" dirty="0">
                <a:solidFill>
                  <a:srgbClr val="CFCBBE"/>
                </a:solidFill>
                <a:latin typeface="Trebuchet MS"/>
                <a:cs typeface="Trebuchet MS"/>
              </a:rPr>
              <a:t> </a:t>
            </a:r>
            <a:r>
              <a:rPr lang="en-US" sz="1350" spc="-85" dirty="0">
                <a:solidFill>
                  <a:srgbClr val="CFCBBE"/>
                </a:solidFill>
                <a:latin typeface="Trebuchet MS"/>
                <a:cs typeface="Trebuchet MS"/>
              </a:rPr>
              <a:t>a</a:t>
            </a:r>
            <a:r>
              <a:rPr sz="1350" spc="-85" dirty="0">
                <a:solidFill>
                  <a:srgbClr val="CFCBBE"/>
                </a:solidFill>
                <a:latin typeface="Trebuchet MS"/>
                <a:cs typeface="Trebuchet MS"/>
              </a:rPr>
              <a:t>tt</a:t>
            </a:r>
            <a:r>
              <a:rPr lang="en-US" sz="1350" spc="-85" dirty="0">
                <a:solidFill>
                  <a:srgbClr val="CFCBBE"/>
                </a:solidFill>
                <a:latin typeface="Trebuchet MS"/>
                <a:cs typeface="Trebuchet MS"/>
              </a:rPr>
              <a:t>a</a:t>
            </a:r>
            <a:r>
              <a:rPr sz="1350" spc="-85" dirty="0">
                <a:solidFill>
                  <a:srgbClr val="CFCBBE"/>
                </a:solidFill>
                <a:latin typeface="Trebuchet MS"/>
                <a:cs typeface="Trebuchet MS"/>
              </a:rPr>
              <a:t>ck</a:t>
            </a:r>
            <a:r>
              <a:rPr sz="1350" spc="10" dirty="0">
                <a:solidFill>
                  <a:srgbClr val="CFCBBE"/>
                </a:solidFill>
                <a:latin typeface="Trebuchet MS"/>
                <a:cs typeface="Trebuchet MS"/>
              </a:rPr>
              <a:t> </a:t>
            </a:r>
            <a:r>
              <a:rPr lang="en-US" sz="1350" spc="-50" dirty="0">
                <a:solidFill>
                  <a:srgbClr val="CFCBBE"/>
                </a:solidFill>
                <a:latin typeface="Trebuchet MS"/>
                <a:cs typeface="Trebuchet MS"/>
              </a:rPr>
              <a:t>a</a:t>
            </a:r>
            <a:r>
              <a:rPr sz="1350" spc="-50" dirty="0">
                <a:solidFill>
                  <a:srgbClr val="CFCBBE"/>
                </a:solidFill>
                <a:latin typeface="Trebuchet MS"/>
                <a:cs typeface="Trebuchet MS"/>
              </a:rPr>
              <a:t>g</a:t>
            </a:r>
            <a:r>
              <a:rPr lang="en-US" sz="1350" spc="-50" dirty="0">
                <a:solidFill>
                  <a:srgbClr val="CFCBBE"/>
                </a:solidFill>
                <a:latin typeface="Trebuchet MS"/>
                <a:cs typeface="Trebuchet MS"/>
              </a:rPr>
              <a:t>a</a:t>
            </a:r>
            <a:r>
              <a:rPr sz="1350" spc="-50" dirty="0">
                <a:solidFill>
                  <a:srgbClr val="CFCBBE"/>
                </a:solidFill>
                <a:latin typeface="Trebuchet MS"/>
                <a:cs typeface="Trebuchet MS"/>
              </a:rPr>
              <a:t>inst</a:t>
            </a:r>
            <a:r>
              <a:rPr sz="1350" spc="10" dirty="0">
                <a:solidFill>
                  <a:srgbClr val="CFCBBE"/>
                </a:solidFill>
                <a:latin typeface="Trebuchet MS"/>
                <a:cs typeface="Trebuchet MS"/>
              </a:rPr>
              <a:t> </a:t>
            </a:r>
            <a:r>
              <a:rPr lang="en-US" sz="1350" spc="-225" dirty="0">
                <a:solidFill>
                  <a:srgbClr val="CFCBBE"/>
                </a:solidFill>
                <a:latin typeface="Trebuchet MS"/>
                <a:cs typeface="Trebuchet MS"/>
              </a:rPr>
              <a:t>a</a:t>
            </a:r>
            <a:r>
              <a:rPr sz="1350" spc="-30" dirty="0">
                <a:solidFill>
                  <a:srgbClr val="CFCBBE"/>
                </a:solidFill>
                <a:latin typeface="Trebuchet MS"/>
                <a:cs typeface="Trebuchet MS"/>
              </a:rPr>
              <a:t> </a:t>
            </a:r>
            <a:r>
              <a:rPr sz="1350" dirty="0">
                <a:solidFill>
                  <a:srgbClr val="CFCBBE"/>
                </a:solidFill>
                <a:latin typeface="Trebuchet MS"/>
                <a:cs typeface="Trebuchet MS"/>
              </a:rPr>
              <a:t>vulner</a:t>
            </a:r>
            <a:r>
              <a:rPr lang="en-US" sz="1350" dirty="0">
                <a:solidFill>
                  <a:srgbClr val="CFCBBE"/>
                </a:solidFill>
                <a:latin typeface="Trebuchet MS"/>
                <a:cs typeface="Trebuchet MS"/>
              </a:rPr>
              <a:t>a</a:t>
            </a:r>
            <a:r>
              <a:rPr sz="1350" dirty="0">
                <a:solidFill>
                  <a:srgbClr val="CFCBBE"/>
                </a:solidFill>
                <a:latin typeface="Trebuchet MS"/>
                <a:cs typeface="Trebuchet MS"/>
              </a:rPr>
              <a:t>ble</a:t>
            </a:r>
            <a:r>
              <a:rPr sz="1350" spc="10" dirty="0">
                <a:solidFill>
                  <a:srgbClr val="CFCBBE"/>
                </a:solidFill>
                <a:latin typeface="Trebuchet MS"/>
                <a:cs typeface="Trebuchet MS"/>
              </a:rPr>
              <a:t> </a:t>
            </a:r>
            <a:r>
              <a:rPr sz="1350" spc="-10" dirty="0">
                <a:solidFill>
                  <a:srgbClr val="CFCBBE"/>
                </a:solidFill>
                <a:latin typeface="Trebuchet MS"/>
                <a:cs typeface="Trebuchet MS"/>
              </a:rPr>
              <a:t>m</a:t>
            </a:r>
            <a:r>
              <a:rPr lang="en-US" sz="1350" spc="-10" dirty="0">
                <a:solidFill>
                  <a:srgbClr val="CFCBBE"/>
                </a:solidFill>
                <a:latin typeface="Trebuchet MS"/>
                <a:cs typeface="Trebuchet MS"/>
              </a:rPr>
              <a:t>a</a:t>
            </a:r>
            <a:r>
              <a:rPr sz="1350" spc="-10" dirty="0">
                <a:solidFill>
                  <a:srgbClr val="CFCBBE"/>
                </a:solidFill>
                <a:latin typeface="Trebuchet MS"/>
                <a:cs typeface="Trebuchet MS"/>
              </a:rPr>
              <a:t>chine.</a:t>
            </a:r>
            <a:endParaRPr sz="1350" dirty="0">
              <a:latin typeface="Trebuchet MS"/>
              <a:cs typeface="Trebuchet MS"/>
            </a:endParaRPr>
          </a:p>
        </p:txBody>
      </p:sp>
      <p:pic>
        <p:nvPicPr>
          <p:cNvPr id="5" name="object 5">
            <a:hlinkClick r:id="rId3"/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580244" y="5926073"/>
            <a:ext cx="1754504" cy="4191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86520" y="1377950"/>
            <a:ext cx="5126355" cy="5397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350" spc="254" dirty="0">
                <a:solidFill>
                  <a:srgbClr val="F2E781"/>
                </a:solidFill>
              </a:rPr>
              <a:t>Attack</a:t>
            </a:r>
            <a:r>
              <a:rPr sz="3350" spc="55" dirty="0">
                <a:solidFill>
                  <a:srgbClr val="F2E781"/>
                </a:solidFill>
              </a:rPr>
              <a:t> </a:t>
            </a:r>
            <a:r>
              <a:rPr sz="3350" spc="280" dirty="0">
                <a:solidFill>
                  <a:srgbClr val="F2E781"/>
                </a:solidFill>
              </a:rPr>
              <a:t>Simulation:</a:t>
            </a:r>
            <a:r>
              <a:rPr sz="3350" spc="55" dirty="0">
                <a:solidFill>
                  <a:srgbClr val="F2E781"/>
                </a:solidFill>
              </a:rPr>
              <a:t> </a:t>
            </a:r>
            <a:r>
              <a:rPr sz="3350" spc="335" dirty="0">
                <a:solidFill>
                  <a:srgbClr val="F2E781"/>
                </a:solidFill>
              </a:rPr>
              <a:t>Setup</a:t>
            </a:r>
            <a:endParaRPr sz="3350" dirty="0"/>
          </a:p>
        </p:txBody>
      </p:sp>
      <p:sp>
        <p:nvSpPr>
          <p:cNvPr id="3" name="object 3"/>
          <p:cNvSpPr txBox="1"/>
          <p:nvPr/>
        </p:nvSpPr>
        <p:spPr>
          <a:xfrm>
            <a:off x="586947" y="2354262"/>
            <a:ext cx="1851025" cy="939296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spc="130" dirty="0">
                <a:solidFill>
                  <a:srgbClr val="F2E781"/>
                </a:solidFill>
                <a:latin typeface="Calibri"/>
                <a:cs typeface="Calibri"/>
              </a:rPr>
              <a:t>Attacker</a:t>
            </a:r>
            <a:r>
              <a:rPr sz="1650" spc="55" dirty="0">
                <a:solidFill>
                  <a:srgbClr val="F2E781"/>
                </a:solidFill>
                <a:latin typeface="Calibri"/>
                <a:cs typeface="Calibri"/>
              </a:rPr>
              <a:t> </a:t>
            </a:r>
            <a:r>
              <a:rPr sz="1650" spc="170" dirty="0">
                <a:solidFill>
                  <a:srgbClr val="F2E781"/>
                </a:solidFill>
                <a:latin typeface="Calibri"/>
                <a:cs typeface="Calibri"/>
              </a:rPr>
              <a:t>Machine</a:t>
            </a:r>
            <a:endParaRPr sz="1650" dirty="0">
              <a:latin typeface="Calibri"/>
              <a:cs typeface="Calibri"/>
            </a:endParaRPr>
          </a:p>
          <a:p>
            <a:pPr marL="12700" marR="215265">
              <a:lnSpc>
                <a:spcPct val="134300"/>
              </a:lnSpc>
              <a:spcBef>
                <a:spcPts val="1140"/>
              </a:spcBef>
            </a:pPr>
            <a:r>
              <a:rPr sz="1350" b="1" dirty="0">
                <a:solidFill>
                  <a:srgbClr val="CFCBBE"/>
                </a:solidFill>
                <a:latin typeface="Trebuchet MS"/>
                <a:cs typeface="Trebuchet MS"/>
              </a:rPr>
              <a:t>Kali</a:t>
            </a:r>
            <a:r>
              <a:rPr sz="1350" b="1" spc="-75" dirty="0">
                <a:solidFill>
                  <a:srgbClr val="CFCBBE"/>
                </a:solidFill>
                <a:latin typeface="Trebuchet MS"/>
                <a:cs typeface="Trebuchet MS"/>
              </a:rPr>
              <a:t> </a:t>
            </a:r>
            <a:r>
              <a:rPr sz="1350" b="1" dirty="0">
                <a:solidFill>
                  <a:srgbClr val="CFCBBE"/>
                </a:solidFill>
                <a:latin typeface="Trebuchet MS"/>
                <a:cs typeface="Trebuchet MS"/>
              </a:rPr>
              <a:t>Linux</a:t>
            </a:r>
            <a:r>
              <a:rPr sz="1350" b="1" spc="-50" dirty="0">
                <a:solidFill>
                  <a:srgbClr val="CFCBBE"/>
                </a:solidFill>
                <a:latin typeface="Trebuchet MS"/>
                <a:cs typeface="Trebuchet MS"/>
              </a:rPr>
              <a:t> </a:t>
            </a:r>
            <a:r>
              <a:rPr sz="1350" spc="-130" dirty="0">
                <a:solidFill>
                  <a:srgbClr val="CFCBBE"/>
                </a:solidFill>
                <a:latin typeface="Trebuchet MS"/>
                <a:cs typeface="Trebuchet MS"/>
              </a:rPr>
              <a:t>G</a:t>
            </a:r>
            <a:r>
              <a:rPr lang="en-US" sz="1350" spc="-130" dirty="0">
                <a:solidFill>
                  <a:srgbClr val="CFCBBE"/>
                </a:solidFill>
                <a:latin typeface="Trebuchet MS"/>
                <a:cs typeface="Trebuchet MS"/>
              </a:rPr>
              <a:t>a</a:t>
            </a:r>
            <a:r>
              <a:rPr sz="1350" spc="-130" dirty="0">
                <a:solidFill>
                  <a:srgbClr val="CFCBBE"/>
                </a:solidFill>
                <a:latin typeface="Trebuchet MS"/>
                <a:cs typeface="Trebuchet MS"/>
              </a:rPr>
              <a:t>y</a:t>
            </a:r>
            <a:r>
              <a:rPr lang="en-US" sz="1350" spc="-130" dirty="0">
                <a:solidFill>
                  <a:srgbClr val="CFCBBE"/>
                </a:solidFill>
                <a:latin typeface="Trebuchet MS"/>
                <a:cs typeface="Trebuchet MS"/>
              </a:rPr>
              <a:t>a</a:t>
            </a:r>
            <a:r>
              <a:rPr sz="1350" spc="-130" dirty="0">
                <a:solidFill>
                  <a:srgbClr val="CFCBBE"/>
                </a:solidFill>
                <a:latin typeface="Trebuchet MS"/>
                <a:cs typeface="Trebuchet MS"/>
              </a:rPr>
              <a:t>@bot3 </a:t>
            </a:r>
            <a:r>
              <a:rPr sz="1350" spc="-80" dirty="0">
                <a:solidFill>
                  <a:srgbClr val="CFCBBE"/>
                </a:solidFill>
                <a:latin typeface="Trebuchet MS"/>
                <a:cs typeface="Trebuchet MS"/>
              </a:rPr>
              <a:t>IP:</a:t>
            </a:r>
            <a:r>
              <a:rPr sz="1350" spc="-40" dirty="0">
                <a:solidFill>
                  <a:srgbClr val="CFCBBE"/>
                </a:solidFill>
                <a:latin typeface="Trebuchet MS"/>
                <a:cs typeface="Trebuchet MS"/>
              </a:rPr>
              <a:t> </a:t>
            </a:r>
            <a:r>
              <a:rPr sz="1350" spc="-10" dirty="0">
                <a:solidFill>
                  <a:srgbClr val="CFCBBE"/>
                </a:solidFill>
                <a:latin typeface="Trebuchet MS"/>
                <a:cs typeface="Trebuchet MS"/>
              </a:rPr>
              <a:t>192.168.100.24</a:t>
            </a:r>
            <a:endParaRPr sz="1350" dirty="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258628" y="2362488"/>
            <a:ext cx="1644014" cy="979169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spc="140" dirty="0">
                <a:solidFill>
                  <a:srgbClr val="F2E781"/>
                </a:solidFill>
                <a:latin typeface="Calibri"/>
                <a:cs typeface="Calibri"/>
              </a:rPr>
              <a:t>Target</a:t>
            </a:r>
            <a:r>
              <a:rPr sz="1650" spc="35" dirty="0">
                <a:solidFill>
                  <a:srgbClr val="F2E781"/>
                </a:solidFill>
                <a:latin typeface="Calibri"/>
                <a:cs typeface="Calibri"/>
              </a:rPr>
              <a:t> </a:t>
            </a:r>
            <a:r>
              <a:rPr sz="1650" spc="170" dirty="0">
                <a:solidFill>
                  <a:srgbClr val="F2E781"/>
                </a:solidFill>
                <a:latin typeface="Calibri"/>
                <a:cs typeface="Calibri"/>
              </a:rPr>
              <a:t>Machine</a:t>
            </a:r>
            <a:endParaRPr sz="165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695"/>
              </a:spcBef>
            </a:pPr>
            <a:r>
              <a:rPr sz="1350" b="1" spc="-10" dirty="0">
                <a:solidFill>
                  <a:srgbClr val="CFCBBE"/>
                </a:solidFill>
                <a:latin typeface="Trebuchet MS"/>
                <a:cs typeface="Trebuchet MS"/>
              </a:rPr>
              <a:t>Metasploitable2</a:t>
            </a:r>
            <a:endParaRPr sz="1350" dirty="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555"/>
              </a:spcBef>
            </a:pPr>
            <a:r>
              <a:rPr sz="1350" spc="-80" dirty="0">
                <a:solidFill>
                  <a:srgbClr val="CFCBBE"/>
                </a:solidFill>
                <a:latin typeface="Trebuchet MS"/>
                <a:cs typeface="Trebuchet MS"/>
              </a:rPr>
              <a:t>IP:</a:t>
            </a:r>
            <a:r>
              <a:rPr sz="1350" spc="-40" dirty="0">
                <a:solidFill>
                  <a:srgbClr val="CFCBBE"/>
                </a:solidFill>
                <a:latin typeface="Trebuchet MS"/>
                <a:cs typeface="Trebuchet MS"/>
              </a:rPr>
              <a:t> </a:t>
            </a:r>
            <a:r>
              <a:rPr sz="1350" spc="-10" dirty="0">
                <a:solidFill>
                  <a:srgbClr val="CFCBBE"/>
                </a:solidFill>
                <a:latin typeface="Trebuchet MS"/>
                <a:cs typeface="Trebuchet MS"/>
              </a:rPr>
              <a:t>192.168.100.25</a:t>
            </a:r>
            <a:endParaRPr sz="1350" dirty="0">
              <a:latin typeface="Trebuchet MS"/>
              <a:cs typeface="Trebuchet MS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600074" y="3714750"/>
            <a:ext cx="5029200" cy="1304925"/>
            <a:chOff x="600074" y="3714750"/>
            <a:chExt cx="5029200" cy="1304925"/>
          </a:xfrm>
        </p:grpSpPr>
        <p:sp>
          <p:nvSpPr>
            <p:cNvPr id="6" name="object 6"/>
            <p:cNvSpPr/>
            <p:nvPr/>
          </p:nvSpPr>
          <p:spPr>
            <a:xfrm>
              <a:off x="609600" y="3724275"/>
              <a:ext cx="5010150" cy="1285875"/>
            </a:xfrm>
            <a:custGeom>
              <a:avLst/>
              <a:gdLst/>
              <a:ahLst/>
              <a:cxnLst/>
              <a:rect l="l" t="t" r="r" b="b"/>
              <a:pathLst>
                <a:path w="5010150" h="1285875">
                  <a:moveTo>
                    <a:pt x="5001526" y="0"/>
                  </a:moveTo>
                  <a:lnTo>
                    <a:pt x="8616" y="0"/>
                  </a:lnTo>
                  <a:lnTo>
                    <a:pt x="5814" y="1155"/>
                  </a:lnTo>
                  <a:lnTo>
                    <a:pt x="1160" y="5803"/>
                  </a:lnTo>
                  <a:lnTo>
                    <a:pt x="0" y="8623"/>
                  </a:lnTo>
                  <a:lnTo>
                    <a:pt x="0" y="1273975"/>
                  </a:lnTo>
                  <a:lnTo>
                    <a:pt x="0" y="1277251"/>
                  </a:lnTo>
                  <a:lnTo>
                    <a:pt x="1160" y="1280058"/>
                  </a:lnTo>
                  <a:lnTo>
                    <a:pt x="5814" y="1284706"/>
                  </a:lnTo>
                  <a:lnTo>
                    <a:pt x="8616" y="1285875"/>
                  </a:lnTo>
                  <a:lnTo>
                    <a:pt x="5001526" y="1285875"/>
                  </a:lnTo>
                  <a:lnTo>
                    <a:pt x="5004333" y="1284706"/>
                  </a:lnTo>
                  <a:lnTo>
                    <a:pt x="5008994" y="1280058"/>
                  </a:lnTo>
                  <a:lnTo>
                    <a:pt x="5010150" y="1277251"/>
                  </a:lnTo>
                  <a:lnTo>
                    <a:pt x="5010150" y="8623"/>
                  </a:lnTo>
                  <a:lnTo>
                    <a:pt x="5008994" y="5803"/>
                  </a:lnTo>
                  <a:lnTo>
                    <a:pt x="5006657" y="3492"/>
                  </a:lnTo>
                  <a:lnTo>
                    <a:pt x="5004333" y="1155"/>
                  </a:lnTo>
                  <a:lnTo>
                    <a:pt x="5001526" y="0"/>
                  </a:lnTo>
                  <a:close/>
                </a:path>
              </a:pathLst>
            </a:custGeom>
            <a:solidFill>
              <a:srgbClr val="1B1C1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09600" y="3724275"/>
              <a:ext cx="5010150" cy="1285875"/>
            </a:xfrm>
            <a:custGeom>
              <a:avLst/>
              <a:gdLst/>
              <a:ahLst/>
              <a:cxnLst/>
              <a:rect l="l" t="t" r="r" b="b"/>
              <a:pathLst>
                <a:path w="5010150" h="1285875">
                  <a:moveTo>
                    <a:pt x="0" y="1273975"/>
                  </a:moveTo>
                  <a:lnTo>
                    <a:pt x="0" y="11912"/>
                  </a:lnTo>
                  <a:lnTo>
                    <a:pt x="0" y="8623"/>
                  </a:lnTo>
                  <a:lnTo>
                    <a:pt x="1160" y="5803"/>
                  </a:lnTo>
                  <a:lnTo>
                    <a:pt x="3487" y="3492"/>
                  </a:lnTo>
                  <a:lnTo>
                    <a:pt x="5814" y="1155"/>
                  </a:lnTo>
                  <a:lnTo>
                    <a:pt x="8616" y="0"/>
                  </a:lnTo>
                  <a:lnTo>
                    <a:pt x="11906" y="0"/>
                  </a:lnTo>
                  <a:lnTo>
                    <a:pt x="4998250" y="0"/>
                  </a:lnTo>
                  <a:lnTo>
                    <a:pt x="5001526" y="0"/>
                  </a:lnTo>
                  <a:lnTo>
                    <a:pt x="5004333" y="1155"/>
                  </a:lnTo>
                  <a:lnTo>
                    <a:pt x="5006657" y="3492"/>
                  </a:lnTo>
                  <a:lnTo>
                    <a:pt x="5008994" y="5803"/>
                  </a:lnTo>
                  <a:lnTo>
                    <a:pt x="5010150" y="8623"/>
                  </a:lnTo>
                  <a:lnTo>
                    <a:pt x="5010150" y="11912"/>
                  </a:lnTo>
                  <a:lnTo>
                    <a:pt x="5010150" y="1273975"/>
                  </a:lnTo>
                  <a:lnTo>
                    <a:pt x="5010150" y="1277251"/>
                  </a:lnTo>
                  <a:lnTo>
                    <a:pt x="5008994" y="1280058"/>
                  </a:lnTo>
                  <a:lnTo>
                    <a:pt x="5006657" y="1282382"/>
                  </a:lnTo>
                  <a:lnTo>
                    <a:pt x="5004333" y="1284706"/>
                  </a:lnTo>
                  <a:lnTo>
                    <a:pt x="5001526" y="1285875"/>
                  </a:lnTo>
                  <a:lnTo>
                    <a:pt x="4998250" y="1285875"/>
                  </a:lnTo>
                  <a:lnTo>
                    <a:pt x="11906" y="1285875"/>
                  </a:lnTo>
                  <a:lnTo>
                    <a:pt x="8616" y="1285875"/>
                  </a:lnTo>
                  <a:lnTo>
                    <a:pt x="5814" y="1284706"/>
                  </a:lnTo>
                  <a:lnTo>
                    <a:pt x="3487" y="1282382"/>
                  </a:lnTo>
                  <a:lnTo>
                    <a:pt x="1160" y="1280058"/>
                  </a:lnTo>
                  <a:lnTo>
                    <a:pt x="0" y="1277251"/>
                  </a:lnTo>
                  <a:lnTo>
                    <a:pt x="0" y="1273975"/>
                  </a:lnTo>
                  <a:close/>
                </a:path>
              </a:pathLst>
            </a:custGeom>
            <a:ln w="19050">
              <a:solidFill>
                <a:srgbClr val="52535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00074" y="3714750"/>
              <a:ext cx="38099" cy="1304924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819150" y="4295775"/>
              <a:ext cx="600075" cy="228600"/>
            </a:xfrm>
            <a:custGeom>
              <a:avLst/>
              <a:gdLst/>
              <a:ahLst/>
              <a:cxnLst/>
              <a:rect l="l" t="t" r="r" b="b"/>
              <a:pathLst>
                <a:path w="600075" h="228600">
                  <a:moveTo>
                    <a:pt x="581482" y="0"/>
                  </a:moveTo>
                  <a:lnTo>
                    <a:pt x="18588" y="0"/>
                  </a:lnTo>
                  <a:lnTo>
                    <a:pt x="15854" y="546"/>
                  </a:lnTo>
                  <a:lnTo>
                    <a:pt x="0" y="18592"/>
                  </a:lnTo>
                  <a:lnTo>
                    <a:pt x="0" y="207175"/>
                  </a:lnTo>
                  <a:lnTo>
                    <a:pt x="0" y="210007"/>
                  </a:lnTo>
                  <a:lnTo>
                    <a:pt x="18588" y="228600"/>
                  </a:lnTo>
                  <a:lnTo>
                    <a:pt x="581482" y="228600"/>
                  </a:lnTo>
                  <a:lnTo>
                    <a:pt x="600075" y="210007"/>
                  </a:lnTo>
                  <a:lnTo>
                    <a:pt x="600075" y="18592"/>
                  </a:lnTo>
                  <a:lnTo>
                    <a:pt x="584225" y="546"/>
                  </a:lnTo>
                  <a:lnTo>
                    <a:pt x="581482" y="0"/>
                  </a:lnTo>
                  <a:close/>
                </a:path>
              </a:pathLst>
            </a:custGeom>
            <a:solidFill>
              <a:srgbClr val="28292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815975" y="3878262"/>
            <a:ext cx="4264660" cy="6457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spc="160" dirty="0">
                <a:solidFill>
                  <a:srgbClr val="CFCBBE"/>
                </a:solidFill>
                <a:latin typeface="Calibri"/>
                <a:cs typeface="Calibri"/>
              </a:rPr>
              <a:t>Network</a:t>
            </a:r>
            <a:r>
              <a:rPr sz="1650" spc="50" dirty="0">
                <a:solidFill>
                  <a:srgbClr val="CFCBBE"/>
                </a:solidFill>
                <a:latin typeface="Calibri"/>
                <a:cs typeface="Calibri"/>
              </a:rPr>
              <a:t> </a:t>
            </a:r>
            <a:r>
              <a:rPr sz="1650" spc="140" dirty="0">
                <a:solidFill>
                  <a:srgbClr val="CFCBBE"/>
                </a:solidFill>
                <a:latin typeface="Calibri"/>
                <a:cs typeface="Calibri"/>
              </a:rPr>
              <a:t>Configuration</a:t>
            </a:r>
            <a:endParaRPr sz="165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245"/>
              </a:spcBef>
            </a:pPr>
            <a:r>
              <a:rPr sz="1350" dirty="0">
                <a:solidFill>
                  <a:srgbClr val="CFCBBE"/>
                </a:solidFill>
                <a:latin typeface="Tahoma"/>
                <a:cs typeface="Tahoma"/>
              </a:rPr>
              <a:t>ifconfig</a:t>
            </a:r>
            <a:r>
              <a:rPr sz="1350" spc="35" dirty="0">
                <a:solidFill>
                  <a:srgbClr val="CFCBBE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CFCBBE"/>
                </a:solidFill>
                <a:latin typeface="Trebuchet MS"/>
                <a:cs typeface="Trebuchet MS"/>
              </a:rPr>
              <a:t>confirmed</a:t>
            </a:r>
            <a:r>
              <a:rPr sz="1350" spc="50" dirty="0">
                <a:solidFill>
                  <a:srgbClr val="CFCBBE"/>
                </a:solidFill>
                <a:latin typeface="Trebuchet MS"/>
                <a:cs typeface="Trebuchet MS"/>
              </a:rPr>
              <a:t> </a:t>
            </a:r>
            <a:r>
              <a:rPr lang="en-US" sz="1350" spc="-45" dirty="0">
                <a:solidFill>
                  <a:srgbClr val="CFCBBE"/>
                </a:solidFill>
                <a:latin typeface="Trebuchet MS"/>
                <a:cs typeface="Trebuchet MS"/>
              </a:rPr>
              <a:t>a</a:t>
            </a:r>
            <a:r>
              <a:rPr sz="1350" spc="-45" dirty="0">
                <a:solidFill>
                  <a:srgbClr val="CFCBBE"/>
                </a:solidFill>
                <a:latin typeface="Trebuchet MS"/>
                <a:cs typeface="Trebuchet MS"/>
              </a:rPr>
              <a:t>tt</a:t>
            </a:r>
            <a:r>
              <a:rPr lang="en-US" sz="1350" spc="-45" dirty="0">
                <a:solidFill>
                  <a:srgbClr val="CFCBBE"/>
                </a:solidFill>
                <a:latin typeface="Trebuchet MS"/>
                <a:cs typeface="Trebuchet MS"/>
              </a:rPr>
              <a:t>a</a:t>
            </a:r>
            <a:r>
              <a:rPr sz="1350" spc="-45" dirty="0">
                <a:solidFill>
                  <a:srgbClr val="CFCBBE"/>
                </a:solidFill>
                <a:latin typeface="Trebuchet MS"/>
                <a:cs typeface="Trebuchet MS"/>
              </a:rPr>
              <a:t>cker's</a:t>
            </a:r>
            <a:r>
              <a:rPr sz="1350" spc="55" dirty="0">
                <a:solidFill>
                  <a:srgbClr val="CFCBBE"/>
                </a:solidFill>
                <a:latin typeface="Trebuchet MS"/>
                <a:cs typeface="Trebuchet MS"/>
              </a:rPr>
              <a:t> </a:t>
            </a:r>
            <a:r>
              <a:rPr sz="1350" dirty="0">
                <a:solidFill>
                  <a:srgbClr val="CFCBBE"/>
                </a:solidFill>
                <a:latin typeface="Trebuchet MS"/>
                <a:cs typeface="Trebuchet MS"/>
              </a:rPr>
              <a:t>IP</a:t>
            </a:r>
            <a:r>
              <a:rPr sz="1350" spc="5" dirty="0">
                <a:solidFill>
                  <a:srgbClr val="CFCBBE"/>
                </a:solidFill>
                <a:latin typeface="Trebuchet MS"/>
                <a:cs typeface="Trebuchet MS"/>
              </a:rPr>
              <a:t> </a:t>
            </a:r>
            <a:r>
              <a:rPr lang="en-US" sz="1350" spc="-35" dirty="0">
                <a:solidFill>
                  <a:srgbClr val="CFCBBE"/>
                </a:solidFill>
                <a:latin typeface="Trebuchet MS"/>
                <a:cs typeface="Trebuchet MS"/>
              </a:rPr>
              <a:t>a</a:t>
            </a:r>
            <a:r>
              <a:rPr sz="1350" spc="-35" dirty="0">
                <a:solidFill>
                  <a:srgbClr val="CFCBBE"/>
                </a:solidFill>
                <a:latin typeface="Trebuchet MS"/>
                <a:cs typeface="Trebuchet MS"/>
              </a:rPr>
              <a:t>nd</a:t>
            </a:r>
            <a:r>
              <a:rPr sz="1350" spc="50" dirty="0">
                <a:solidFill>
                  <a:srgbClr val="CFCBBE"/>
                </a:solidFill>
                <a:latin typeface="Trebuchet MS"/>
                <a:cs typeface="Trebuchet MS"/>
              </a:rPr>
              <a:t> </a:t>
            </a:r>
            <a:r>
              <a:rPr sz="1350" dirty="0">
                <a:solidFill>
                  <a:srgbClr val="CFCBBE"/>
                </a:solidFill>
                <a:latin typeface="Trebuchet MS"/>
                <a:cs typeface="Trebuchet MS"/>
              </a:rPr>
              <a:t>network</a:t>
            </a:r>
            <a:r>
              <a:rPr sz="1350" spc="50" dirty="0">
                <a:solidFill>
                  <a:srgbClr val="CFCBBE"/>
                </a:solidFill>
                <a:latin typeface="Trebuchet MS"/>
                <a:cs typeface="Trebuchet MS"/>
              </a:rPr>
              <a:t> </a:t>
            </a:r>
            <a:r>
              <a:rPr sz="1350" spc="-45" dirty="0">
                <a:solidFill>
                  <a:srgbClr val="CFCBBE"/>
                </a:solidFill>
                <a:latin typeface="Trebuchet MS"/>
                <a:cs typeface="Trebuchet MS"/>
              </a:rPr>
              <a:t>interf</a:t>
            </a:r>
            <a:r>
              <a:rPr lang="en-US" sz="1350" spc="-45" dirty="0">
                <a:solidFill>
                  <a:srgbClr val="CFCBBE"/>
                </a:solidFill>
                <a:latin typeface="Trebuchet MS"/>
                <a:cs typeface="Trebuchet MS"/>
              </a:rPr>
              <a:t>a</a:t>
            </a:r>
            <a:r>
              <a:rPr sz="1350" spc="-45" dirty="0">
                <a:solidFill>
                  <a:srgbClr val="CFCBBE"/>
                </a:solidFill>
                <a:latin typeface="Trebuchet MS"/>
                <a:cs typeface="Trebuchet MS"/>
              </a:rPr>
              <a:t>ce.</a:t>
            </a:r>
            <a:endParaRPr sz="1350" dirty="0">
              <a:latin typeface="Trebuchet MS"/>
              <a:cs typeface="Trebuchet MS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5800724" y="3714750"/>
            <a:ext cx="5029200" cy="1304925"/>
            <a:chOff x="5800724" y="3714750"/>
            <a:chExt cx="5029200" cy="1304925"/>
          </a:xfrm>
        </p:grpSpPr>
        <p:sp>
          <p:nvSpPr>
            <p:cNvPr id="12" name="object 12"/>
            <p:cNvSpPr/>
            <p:nvPr/>
          </p:nvSpPr>
          <p:spPr>
            <a:xfrm>
              <a:off x="5810250" y="3724275"/>
              <a:ext cx="5010150" cy="1285875"/>
            </a:xfrm>
            <a:custGeom>
              <a:avLst/>
              <a:gdLst/>
              <a:ahLst/>
              <a:cxnLst/>
              <a:rect l="l" t="t" r="r" b="b"/>
              <a:pathLst>
                <a:path w="5010150" h="1285875">
                  <a:moveTo>
                    <a:pt x="5001526" y="0"/>
                  </a:moveTo>
                  <a:lnTo>
                    <a:pt x="8623" y="0"/>
                  </a:lnTo>
                  <a:lnTo>
                    <a:pt x="5816" y="1155"/>
                  </a:lnTo>
                  <a:lnTo>
                    <a:pt x="3492" y="3492"/>
                  </a:lnTo>
                  <a:lnTo>
                    <a:pt x="1155" y="5803"/>
                  </a:lnTo>
                  <a:lnTo>
                    <a:pt x="0" y="8623"/>
                  </a:lnTo>
                  <a:lnTo>
                    <a:pt x="0" y="1273975"/>
                  </a:lnTo>
                  <a:lnTo>
                    <a:pt x="0" y="1277251"/>
                  </a:lnTo>
                  <a:lnTo>
                    <a:pt x="1155" y="1280058"/>
                  </a:lnTo>
                  <a:lnTo>
                    <a:pt x="5816" y="1284706"/>
                  </a:lnTo>
                  <a:lnTo>
                    <a:pt x="8623" y="1285875"/>
                  </a:lnTo>
                  <a:lnTo>
                    <a:pt x="5001526" y="1285875"/>
                  </a:lnTo>
                  <a:lnTo>
                    <a:pt x="5004333" y="1284706"/>
                  </a:lnTo>
                  <a:lnTo>
                    <a:pt x="5008981" y="1280058"/>
                  </a:lnTo>
                  <a:lnTo>
                    <a:pt x="5010150" y="1277251"/>
                  </a:lnTo>
                  <a:lnTo>
                    <a:pt x="5010150" y="8623"/>
                  </a:lnTo>
                  <a:lnTo>
                    <a:pt x="5008981" y="5803"/>
                  </a:lnTo>
                  <a:lnTo>
                    <a:pt x="5004333" y="1155"/>
                  </a:lnTo>
                  <a:lnTo>
                    <a:pt x="5001526" y="0"/>
                  </a:lnTo>
                  <a:close/>
                </a:path>
              </a:pathLst>
            </a:custGeom>
            <a:solidFill>
              <a:srgbClr val="1B1C1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5810250" y="3724275"/>
              <a:ext cx="5010150" cy="1285875"/>
            </a:xfrm>
            <a:custGeom>
              <a:avLst/>
              <a:gdLst/>
              <a:ahLst/>
              <a:cxnLst/>
              <a:rect l="l" t="t" r="r" b="b"/>
              <a:pathLst>
                <a:path w="5010150" h="1285875">
                  <a:moveTo>
                    <a:pt x="0" y="1273975"/>
                  </a:moveTo>
                  <a:lnTo>
                    <a:pt x="0" y="11912"/>
                  </a:lnTo>
                  <a:lnTo>
                    <a:pt x="0" y="8623"/>
                  </a:lnTo>
                  <a:lnTo>
                    <a:pt x="1155" y="5803"/>
                  </a:lnTo>
                  <a:lnTo>
                    <a:pt x="3492" y="3492"/>
                  </a:lnTo>
                  <a:lnTo>
                    <a:pt x="5816" y="1155"/>
                  </a:lnTo>
                  <a:lnTo>
                    <a:pt x="8623" y="0"/>
                  </a:lnTo>
                  <a:lnTo>
                    <a:pt x="11912" y="0"/>
                  </a:lnTo>
                  <a:lnTo>
                    <a:pt x="4998250" y="0"/>
                  </a:lnTo>
                  <a:lnTo>
                    <a:pt x="5001526" y="0"/>
                  </a:lnTo>
                  <a:lnTo>
                    <a:pt x="5004333" y="1155"/>
                  </a:lnTo>
                  <a:lnTo>
                    <a:pt x="5006657" y="3492"/>
                  </a:lnTo>
                  <a:lnTo>
                    <a:pt x="5008981" y="5803"/>
                  </a:lnTo>
                  <a:lnTo>
                    <a:pt x="5010150" y="8623"/>
                  </a:lnTo>
                  <a:lnTo>
                    <a:pt x="5010150" y="11912"/>
                  </a:lnTo>
                  <a:lnTo>
                    <a:pt x="5010150" y="1273975"/>
                  </a:lnTo>
                  <a:lnTo>
                    <a:pt x="5010150" y="1277251"/>
                  </a:lnTo>
                  <a:lnTo>
                    <a:pt x="5008981" y="1280058"/>
                  </a:lnTo>
                  <a:lnTo>
                    <a:pt x="5006657" y="1282382"/>
                  </a:lnTo>
                  <a:lnTo>
                    <a:pt x="5004333" y="1284706"/>
                  </a:lnTo>
                  <a:lnTo>
                    <a:pt x="5001526" y="1285875"/>
                  </a:lnTo>
                  <a:lnTo>
                    <a:pt x="4998250" y="1285875"/>
                  </a:lnTo>
                  <a:lnTo>
                    <a:pt x="11912" y="1285875"/>
                  </a:lnTo>
                  <a:lnTo>
                    <a:pt x="8623" y="1285875"/>
                  </a:lnTo>
                  <a:lnTo>
                    <a:pt x="5816" y="1284706"/>
                  </a:lnTo>
                  <a:lnTo>
                    <a:pt x="3492" y="1282382"/>
                  </a:lnTo>
                  <a:lnTo>
                    <a:pt x="1155" y="1280058"/>
                  </a:lnTo>
                  <a:lnTo>
                    <a:pt x="0" y="1277251"/>
                  </a:lnTo>
                  <a:lnTo>
                    <a:pt x="0" y="1273975"/>
                  </a:lnTo>
                  <a:close/>
                </a:path>
              </a:pathLst>
            </a:custGeom>
            <a:ln w="19050">
              <a:solidFill>
                <a:srgbClr val="52535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800724" y="3714750"/>
              <a:ext cx="38099" cy="1304924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6019800" y="4295775"/>
              <a:ext cx="1619250" cy="228600"/>
            </a:xfrm>
            <a:custGeom>
              <a:avLst/>
              <a:gdLst/>
              <a:ahLst/>
              <a:cxnLst/>
              <a:rect l="l" t="t" r="r" b="b"/>
              <a:pathLst>
                <a:path w="1619250" h="228600">
                  <a:moveTo>
                    <a:pt x="1600657" y="0"/>
                  </a:moveTo>
                  <a:lnTo>
                    <a:pt x="18592" y="0"/>
                  </a:lnTo>
                  <a:lnTo>
                    <a:pt x="15849" y="546"/>
                  </a:lnTo>
                  <a:lnTo>
                    <a:pt x="0" y="18592"/>
                  </a:lnTo>
                  <a:lnTo>
                    <a:pt x="0" y="207175"/>
                  </a:lnTo>
                  <a:lnTo>
                    <a:pt x="0" y="210007"/>
                  </a:lnTo>
                  <a:lnTo>
                    <a:pt x="18592" y="228600"/>
                  </a:lnTo>
                  <a:lnTo>
                    <a:pt x="1600657" y="228600"/>
                  </a:lnTo>
                  <a:lnTo>
                    <a:pt x="1619250" y="210007"/>
                  </a:lnTo>
                  <a:lnTo>
                    <a:pt x="1619250" y="18592"/>
                  </a:lnTo>
                  <a:lnTo>
                    <a:pt x="1603400" y="546"/>
                  </a:lnTo>
                  <a:lnTo>
                    <a:pt x="1600657" y="0"/>
                  </a:lnTo>
                  <a:close/>
                </a:path>
              </a:pathLst>
            </a:custGeom>
            <a:solidFill>
              <a:srgbClr val="28292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6016625" y="3878262"/>
            <a:ext cx="3794125" cy="225062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endParaRPr sz="1350" dirty="0">
              <a:latin typeface="Trebuchet MS"/>
              <a:cs typeface="Trebuchet MS"/>
            </a:endParaRPr>
          </a:p>
        </p:txBody>
      </p:sp>
      <p:pic>
        <p:nvPicPr>
          <p:cNvPr id="17" name="object 17">
            <a:hlinkClick r:id="rId4"/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580244" y="5926073"/>
            <a:ext cx="1754504" cy="41910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7ECE3720-2AB2-7C80-A0C0-8F504068F18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67966" y="3030473"/>
            <a:ext cx="5662034" cy="33147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86520" y="1377950"/>
            <a:ext cx="5126355" cy="5397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350" spc="254" dirty="0">
                <a:solidFill>
                  <a:srgbClr val="F2E781"/>
                </a:solidFill>
              </a:rPr>
              <a:t>Attack</a:t>
            </a:r>
            <a:r>
              <a:rPr sz="3350" spc="55" dirty="0">
                <a:solidFill>
                  <a:srgbClr val="F2E781"/>
                </a:solidFill>
              </a:rPr>
              <a:t> </a:t>
            </a:r>
            <a:r>
              <a:rPr sz="3350" spc="280" dirty="0">
                <a:solidFill>
                  <a:srgbClr val="F2E781"/>
                </a:solidFill>
              </a:rPr>
              <a:t>Simulation:</a:t>
            </a:r>
            <a:r>
              <a:rPr sz="3350" spc="55" dirty="0">
                <a:solidFill>
                  <a:srgbClr val="F2E781"/>
                </a:solidFill>
              </a:rPr>
              <a:t> </a:t>
            </a:r>
            <a:r>
              <a:rPr sz="3350" spc="335" dirty="0">
                <a:solidFill>
                  <a:srgbClr val="F2E781"/>
                </a:solidFill>
              </a:rPr>
              <a:t>Setup</a:t>
            </a:r>
            <a:endParaRPr sz="3350"/>
          </a:p>
        </p:txBody>
      </p:sp>
      <p:sp>
        <p:nvSpPr>
          <p:cNvPr id="3" name="object 3"/>
          <p:cNvSpPr txBox="1"/>
          <p:nvPr/>
        </p:nvSpPr>
        <p:spPr>
          <a:xfrm>
            <a:off x="586947" y="2354262"/>
            <a:ext cx="1851025" cy="939296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spc="130" dirty="0">
                <a:solidFill>
                  <a:srgbClr val="F2E781"/>
                </a:solidFill>
                <a:latin typeface="Calibri"/>
                <a:cs typeface="Calibri"/>
              </a:rPr>
              <a:t>Attacker</a:t>
            </a:r>
            <a:r>
              <a:rPr sz="1650" spc="55" dirty="0">
                <a:solidFill>
                  <a:srgbClr val="F2E781"/>
                </a:solidFill>
                <a:latin typeface="Calibri"/>
                <a:cs typeface="Calibri"/>
              </a:rPr>
              <a:t> </a:t>
            </a:r>
            <a:r>
              <a:rPr sz="1650" spc="170" dirty="0">
                <a:solidFill>
                  <a:srgbClr val="F2E781"/>
                </a:solidFill>
                <a:latin typeface="Calibri"/>
                <a:cs typeface="Calibri"/>
              </a:rPr>
              <a:t>Machine</a:t>
            </a:r>
            <a:endParaRPr sz="1650" dirty="0">
              <a:latin typeface="Calibri"/>
              <a:cs typeface="Calibri"/>
            </a:endParaRPr>
          </a:p>
          <a:p>
            <a:pPr marL="12700" marR="215265">
              <a:lnSpc>
                <a:spcPct val="134300"/>
              </a:lnSpc>
              <a:spcBef>
                <a:spcPts val="1140"/>
              </a:spcBef>
            </a:pPr>
            <a:r>
              <a:rPr sz="1350" b="1" dirty="0">
                <a:solidFill>
                  <a:srgbClr val="CFCBBE"/>
                </a:solidFill>
                <a:latin typeface="Trebuchet MS"/>
                <a:cs typeface="Trebuchet MS"/>
              </a:rPr>
              <a:t>Kali</a:t>
            </a:r>
            <a:r>
              <a:rPr sz="1350" b="1" spc="-75" dirty="0">
                <a:solidFill>
                  <a:srgbClr val="CFCBBE"/>
                </a:solidFill>
                <a:latin typeface="Trebuchet MS"/>
                <a:cs typeface="Trebuchet MS"/>
              </a:rPr>
              <a:t> </a:t>
            </a:r>
            <a:r>
              <a:rPr sz="1350" b="1" dirty="0">
                <a:solidFill>
                  <a:srgbClr val="CFCBBE"/>
                </a:solidFill>
                <a:latin typeface="Trebuchet MS"/>
                <a:cs typeface="Trebuchet MS"/>
              </a:rPr>
              <a:t>Linux</a:t>
            </a:r>
            <a:r>
              <a:rPr sz="1350" b="1" spc="-50" dirty="0">
                <a:solidFill>
                  <a:srgbClr val="CFCBBE"/>
                </a:solidFill>
                <a:latin typeface="Trebuchet MS"/>
                <a:cs typeface="Trebuchet MS"/>
              </a:rPr>
              <a:t> </a:t>
            </a:r>
            <a:r>
              <a:rPr sz="1350" spc="-130" dirty="0">
                <a:solidFill>
                  <a:srgbClr val="CFCBBE"/>
                </a:solidFill>
                <a:latin typeface="Trebuchet MS"/>
                <a:cs typeface="Trebuchet MS"/>
              </a:rPr>
              <a:t>G</a:t>
            </a:r>
            <a:r>
              <a:rPr lang="en-US" sz="1350" spc="-130" dirty="0">
                <a:solidFill>
                  <a:srgbClr val="CFCBBE"/>
                </a:solidFill>
                <a:latin typeface="Trebuchet MS"/>
                <a:cs typeface="Trebuchet MS"/>
              </a:rPr>
              <a:t>a</a:t>
            </a:r>
            <a:r>
              <a:rPr sz="1350" spc="-130" dirty="0">
                <a:solidFill>
                  <a:srgbClr val="CFCBBE"/>
                </a:solidFill>
                <a:latin typeface="Trebuchet MS"/>
                <a:cs typeface="Trebuchet MS"/>
              </a:rPr>
              <a:t>y</a:t>
            </a:r>
            <a:r>
              <a:rPr lang="en-US" sz="1350" spc="-130" dirty="0">
                <a:solidFill>
                  <a:srgbClr val="CFCBBE"/>
                </a:solidFill>
                <a:latin typeface="Trebuchet MS"/>
                <a:cs typeface="Trebuchet MS"/>
              </a:rPr>
              <a:t>a</a:t>
            </a:r>
            <a:r>
              <a:rPr sz="1350" spc="-130" dirty="0">
                <a:solidFill>
                  <a:srgbClr val="CFCBBE"/>
                </a:solidFill>
                <a:latin typeface="Trebuchet MS"/>
                <a:cs typeface="Trebuchet MS"/>
              </a:rPr>
              <a:t>@bot3 </a:t>
            </a:r>
            <a:r>
              <a:rPr sz="1350" spc="-80" dirty="0">
                <a:solidFill>
                  <a:srgbClr val="CFCBBE"/>
                </a:solidFill>
                <a:latin typeface="Trebuchet MS"/>
                <a:cs typeface="Trebuchet MS"/>
              </a:rPr>
              <a:t>IP:</a:t>
            </a:r>
            <a:r>
              <a:rPr sz="1350" spc="-40" dirty="0">
                <a:solidFill>
                  <a:srgbClr val="CFCBBE"/>
                </a:solidFill>
                <a:latin typeface="Trebuchet MS"/>
                <a:cs typeface="Trebuchet MS"/>
              </a:rPr>
              <a:t> </a:t>
            </a:r>
            <a:r>
              <a:rPr sz="1350" spc="-10" dirty="0">
                <a:solidFill>
                  <a:srgbClr val="CFCBBE"/>
                </a:solidFill>
                <a:latin typeface="Trebuchet MS"/>
                <a:cs typeface="Trebuchet MS"/>
              </a:rPr>
              <a:t>192.168.100.24</a:t>
            </a:r>
            <a:endParaRPr sz="1350" dirty="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257055" y="2354262"/>
            <a:ext cx="1644014" cy="979169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spc="140" dirty="0">
                <a:solidFill>
                  <a:srgbClr val="F2E781"/>
                </a:solidFill>
                <a:latin typeface="Calibri"/>
                <a:cs typeface="Calibri"/>
              </a:rPr>
              <a:t>Target</a:t>
            </a:r>
            <a:r>
              <a:rPr sz="1650" spc="35" dirty="0">
                <a:solidFill>
                  <a:srgbClr val="F2E781"/>
                </a:solidFill>
                <a:latin typeface="Calibri"/>
                <a:cs typeface="Calibri"/>
              </a:rPr>
              <a:t> </a:t>
            </a:r>
            <a:r>
              <a:rPr sz="1650" spc="170" dirty="0">
                <a:solidFill>
                  <a:srgbClr val="F2E781"/>
                </a:solidFill>
                <a:latin typeface="Calibri"/>
                <a:cs typeface="Calibri"/>
              </a:rPr>
              <a:t>Machine</a:t>
            </a:r>
            <a:endParaRPr sz="165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695"/>
              </a:spcBef>
            </a:pPr>
            <a:r>
              <a:rPr sz="1350" b="1" spc="-10" dirty="0">
                <a:solidFill>
                  <a:srgbClr val="CFCBBE"/>
                </a:solidFill>
                <a:latin typeface="Trebuchet MS"/>
                <a:cs typeface="Trebuchet MS"/>
              </a:rPr>
              <a:t>Metasploitable2</a:t>
            </a:r>
            <a:endParaRPr sz="1350" dirty="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555"/>
              </a:spcBef>
            </a:pPr>
            <a:r>
              <a:rPr sz="1350" spc="-80" dirty="0">
                <a:solidFill>
                  <a:srgbClr val="CFCBBE"/>
                </a:solidFill>
                <a:latin typeface="Trebuchet MS"/>
                <a:cs typeface="Trebuchet MS"/>
              </a:rPr>
              <a:t>IP:</a:t>
            </a:r>
            <a:r>
              <a:rPr sz="1350" spc="-40" dirty="0">
                <a:solidFill>
                  <a:srgbClr val="CFCBBE"/>
                </a:solidFill>
                <a:latin typeface="Trebuchet MS"/>
                <a:cs typeface="Trebuchet MS"/>
              </a:rPr>
              <a:t> </a:t>
            </a:r>
            <a:r>
              <a:rPr sz="1350" spc="-10" dirty="0">
                <a:solidFill>
                  <a:srgbClr val="CFCBBE"/>
                </a:solidFill>
                <a:latin typeface="Trebuchet MS"/>
                <a:cs typeface="Trebuchet MS"/>
              </a:rPr>
              <a:t>192.168.100.25</a:t>
            </a:r>
            <a:endParaRPr sz="1350" dirty="0">
              <a:latin typeface="Trebuchet MS"/>
              <a:cs typeface="Trebuchet MS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600074" y="3714750"/>
            <a:ext cx="5029200" cy="1304925"/>
            <a:chOff x="600074" y="3714750"/>
            <a:chExt cx="5029200" cy="1304925"/>
          </a:xfrm>
        </p:grpSpPr>
        <p:sp>
          <p:nvSpPr>
            <p:cNvPr id="6" name="object 6"/>
            <p:cNvSpPr/>
            <p:nvPr/>
          </p:nvSpPr>
          <p:spPr>
            <a:xfrm>
              <a:off x="609600" y="3724275"/>
              <a:ext cx="5010150" cy="1285875"/>
            </a:xfrm>
            <a:custGeom>
              <a:avLst/>
              <a:gdLst/>
              <a:ahLst/>
              <a:cxnLst/>
              <a:rect l="l" t="t" r="r" b="b"/>
              <a:pathLst>
                <a:path w="5010150" h="1285875">
                  <a:moveTo>
                    <a:pt x="5001526" y="0"/>
                  </a:moveTo>
                  <a:lnTo>
                    <a:pt x="8616" y="0"/>
                  </a:lnTo>
                  <a:lnTo>
                    <a:pt x="5814" y="1155"/>
                  </a:lnTo>
                  <a:lnTo>
                    <a:pt x="1160" y="5803"/>
                  </a:lnTo>
                  <a:lnTo>
                    <a:pt x="0" y="8623"/>
                  </a:lnTo>
                  <a:lnTo>
                    <a:pt x="0" y="1273975"/>
                  </a:lnTo>
                  <a:lnTo>
                    <a:pt x="0" y="1277251"/>
                  </a:lnTo>
                  <a:lnTo>
                    <a:pt x="1160" y="1280058"/>
                  </a:lnTo>
                  <a:lnTo>
                    <a:pt x="5814" y="1284706"/>
                  </a:lnTo>
                  <a:lnTo>
                    <a:pt x="8616" y="1285875"/>
                  </a:lnTo>
                  <a:lnTo>
                    <a:pt x="5001526" y="1285875"/>
                  </a:lnTo>
                  <a:lnTo>
                    <a:pt x="5004333" y="1284706"/>
                  </a:lnTo>
                  <a:lnTo>
                    <a:pt x="5008994" y="1280058"/>
                  </a:lnTo>
                  <a:lnTo>
                    <a:pt x="5010150" y="1277251"/>
                  </a:lnTo>
                  <a:lnTo>
                    <a:pt x="5010150" y="8623"/>
                  </a:lnTo>
                  <a:lnTo>
                    <a:pt x="5008994" y="5803"/>
                  </a:lnTo>
                  <a:lnTo>
                    <a:pt x="5006657" y="3492"/>
                  </a:lnTo>
                  <a:lnTo>
                    <a:pt x="5004333" y="1155"/>
                  </a:lnTo>
                  <a:lnTo>
                    <a:pt x="5001526" y="0"/>
                  </a:lnTo>
                  <a:close/>
                </a:path>
              </a:pathLst>
            </a:custGeom>
            <a:solidFill>
              <a:srgbClr val="1B1C1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09600" y="3724275"/>
              <a:ext cx="5010150" cy="1285875"/>
            </a:xfrm>
            <a:custGeom>
              <a:avLst/>
              <a:gdLst/>
              <a:ahLst/>
              <a:cxnLst/>
              <a:rect l="l" t="t" r="r" b="b"/>
              <a:pathLst>
                <a:path w="5010150" h="1285875">
                  <a:moveTo>
                    <a:pt x="0" y="1273975"/>
                  </a:moveTo>
                  <a:lnTo>
                    <a:pt x="0" y="11912"/>
                  </a:lnTo>
                  <a:lnTo>
                    <a:pt x="0" y="8623"/>
                  </a:lnTo>
                  <a:lnTo>
                    <a:pt x="1160" y="5803"/>
                  </a:lnTo>
                  <a:lnTo>
                    <a:pt x="3487" y="3492"/>
                  </a:lnTo>
                  <a:lnTo>
                    <a:pt x="5814" y="1155"/>
                  </a:lnTo>
                  <a:lnTo>
                    <a:pt x="8616" y="0"/>
                  </a:lnTo>
                  <a:lnTo>
                    <a:pt x="11906" y="0"/>
                  </a:lnTo>
                  <a:lnTo>
                    <a:pt x="4998250" y="0"/>
                  </a:lnTo>
                  <a:lnTo>
                    <a:pt x="5001526" y="0"/>
                  </a:lnTo>
                  <a:lnTo>
                    <a:pt x="5004333" y="1155"/>
                  </a:lnTo>
                  <a:lnTo>
                    <a:pt x="5006657" y="3492"/>
                  </a:lnTo>
                  <a:lnTo>
                    <a:pt x="5008994" y="5803"/>
                  </a:lnTo>
                  <a:lnTo>
                    <a:pt x="5010150" y="8623"/>
                  </a:lnTo>
                  <a:lnTo>
                    <a:pt x="5010150" y="11912"/>
                  </a:lnTo>
                  <a:lnTo>
                    <a:pt x="5010150" y="1273975"/>
                  </a:lnTo>
                  <a:lnTo>
                    <a:pt x="5010150" y="1277251"/>
                  </a:lnTo>
                  <a:lnTo>
                    <a:pt x="5008994" y="1280058"/>
                  </a:lnTo>
                  <a:lnTo>
                    <a:pt x="5006657" y="1282382"/>
                  </a:lnTo>
                  <a:lnTo>
                    <a:pt x="5004333" y="1284706"/>
                  </a:lnTo>
                  <a:lnTo>
                    <a:pt x="5001526" y="1285875"/>
                  </a:lnTo>
                  <a:lnTo>
                    <a:pt x="4998250" y="1285875"/>
                  </a:lnTo>
                  <a:lnTo>
                    <a:pt x="11906" y="1285875"/>
                  </a:lnTo>
                  <a:lnTo>
                    <a:pt x="8616" y="1285875"/>
                  </a:lnTo>
                  <a:lnTo>
                    <a:pt x="5814" y="1284706"/>
                  </a:lnTo>
                  <a:lnTo>
                    <a:pt x="3487" y="1282382"/>
                  </a:lnTo>
                  <a:lnTo>
                    <a:pt x="1160" y="1280058"/>
                  </a:lnTo>
                  <a:lnTo>
                    <a:pt x="0" y="1277251"/>
                  </a:lnTo>
                  <a:lnTo>
                    <a:pt x="0" y="1273975"/>
                  </a:lnTo>
                  <a:close/>
                </a:path>
              </a:pathLst>
            </a:custGeom>
            <a:ln w="19050">
              <a:solidFill>
                <a:srgbClr val="52535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00074" y="3714750"/>
              <a:ext cx="38099" cy="1304924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819150" y="4295775"/>
              <a:ext cx="600075" cy="228600"/>
            </a:xfrm>
            <a:custGeom>
              <a:avLst/>
              <a:gdLst/>
              <a:ahLst/>
              <a:cxnLst/>
              <a:rect l="l" t="t" r="r" b="b"/>
              <a:pathLst>
                <a:path w="600075" h="228600">
                  <a:moveTo>
                    <a:pt x="581482" y="0"/>
                  </a:moveTo>
                  <a:lnTo>
                    <a:pt x="18588" y="0"/>
                  </a:lnTo>
                  <a:lnTo>
                    <a:pt x="15854" y="546"/>
                  </a:lnTo>
                  <a:lnTo>
                    <a:pt x="0" y="18592"/>
                  </a:lnTo>
                  <a:lnTo>
                    <a:pt x="0" y="207175"/>
                  </a:lnTo>
                  <a:lnTo>
                    <a:pt x="0" y="210007"/>
                  </a:lnTo>
                  <a:lnTo>
                    <a:pt x="18588" y="228600"/>
                  </a:lnTo>
                  <a:lnTo>
                    <a:pt x="581482" y="228600"/>
                  </a:lnTo>
                  <a:lnTo>
                    <a:pt x="600075" y="210007"/>
                  </a:lnTo>
                  <a:lnTo>
                    <a:pt x="600075" y="18592"/>
                  </a:lnTo>
                  <a:lnTo>
                    <a:pt x="584225" y="546"/>
                  </a:lnTo>
                  <a:lnTo>
                    <a:pt x="581482" y="0"/>
                  </a:lnTo>
                  <a:close/>
                </a:path>
              </a:pathLst>
            </a:custGeom>
            <a:solidFill>
              <a:srgbClr val="28292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1" name="object 11"/>
          <p:cNvGrpSpPr/>
          <p:nvPr/>
        </p:nvGrpSpPr>
        <p:grpSpPr>
          <a:xfrm>
            <a:off x="5800724" y="3714750"/>
            <a:ext cx="5029200" cy="1304925"/>
            <a:chOff x="5800724" y="3714750"/>
            <a:chExt cx="5029200" cy="1304925"/>
          </a:xfrm>
        </p:grpSpPr>
        <p:sp>
          <p:nvSpPr>
            <p:cNvPr id="12" name="object 12"/>
            <p:cNvSpPr/>
            <p:nvPr/>
          </p:nvSpPr>
          <p:spPr>
            <a:xfrm>
              <a:off x="5810250" y="3724275"/>
              <a:ext cx="5010150" cy="1285875"/>
            </a:xfrm>
            <a:custGeom>
              <a:avLst/>
              <a:gdLst/>
              <a:ahLst/>
              <a:cxnLst/>
              <a:rect l="l" t="t" r="r" b="b"/>
              <a:pathLst>
                <a:path w="5010150" h="1285875">
                  <a:moveTo>
                    <a:pt x="5001526" y="0"/>
                  </a:moveTo>
                  <a:lnTo>
                    <a:pt x="8623" y="0"/>
                  </a:lnTo>
                  <a:lnTo>
                    <a:pt x="5816" y="1155"/>
                  </a:lnTo>
                  <a:lnTo>
                    <a:pt x="3492" y="3492"/>
                  </a:lnTo>
                  <a:lnTo>
                    <a:pt x="1155" y="5803"/>
                  </a:lnTo>
                  <a:lnTo>
                    <a:pt x="0" y="8623"/>
                  </a:lnTo>
                  <a:lnTo>
                    <a:pt x="0" y="1273975"/>
                  </a:lnTo>
                  <a:lnTo>
                    <a:pt x="0" y="1277251"/>
                  </a:lnTo>
                  <a:lnTo>
                    <a:pt x="1155" y="1280058"/>
                  </a:lnTo>
                  <a:lnTo>
                    <a:pt x="5816" y="1284706"/>
                  </a:lnTo>
                  <a:lnTo>
                    <a:pt x="8623" y="1285875"/>
                  </a:lnTo>
                  <a:lnTo>
                    <a:pt x="5001526" y="1285875"/>
                  </a:lnTo>
                  <a:lnTo>
                    <a:pt x="5004333" y="1284706"/>
                  </a:lnTo>
                  <a:lnTo>
                    <a:pt x="5008981" y="1280058"/>
                  </a:lnTo>
                  <a:lnTo>
                    <a:pt x="5010150" y="1277251"/>
                  </a:lnTo>
                  <a:lnTo>
                    <a:pt x="5010150" y="8623"/>
                  </a:lnTo>
                  <a:lnTo>
                    <a:pt x="5008981" y="5803"/>
                  </a:lnTo>
                  <a:lnTo>
                    <a:pt x="5004333" y="1155"/>
                  </a:lnTo>
                  <a:lnTo>
                    <a:pt x="5001526" y="0"/>
                  </a:lnTo>
                  <a:close/>
                </a:path>
              </a:pathLst>
            </a:custGeom>
            <a:solidFill>
              <a:srgbClr val="1B1C1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5810250" y="3724275"/>
              <a:ext cx="5010150" cy="1285875"/>
            </a:xfrm>
            <a:custGeom>
              <a:avLst/>
              <a:gdLst/>
              <a:ahLst/>
              <a:cxnLst/>
              <a:rect l="l" t="t" r="r" b="b"/>
              <a:pathLst>
                <a:path w="5010150" h="1285875">
                  <a:moveTo>
                    <a:pt x="0" y="1273975"/>
                  </a:moveTo>
                  <a:lnTo>
                    <a:pt x="0" y="11912"/>
                  </a:lnTo>
                  <a:lnTo>
                    <a:pt x="0" y="8623"/>
                  </a:lnTo>
                  <a:lnTo>
                    <a:pt x="1155" y="5803"/>
                  </a:lnTo>
                  <a:lnTo>
                    <a:pt x="3492" y="3492"/>
                  </a:lnTo>
                  <a:lnTo>
                    <a:pt x="5816" y="1155"/>
                  </a:lnTo>
                  <a:lnTo>
                    <a:pt x="8623" y="0"/>
                  </a:lnTo>
                  <a:lnTo>
                    <a:pt x="11912" y="0"/>
                  </a:lnTo>
                  <a:lnTo>
                    <a:pt x="4998250" y="0"/>
                  </a:lnTo>
                  <a:lnTo>
                    <a:pt x="5001526" y="0"/>
                  </a:lnTo>
                  <a:lnTo>
                    <a:pt x="5004333" y="1155"/>
                  </a:lnTo>
                  <a:lnTo>
                    <a:pt x="5006657" y="3492"/>
                  </a:lnTo>
                  <a:lnTo>
                    <a:pt x="5008981" y="5803"/>
                  </a:lnTo>
                  <a:lnTo>
                    <a:pt x="5010150" y="8623"/>
                  </a:lnTo>
                  <a:lnTo>
                    <a:pt x="5010150" y="11912"/>
                  </a:lnTo>
                  <a:lnTo>
                    <a:pt x="5010150" y="1273975"/>
                  </a:lnTo>
                  <a:lnTo>
                    <a:pt x="5010150" y="1277251"/>
                  </a:lnTo>
                  <a:lnTo>
                    <a:pt x="5008981" y="1280058"/>
                  </a:lnTo>
                  <a:lnTo>
                    <a:pt x="5006657" y="1282382"/>
                  </a:lnTo>
                  <a:lnTo>
                    <a:pt x="5004333" y="1284706"/>
                  </a:lnTo>
                  <a:lnTo>
                    <a:pt x="5001526" y="1285875"/>
                  </a:lnTo>
                  <a:lnTo>
                    <a:pt x="4998250" y="1285875"/>
                  </a:lnTo>
                  <a:lnTo>
                    <a:pt x="11912" y="1285875"/>
                  </a:lnTo>
                  <a:lnTo>
                    <a:pt x="8623" y="1285875"/>
                  </a:lnTo>
                  <a:lnTo>
                    <a:pt x="5816" y="1284706"/>
                  </a:lnTo>
                  <a:lnTo>
                    <a:pt x="3492" y="1282382"/>
                  </a:lnTo>
                  <a:lnTo>
                    <a:pt x="1155" y="1280058"/>
                  </a:lnTo>
                  <a:lnTo>
                    <a:pt x="0" y="1277251"/>
                  </a:lnTo>
                  <a:lnTo>
                    <a:pt x="0" y="1273975"/>
                  </a:lnTo>
                  <a:close/>
                </a:path>
              </a:pathLst>
            </a:custGeom>
            <a:ln w="19050">
              <a:solidFill>
                <a:srgbClr val="52535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800724" y="3714750"/>
              <a:ext cx="38099" cy="1304924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6019800" y="4295775"/>
              <a:ext cx="1619250" cy="228600"/>
            </a:xfrm>
            <a:custGeom>
              <a:avLst/>
              <a:gdLst/>
              <a:ahLst/>
              <a:cxnLst/>
              <a:rect l="l" t="t" r="r" b="b"/>
              <a:pathLst>
                <a:path w="1619250" h="228600">
                  <a:moveTo>
                    <a:pt x="1600657" y="0"/>
                  </a:moveTo>
                  <a:lnTo>
                    <a:pt x="18592" y="0"/>
                  </a:lnTo>
                  <a:lnTo>
                    <a:pt x="15849" y="546"/>
                  </a:lnTo>
                  <a:lnTo>
                    <a:pt x="0" y="18592"/>
                  </a:lnTo>
                  <a:lnTo>
                    <a:pt x="0" y="207175"/>
                  </a:lnTo>
                  <a:lnTo>
                    <a:pt x="0" y="210007"/>
                  </a:lnTo>
                  <a:lnTo>
                    <a:pt x="18592" y="228600"/>
                  </a:lnTo>
                  <a:lnTo>
                    <a:pt x="1600657" y="228600"/>
                  </a:lnTo>
                  <a:lnTo>
                    <a:pt x="1619250" y="210007"/>
                  </a:lnTo>
                  <a:lnTo>
                    <a:pt x="1619250" y="18592"/>
                  </a:lnTo>
                  <a:lnTo>
                    <a:pt x="1603400" y="546"/>
                  </a:lnTo>
                  <a:lnTo>
                    <a:pt x="1600657" y="0"/>
                  </a:lnTo>
                  <a:close/>
                </a:path>
              </a:pathLst>
            </a:custGeom>
            <a:solidFill>
              <a:srgbClr val="28292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731837" y="3834765"/>
            <a:ext cx="3794125" cy="922019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spc="145" dirty="0">
                <a:solidFill>
                  <a:srgbClr val="CFCBBE"/>
                </a:solidFill>
                <a:latin typeface="Calibri"/>
                <a:cs typeface="Calibri"/>
              </a:rPr>
              <a:t>Connectivity</a:t>
            </a:r>
            <a:r>
              <a:rPr sz="1650" spc="85" dirty="0">
                <a:solidFill>
                  <a:srgbClr val="CFCBBE"/>
                </a:solidFill>
                <a:latin typeface="Calibri"/>
                <a:cs typeface="Calibri"/>
              </a:rPr>
              <a:t> </a:t>
            </a:r>
            <a:r>
              <a:rPr sz="1650" spc="200" dirty="0">
                <a:solidFill>
                  <a:srgbClr val="CFCBBE"/>
                </a:solidFill>
                <a:latin typeface="Calibri"/>
                <a:cs typeface="Calibri"/>
              </a:rPr>
              <a:t>Check</a:t>
            </a:r>
            <a:endParaRPr sz="1650" dirty="0">
              <a:latin typeface="Calibri"/>
              <a:cs typeface="Calibri"/>
            </a:endParaRPr>
          </a:p>
          <a:p>
            <a:pPr marL="12700" marR="5080">
              <a:lnSpc>
                <a:spcPct val="134300"/>
              </a:lnSpc>
              <a:spcBef>
                <a:spcPts val="690"/>
              </a:spcBef>
            </a:pPr>
            <a:r>
              <a:rPr sz="1350" spc="20" dirty="0">
                <a:solidFill>
                  <a:srgbClr val="CFCBBE"/>
                </a:solidFill>
                <a:latin typeface="Tahoma"/>
                <a:cs typeface="Tahoma"/>
              </a:rPr>
              <a:t>ping</a:t>
            </a:r>
            <a:r>
              <a:rPr sz="1350" spc="30" dirty="0">
                <a:solidFill>
                  <a:srgbClr val="CFCBBE"/>
                </a:solidFill>
                <a:latin typeface="Tahoma"/>
                <a:cs typeface="Tahoma"/>
              </a:rPr>
              <a:t> </a:t>
            </a:r>
            <a:r>
              <a:rPr sz="1350" spc="10" dirty="0">
                <a:solidFill>
                  <a:srgbClr val="CFCBBE"/>
                </a:solidFill>
                <a:latin typeface="Tahoma"/>
                <a:cs typeface="Tahoma"/>
              </a:rPr>
              <a:t>192.168.100.25</a:t>
            </a:r>
            <a:r>
              <a:rPr sz="1350" spc="25" dirty="0">
                <a:solidFill>
                  <a:srgbClr val="CFCBBE"/>
                </a:solidFill>
                <a:latin typeface="Tahoma"/>
                <a:cs typeface="Tahoma"/>
              </a:rPr>
              <a:t> </a:t>
            </a:r>
            <a:r>
              <a:rPr sz="1350" spc="65" dirty="0">
                <a:solidFill>
                  <a:srgbClr val="CFCBBE"/>
                </a:solidFill>
                <a:latin typeface="Trebuchet MS"/>
                <a:cs typeface="Trebuchet MS"/>
              </a:rPr>
              <a:t>showed</a:t>
            </a:r>
            <a:r>
              <a:rPr sz="1350" spc="45" dirty="0">
                <a:solidFill>
                  <a:srgbClr val="CFCBBE"/>
                </a:solidFill>
                <a:latin typeface="Trebuchet MS"/>
                <a:cs typeface="Trebuchet MS"/>
              </a:rPr>
              <a:t> </a:t>
            </a:r>
            <a:r>
              <a:rPr sz="1350" spc="20" dirty="0">
                <a:solidFill>
                  <a:srgbClr val="CFCBBE"/>
                </a:solidFill>
                <a:latin typeface="Trebuchet MS"/>
                <a:cs typeface="Trebuchet MS"/>
              </a:rPr>
              <a:t>successful</a:t>
            </a:r>
            <a:r>
              <a:rPr sz="1350" spc="-10" dirty="0">
                <a:solidFill>
                  <a:srgbClr val="CFCBBE"/>
                </a:solidFill>
                <a:latin typeface="Trebuchet MS"/>
                <a:cs typeface="Trebuchet MS"/>
              </a:rPr>
              <a:t> replies, </a:t>
            </a:r>
            <a:r>
              <a:rPr sz="1350" dirty="0">
                <a:solidFill>
                  <a:srgbClr val="CFCBBE"/>
                </a:solidFill>
                <a:latin typeface="Trebuchet MS"/>
                <a:cs typeface="Trebuchet MS"/>
              </a:rPr>
              <a:t>confirming</a:t>
            </a:r>
            <a:r>
              <a:rPr sz="1350" spc="-10" dirty="0">
                <a:solidFill>
                  <a:srgbClr val="CFCBBE"/>
                </a:solidFill>
                <a:latin typeface="Trebuchet MS"/>
                <a:cs typeface="Trebuchet MS"/>
              </a:rPr>
              <a:t> </a:t>
            </a:r>
            <a:r>
              <a:rPr sz="1350" spc="-45" dirty="0">
                <a:solidFill>
                  <a:srgbClr val="CFCBBE"/>
                </a:solidFill>
                <a:latin typeface="Trebuchet MS"/>
                <a:cs typeface="Trebuchet MS"/>
              </a:rPr>
              <a:t>t</a:t>
            </a:r>
            <a:r>
              <a:rPr lang="en-US" sz="1350" spc="-45" dirty="0">
                <a:solidFill>
                  <a:srgbClr val="CFCBBE"/>
                </a:solidFill>
                <a:latin typeface="Trebuchet MS"/>
                <a:cs typeface="Trebuchet MS"/>
              </a:rPr>
              <a:t>a</a:t>
            </a:r>
            <a:r>
              <a:rPr sz="1350" spc="-45" dirty="0">
                <a:solidFill>
                  <a:srgbClr val="CFCBBE"/>
                </a:solidFill>
                <a:latin typeface="Trebuchet MS"/>
                <a:cs typeface="Trebuchet MS"/>
              </a:rPr>
              <a:t>rget</a:t>
            </a:r>
            <a:r>
              <a:rPr sz="1350" spc="-5" dirty="0">
                <a:solidFill>
                  <a:srgbClr val="CFCBBE"/>
                </a:solidFill>
                <a:latin typeface="Trebuchet MS"/>
                <a:cs typeface="Trebuchet MS"/>
              </a:rPr>
              <a:t> </a:t>
            </a:r>
            <a:r>
              <a:rPr sz="1350" dirty="0">
                <a:solidFill>
                  <a:srgbClr val="CFCBBE"/>
                </a:solidFill>
                <a:latin typeface="Trebuchet MS"/>
                <a:cs typeface="Trebuchet MS"/>
              </a:rPr>
              <a:t>is</a:t>
            </a:r>
            <a:r>
              <a:rPr sz="1350" spc="-10" dirty="0">
                <a:solidFill>
                  <a:srgbClr val="CFCBBE"/>
                </a:solidFill>
                <a:latin typeface="Trebuchet MS"/>
                <a:cs typeface="Trebuchet MS"/>
              </a:rPr>
              <a:t> online.</a:t>
            </a:r>
            <a:endParaRPr sz="1350" dirty="0">
              <a:latin typeface="Trebuchet MS"/>
              <a:cs typeface="Trebuchet MS"/>
            </a:endParaRPr>
          </a:p>
        </p:txBody>
      </p:sp>
      <p:pic>
        <p:nvPicPr>
          <p:cNvPr id="17" name="object 17">
            <a:hlinkClick r:id="rId4"/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580244" y="5926073"/>
            <a:ext cx="1754504" cy="41910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2BFC74F3-6C9C-4990-B0CD-D619AE058C6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3413" y="3333431"/>
            <a:ext cx="5632349" cy="3011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18417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0277475" cy="6440805"/>
          </a:xfrm>
          <a:custGeom>
            <a:avLst/>
            <a:gdLst/>
            <a:ahLst/>
            <a:cxnLst/>
            <a:rect l="l" t="t" r="r" b="b"/>
            <a:pathLst>
              <a:path w="10277475" h="6440805">
                <a:moveTo>
                  <a:pt x="10277272" y="0"/>
                </a:moveTo>
                <a:lnTo>
                  <a:pt x="0" y="0"/>
                </a:lnTo>
                <a:lnTo>
                  <a:pt x="0" y="6440424"/>
                </a:lnTo>
                <a:lnTo>
                  <a:pt x="10277272" y="6440424"/>
                </a:lnTo>
                <a:lnTo>
                  <a:pt x="10277272" y="0"/>
                </a:lnTo>
                <a:close/>
              </a:path>
            </a:pathLst>
          </a:custGeom>
          <a:solidFill>
            <a:srgbClr val="1B1C1D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7725664" y="4445"/>
            <a:ext cx="3854450" cy="6440805"/>
            <a:chOff x="6423295" y="0"/>
            <a:chExt cx="3854450" cy="644080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423295" y="0"/>
              <a:ext cx="3853976" cy="6440424"/>
            </a:xfrm>
            <a:prstGeom prst="rect">
              <a:avLst/>
            </a:prstGeom>
          </p:spPr>
        </p:pic>
        <p:pic>
          <p:nvPicPr>
            <p:cNvPr id="5" name="object 5">
              <a:hlinkClick r:id="rId3"/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614067" y="5977946"/>
              <a:ext cx="1577561" cy="376833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526856" y="389826"/>
            <a:ext cx="4528820" cy="96774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>
              <a:lnSpc>
                <a:spcPts val="3779"/>
              </a:lnSpc>
              <a:spcBef>
                <a:spcPts val="55"/>
              </a:spcBef>
            </a:pPr>
            <a:r>
              <a:rPr sz="3000" spc="254" dirty="0">
                <a:solidFill>
                  <a:srgbClr val="F2E781"/>
                </a:solidFill>
              </a:rPr>
              <a:t>Port</a:t>
            </a:r>
            <a:r>
              <a:rPr sz="3000" spc="55" dirty="0">
                <a:solidFill>
                  <a:srgbClr val="F2E781"/>
                </a:solidFill>
              </a:rPr>
              <a:t> </a:t>
            </a:r>
            <a:r>
              <a:rPr sz="3000" spc="335" dirty="0">
                <a:solidFill>
                  <a:srgbClr val="F2E781"/>
                </a:solidFill>
              </a:rPr>
              <a:t>Scanning</a:t>
            </a:r>
            <a:r>
              <a:rPr sz="3000" spc="60" dirty="0">
                <a:solidFill>
                  <a:srgbClr val="F2E781"/>
                </a:solidFill>
              </a:rPr>
              <a:t> </a:t>
            </a:r>
            <a:r>
              <a:rPr lang="en-US" sz="3000" spc="430" dirty="0">
                <a:solidFill>
                  <a:srgbClr val="F2E781"/>
                </a:solidFill>
              </a:rPr>
              <a:t>a</a:t>
            </a:r>
            <a:r>
              <a:rPr sz="3000" spc="60" dirty="0">
                <a:solidFill>
                  <a:srgbClr val="F2E781"/>
                </a:solidFill>
              </a:rPr>
              <a:t> </a:t>
            </a:r>
            <a:r>
              <a:rPr sz="3000" spc="300" dirty="0">
                <a:solidFill>
                  <a:srgbClr val="F2E781"/>
                </a:solidFill>
              </a:rPr>
              <a:t>Service </a:t>
            </a:r>
            <a:r>
              <a:rPr sz="3000" spc="290" dirty="0">
                <a:solidFill>
                  <a:srgbClr val="F2E781"/>
                </a:solidFill>
              </a:rPr>
              <a:t>Discovery</a:t>
            </a:r>
            <a:endParaRPr sz="3000" dirty="0"/>
          </a:p>
        </p:txBody>
      </p:sp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39556" y="1867037"/>
            <a:ext cx="5344181" cy="17128"/>
          </a:xfrm>
          <a:prstGeom prst="rect">
            <a:avLst/>
          </a:prstGeom>
        </p:spPr>
      </p:pic>
      <p:sp>
        <p:nvSpPr>
          <p:cNvPr id="8" name="object 8"/>
          <p:cNvSpPr/>
          <p:nvPr/>
        </p:nvSpPr>
        <p:spPr>
          <a:xfrm>
            <a:off x="530992" y="2329514"/>
            <a:ext cx="1816100" cy="205740"/>
          </a:xfrm>
          <a:custGeom>
            <a:avLst/>
            <a:gdLst/>
            <a:ahLst/>
            <a:cxnLst/>
            <a:rect l="l" t="t" r="r" b="b"/>
            <a:pathLst>
              <a:path w="1816100" h="205739">
                <a:moveTo>
                  <a:pt x="1798933" y="0"/>
                </a:moveTo>
                <a:lnTo>
                  <a:pt x="16714" y="0"/>
                </a:lnTo>
                <a:lnTo>
                  <a:pt x="14255" y="491"/>
                </a:lnTo>
                <a:lnTo>
                  <a:pt x="0" y="16717"/>
                </a:lnTo>
                <a:lnTo>
                  <a:pt x="0" y="186269"/>
                </a:lnTo>
                <a:lnTo>
                  <a:pt x="0" y="188827"/>
                </a:lnTo>
                <a:lnTo>
                  <a:pt x="16714" y="205545"/>
                </a:lnTo>
                <a:lnTo>
                  <a:pt x="1798933" y="205545"/>
                </a:lnTo>
                <a:lnTo>
                  <a:pt x="1815651" y="188827"/>
                </a:lnTo>
                <a:lnTo>
                  <a:pt x="1815651" y="16717"/>
                </a:lnTo>
                <a:lnTo>
                  <a:pt x="1801400" y="491"/>
                </a:lnTo>
                <a:lnTo>
                  <a:pt x="1798933" y="0"/>
                </a:lnTo>
                <a:close/>
              </a:path>
            </a:pathLst>
          </a:custGeom>
          <a:solidFill>
            <a:srgbClr val="28292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39556" y="3074617"/>
            <a:ext cx="5344181" cy="17128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503036" y="1588841"/>
            <a:ext cx="4987925" cy="1234953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3020">
              <a:lnSpc>
                <a:spcPct val="100000"/>
              </a:lnSpc>
              <a:spcBef>
                <a:spcPts val="110"/>
              </a:spcBef>
            </a:pPr>
            <a:r>
              <a:rPr sz="1200" spc="-25" dirty="0">
                <a:solidFill>
                  <a:srgbClr val="CFCBBE"/>
                </a:solidFill>
                <a:latin typeface="Calibri"/>
                <a:cs typeface="Calibri"/>
              </a:rPr>
              <a:t>01</a:t>
            </a:r>
            <a:endParaRPr sz="1200" dirty="0">
              <a:latin typeface="Calibri"/>
              <a:cs typeface="Calibri"/>
            </a:endParaRPr>
          </a:p>
          <a:p>
            <a:pPr marL="36195">
              <a:lnSpc>
                <a:spcPct val="100000"/>
              </a:lnSpc>
              <a:spcBef>
                <a:spcPts val="1430"/>
              </a:spcBef>
            </a:pPr>
            <a:r>
              <a:rPr sz="1500" spc="210" dirty="0">
                <a:solidFill>
                  <a:srgbClr val="CFCBBE"/>
                </a:solidFill>
                <a:latin typeface="Calibri"/>
                <a:cs typeface="Calibri"/>
              </a:rPr>
              <a:t>Nmap</a:t>
            </a:r>
            <a:r>
              <a:rPr sz="1500" spc="20" dirty="0">
                <a:solidFill>
                  <a:srgbClr val="CFCBBE"/>
                </a:solidFill>
                <a:latin typeface="Calibri"/>
                <a:cs typeface="Calibri"/>
              </a:rPr>
              <a:t> </a:t>
            </a:r>
            <a:r>
              <a:rPr sz="1500" spc="175" dirty="0">
                <a:solidFill>
                  <a:srgbClr val="CFCBBE"/>
                </a:solidFill>
                <a:latin typeface="Calibri"/>
                <a:cs typeface="Calibri"/>
              </a:rPr>
              <a:t>Scan</a:t>
            </a:r>
            <a:endParaRPr sz="1500" dirty="0">
              <a:latin typeface="Calibri"/>
              <a:cs typeface="Calibri"/>
            </a:endParaRPr>
          </a:p>
          <a:p>
            <a:pPr marL="36195">
              <a:lnSpc>
                <a:spcPct val="100000"/>
              </a:lnSpc>
              <a:spcBef>
                <a:spcPts val="1130"/>
              </a:spcBef>
            </a:pPr>
            <a:r>
              <a:rPr sz="1200" spc="70" dirty="0">
                <a:solidFill>
                  <a:srgbClr val="CFCBBE"/>
                </a:solidFill>
                <a:latin typeface="Tahoma"/>
                <a:cs typeface="Tahoma"/>
              </a:rPr>
              <a:t>nmap</a:t>
            </a:r>
            <a:r>
              <a:rPr sz="1200" spc="10" dirty="0">
                <a:solidFill>
                  <a:srgbClr val="CFCBBE"/>
                </a:solidFill>
                <a:latin typeface="Tahoma"/>
                <a:cs typeface="Tahoma"/>
              </a:rPr>
              <a:t> </a:t>
            </a:r>
            <a:r>
              <a:rPr sz="1200" spc="-10" dirty="0">
                <a:solidFill>
                  <a:srgbClr val="CFCBBE"/>
                </a:solidFill>
                <a:latin typeface="Tahoma"/>
                <a:cs typeface="Tahoma"/>
              </a:rPr>
              <a:t>-</a:t>
            </a:r>
            <a:r>
              <a:rPr sz="1200" dirty="0">
                <a:solidFill>
                  <a:srgbClr val="CFCBBE"/>
                </a:solidFill>
                <a:latin typeface="Tahoma"/>
                <a:cs typeface="Tahoma"/>
              </a:rPr>
              <a:t>sV</a:t>
            </a:r>
            <a:r>
              <a:rPr sz="1200" spc="15" dirty="0">
                <a:solidFill>
                  <a:srgbClr val="CFCBBE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CFCBBE"/>
                </a:solidFill>
                <a:latin typeface="Tahoma"/>
                <a:cs typeface="Tahoma"/>
              </a:rPr>
              <a:t>192.168.100.25 </a:t>
            </a:r>
            <a:r>
              <a:rPr sz="1200" dirty="0">
                <a:solidFill>
                  <a:srgbClr val="CFCBBE"/>
                </a:solidFill>
                <a:latin typeface="Trebuchet MS"/>
                <a:cs typeface="Trebuchet MS"/>
              </a:rPr>
              <a:t>identified</a:t>
            </a:r>
            <a:r>
              <a:rPr sz="1200" spc="15" dirty="0">
                <a:solidFill>
                  <a:srgbClr val="CFCBBE"/>
                </a:solidFill>
                <a:latin typeface="Trebuchet MS"/>
                <a:cs typeface="Trebuchet MS"/>
              </a:rPr>
              <a:t> </a:t>
            </a:r>
            <a:r>
              <a:rPr sz="1200" spc="65" dirty="0">
                <a:solidFill>
                  <a:srgbClr val="CFCBBE"/>
                </a:solidFill>
                <a:latin typeface="Trebuchet MS"/>
                <a:cs typeface="Trebuchet MS"/>
              </a:rPr>
              <a:t>open</a:t>
            </a:r>
            <a:r>
              <a:rPr sz="1200" spc="15" dirty="0">
                <a:solidFill>
                  <a:srgbClr val="CFCBBE"/>
                </a:solidFill>
                <a:latin typeface="Trebuchet MS"/>
                <a:cs typeface="Trebuchet MS"/>
              </a:rPr>
              <a:t> </a:t>
            </a:r>
            <a:r>
              <a:rPr sz="1200" dirty="0">
                <a:solidFill>
                  <a:srgbClr val="CFCBBE"/>
                </a:solidFill>
                <a:latin typeface="Trebuchet MS"/>
                <a:cs typeface="Trebuchet MS"/>
              </a:rPr>
              <a:t>ports</a:t>
            </a:r>
            <a:r>
              <a:rPr sz="1200" spc="15" dirty="0">
                <a:solidFill>
                  <a:srgbClr val="CFCBBE"/>
                </a:solidFill>
                <a:latin typeface="Trebuchet MS"/>
                <a:cs typeface="Trebuchet MS"/>
              </a:rPr>
              <a:t> </a:t>
            </a:r>
            <a:r>
              <a:rPr lang="en-US" sz="1200" spc="-10" dirty="0">
                <a:solidFill>
                  <a:srgbClr val="CFCBBE"/>
                </a:solidFill>
                <a:latin typeface="Trebuchet MS"/>
                <a:cs typeface="Trebuchet MS"/>
              </a:rPr>
              <a:t>a</a:t>
            </a:r>
            <a:r>
              <a:rPr sz="1200" spc="-10" dirty="0">
                <a:solidFill>
                  <a:srgbClr val="CFCBBE"/>
                </a:solidFill>
                <a:latin typeface="Trebuchet MS"/>
                <a:cs typeface="Trebuchet MS"/>
              </a:rPr>
              <a:t>nd</a:t>
            </a:r>
            <a:r>
              <a:rPr sz="1200" spc="15" dirty="0">
                <a:solidFill>
                  <a:srgbClr val="CFCBBE"/>
                </a:solidFill>
                <a:latin typeface="Trebuchet MS"/>
                <a:cs typeface="Trebuchet MS"/>
              </a:rPr>
              <a:t> </a:t>
            </a:r>
            <a:r>
              <a:rPr sz="1200" spc="-20" dirty="0">
                <a:solidFill>
                  <a:srgbClr val="CFCBBE"/>
                </a:solidFill>
                <a:latin typeface="Trebuchet MS"/>
                <a:cs typeface="Trebuchet MS"/>
              </a:rPr>
              <a:t>softw</a:t>
            </a:r>
            <a:r>
              <a:rPr lang="en-US" sz="1200" spc="-20" dirty="0">
                <a:solidFill>
                  <a:srgbClr val="CFCBBE"/>
                </a:solidFill>
                <a:latin typeface="Trebuchet MS"/>
                <a:cs typeface="Trebuchet MS"/>
              </a:rPr>
              <a:t>a</a:t>
            </a:r>
            <a:r>
              <a:rPr sz="1200" spc="-20" dirty="0">
                <a:solidFill>
                  <a:srgbClr val="CFCBBE"/>
                </a:solidFill>
                <a:latin typeface="Trebuchet MS"/>
                <a:cs typeface="Trebuchet MS"/>
              </a:rPr>
              <a:t>re </a:t>
            </a:r>
            <a:r>
              <a:rPr sz="1200" spc="-10" dirty="0">
                <a:solidFill>
                  <a:srgbClr val="CFCBBE"/>
                </a:solidFill>
                <a:latin typeface="Trebuchet MS"/>
                <a:cs typeface="Trebuchet MS"/>
              </a:rPr>
              <a:t>versions.</a:t>
            </a:r>
            <a:endParaRPr sz="120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944"/>
              </a:spcBef>
            </a:pPr>
            <a:endParaRPr sz="1200" dirty="0">
              <a:latin typeface="Trebuchet MS"/>
              <a:cs typeface="Trebuchet MS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1BF6FE7B-E5AC-0BBF-C19E-CB6B4AA69FD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3036" y="2569778"/>
            <a:ext cx="5867400" cy="378635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2550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125"/>
              </a:spcBef>
            </a:pPr>
            <a:r>
              <a:rPr sz="3350" spc="330" dirty="0">
                <a:solidFill>
                  <a:srgbClr val="F2E781"/>
                </a:solidFill>
              </a:rPr>
              <a:t>Exploit</a:t>
            </a:r>
            <a:r>
              <a:rPr sz="3350" spc="70" dirty="0">
                <a:solidFill>
                  <a:srgbClr val="F2E781"/>
                </a:solidFill>
              </a:rPr>
              <a:t> </a:t>
            </a:r>
            <a:r>
              <a:rPr sz="3350" spc="250" dirty="0">
                <a:solidFill>
                  <a:srgbClr val="F2E781"/>
                </a:solidFill>
              </a:rPr>
              <a:t>Selection:</a:t>
            </a:r>
            <a:r>
              <a:rPr sz="3350" spc="70" dirty="0">
                <a:solidFill>
                  <a:srgbClr val="F2E781"/>
                </a:solidFill>
              </a:rPr>
              <a:t> </a:t>
            </a:r>
            <a:r>
              <a:rPr sz="3350" spc="240" dirty="0">
                <a:solidFill>
                  <a:srgbClr val="F2E781"/>
                </a:solidFill>
              </a:rPr>
              <a:t>Metasploit</a:t>
            </a:r>
            <a:endParaRPr sz="3350"/>
          </a:p>
        </p:txBody>
      </p:sp>
      <p:grpSp>
        <p:nvGrpSpPr>
          <p:cNvPr id="3" name="object 3"/>
          <p:cNvGrpSpPr/>
          <p:nvPr/>
        </p:nvGrpSpPr>
        <p:grpSpPr>
          <a:xfrm>
            <a:off x="600075" y="2295524"/>
            <a:ext cx="3295650" cy="2257425"/>
            <a:chOff x="600075" y="2295524"/>
            <a:chExt cx="3295650" cy="2257425"/>
          </a:xfrm>
        </p:grpSpPr>
        <p:sp>
          <p:nvSpPr>
            <p:cNvPr id="4" name="object 4"/>
            <p:cNvSpPr/>
            <p:nvPr/>
          </p:nvSpPr>
          <p:spPr>
            <a:xfrm>
              <a:off x="600075" y="2295524"/>
              <a:ext cx="3295650" cy="2257425"/>
            </a:xfrm>
            <a:custGeom>
              <a:avLst/>
              <a:gdLst/>
              <a:ahLst/>
              <a:cxnLst/>
              <a:rect l="l" t="t" r="r" b="b"/>
              <a:pathLst>
                <a:path w="3295650" h="2257425">
                  <a:moveTo>
                    <a:pt x="3277057" y="0"/>
                  </a:moveTo>
                  <a:lnTo>
                    <a:pt x="18588" y="0"/>
                  </a:lnTo>
                  <a:lnTo>
                    <a:pt x="15854" y="546"/>
                  </a:lnTo>
                  <a:lnTo>
                    <a:pt x="0" y="18592"/>
                  </a:lnTo>
                  <a:lnTo>
                    <a:pt x="0" y="2236000"/>
                  </a:lnTo>
                  <a:lnTo>
                    <a:pt x="0" y="2238832"/>
                  </a:lnTo>
                  <a:lnTo>
                    <a:pt x="18588" y="2257425"/>
                  </a:lnTo>
                  <a:lnTo>
                    <a:pt x="3277057" y="2257425"/>
                  </a:lnTo>
                  <a:lnTo>
                    <a:pt x="3295650" y="2238832"/>
                  </a:lnTo>
                  <a:lnTo>
                    <a:pt x="3295650" y="18592"/>
                  </a:lnTo>
                  <a:lnTo>
                    <a:pt x="3279800" y="546"/>
                  </a:lnTo>
                  <a:lnTo>
                    <a:pt x="3277057" y="0"/>
                  </a:lnTo>
                  <a:close/>
                </a:path>
              </a:pathLst>
            </a:custGeom>
            <a:solidFill>
              <a:srgbClr val="3A3B3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71524" y="2466975"/>
              <a:ext cx="514349" cy="51434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17272" y="2604724"/>
              <a:ext cx="225684" cy="241682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762000" y="3543299"/>
              <a:ext cx="933450" cy="228600"/>
            </a:xfrm>
            <a:custGeom>
              <a:avLst/>
              <a:gdLst/>
              <a:ahLst/>
              <a:cxnLst/>
              <a:rect l="l" t="t" r="r" b="b"/>
              <a:pathLst>
                <a:path w="933450" h="228600">
                  <a:moveTo>
                    <a:pt x="914857" y="0"/>
                  </a:moveTo>
                  <a:lnTo>
                    <a:pt x="18588" y="0"/>
                  </a:lnTo>
                  <a:lnTo>
                    <a:pt x="15854" y="546"/>
                  </a:lnTo>
                  <a:lnTo>
                    <a:pt x="0" y="18592"/>
                  </a:lnTo>
                  <a:lnTo>
                    <a:pt x="0" y="207175"/>
                  </a:lnTo>
                  <a:lnTo>
                    <a:pt x="0" y="210007"/>
                  </a:lnTo>
                  <a:lnTo>
                    <a:pt x="18588" y="228600"/>
                  </a:lnTo>
                  <a:lnTo>
                    <a:pt x="914857" y="228600"/>
                  </a:lnTo>
                  <a:lnTo>
                    <a:pt x="933450" y="210007"/>
                  </a:lnTo>
                  <a:lnTo>
                    <a:pt x="933450" y="18592"/>
                  </a:lnTo>
                  <a:lnTo>
                    <a:pt x="917600" y="546"/>
                  </a:lnTo>
                  <a:lnTo>
                    <a:pt x="914857" y="0"/>
                  </a:lnTo>
                  <a:close/>
                </a:path>
              </a:pathLst>
            </a:custGeom>
            <a:solidFill>
              <a:srgbClr val="28292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758825" y="3125787"/>
            <a:ext cx="2614295" cy="922019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spc="235" dirty="0">
                <a:solidFill>
                  <a:srgbClr val="CFCBBE"/>
                </a:solidFill>
                <a:latin typeface="Calibri"/>
                <a:cs typeface="Calibri"/>
              </a:rPr>
              <a:t>Launch</a:t>
            </a:r>
            <a:r>
              <a:rPr sz="1650" spc="45" dirty="0">
                <a:solidFill>
                  <a:srgbClr val="CFCBBE"/>
                </a:solidFill>
                <a:latin typeface="Calibri"/>
                <a:cs typeface="Calibri"/>
              </a:rPr>
              <a:t> </a:t>
            </a:r>
            <a:r>
              <a:rPr sz="1650" spc="125" dirty="0">
                <a:solidFill>
                  <a:srgbClr val="CFCBBE"/>
                </a:solidFill>
                <a:latin typeface="Calibri"/>
                <a:cs typeface="Calibri"/>
              </a:rPr>
              <a:t>Metasploit</a:t>
            </a:r>
            <a:endParaRPr sz="1650" dirty="0">
              <a:latin typeface="Calibri"/>
              <a:cs typeface="Calibri"/>
            </a:endParaRPr>
          </a:p>
          <a:p>
            <a:pPr marL="12700" marR="5080">
              <a:lnSpc>
                <a:spcPct val="134300"/>
              </a:lnSpc>
              <a:spcBef>
                <a:spcPts val="690"/>
              </a:spcBef>
            </a:pPr>
            <a:r>
              <a:rPr sz="1350" spc="50" dirty="0" err="1">
                <a:solidFill>
                  <a:srgbClr val="CFCBBE"/>
                </a:solidFill>
                <a:latin typeface="Tahoma"/>
                <a:cs typeface="Tahoma"/>
              </a:rPr>
              <a:t>msfconsole</a:t>
            </a:r>
            <a:r>
              <a:rPr sz="1350" spc="25" dirty="0">
                <a:solidFill>
                  <a:srgbClr val="CFCBBE"/>
                </a:solidFill>
                <a:latin typeface="Tahoma"/>
                <a:cs typeface="Tahoma"/>
              </a:rPr>
              <a:t> </a:t>
            </a:r>
            <a:r>
              <a:rPr lang="en-US" sz="1350" dirty="0">
                <a:solidFill>
                  <a:srgbClr val="CFCBBE"/>
                </a:solidFill>
                <a:latin typeface="Trebuchet MS"/>
                <a:cs typeface="Trebuchet MS"/>
              </a:rPr>
              <a:t>a</a:t>
            </a:r>
            <a:r>
              <a:rPr sz="1350" dirty="0">
                <a:solidFill>
                  <a:srgbClr val="CFCBBE"/>
                </a:solidFill>
                <a:latin typeface="Trebuchet MS"/>
                <a:cs typeface="Trebuchet MS"/>
              </a:rPr>
              <a:t>ccessed</a:t>
            </a:r>
            <a:r>
              <a:rPr sz="1350" spc="45" dirty="0">
                <a:solidFill>
                  <a:srgbClr val="CFCBBE"/>
                </a:solidFill>
                <a:latin typeface="Trebuchet MS"/>
                <a:cs typeface="Trebuchet MS"/>
              </a:rPr>
              <a:t> </a:t>
            </a:r>
            <a:r>
              <a:rPr sz="1350" dirty="0">
                <a:solidFill>
                  <a:srgbClr val="CFCBBE"/>
                </a:solidFill>
                <a:latin typeface="Trebuchet MS"/>
                <a:cs typeface="Trebuchet MS"/>
              </a:rPr>
              <a:t>the</a:t>
            </a:r>
            <a:r>
              <a:rPr sz="1350" spc="50" dirty="0">
                <a:solidFill>
                  <a:srgbClr val="CFCBBE"/>
                </a:solidFill>
                <a:latin typeface="Trebuchet MS"/>
                <a:cs typeface="Trebuchet MS"/>
              </a:rPr>
              <a:t> </a:t>
            </a:r>
            <a:r>
              <a:rPr sz="1350" spc="-10" dirty="0">
                <a:solidFill>
                  <a:srgbClr val="CFCBBE"/>
                </a:solidFill>
                <a:latin typeface="Trebuchet MS"/>
                <a:cs typeface="Trebuchet MS"/>
              </a:rPr>
              <a:t>exploit toolkit.</a:t>
            </a:r>
            <a:endParaRPr sz="1350" dirty="0">
              <a:latin typeface="Trebuchet MS"/>
              <a:cs typeface="Trebuchet MS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4067175" y="2295524"/>
            <a:ext cx="3295650" cy="2257425"/>
            <a:chOff x="4067175" y="2295524"/>
            <a:chExt cx="3295650" cy="2257425"/>
          </a:xfrm>
        </p:grpSpPr>
        <p:sp>
          <p:nvSpPr>
            <p:cNvPr id="10" name="object 10"/>
            <p:cNvSpPr/>
            <p:nvPr/>
          </p:nvSpPr>
          <p:spPr>
            <a:xfrm>
              <a:off x="4067175" y="2295524"/>
              <a:ext cx="3295650" cy="2257425"/>
            </a:xfrm>
            <a:custGeom>
              <a:avLst/>
              <a:gdLst/>
              <a:ahLst/>
              <a:cxnLst/>
              <a:rect l="l" t="t" r="r" b="b"/>
              <a:pathLst>
                <a:path w="3295650" h="2257425">
                  <a:moveTo>
                    <a:pt x="3277057" y="0"/>
                  </a:moveTo>
                  <a:lnTo>
                    <a:pt x="18592" y="0"/>
                  </a:lnTo>
                  <a:lnTo>
                    <a:pt x="15849" y="546"/>
                  </a:lnTo>
                  <a:lnTo>
                    <a:pt x="0" y="18592"/>
                  </a:lnTo>
                  <a:lnTo>
                    <a:pt x="0" y="2236000"/>
                  </a:lnTo>
                  <a:lnTo>
                    <a:pt x="0" y="2238832"/>
                  </a:lnTo>
                  <a:lnTo>
                    <a:pt x="18592" y="2257425"/>
                  </a:lnTo>
                  <a:lnTo>
                    <a:pt x="3277057" y="2257425"/>
                  </a:lnTo>
                  <a:lnTo>
                    <a:pt x="3295650" y="2238832"/>
                  </a:lnTo>
                  <a:lnTo>
                    <a:pt x="3295650" y="18592"/>
                  </a:lnTo>
                  <a:lnTo>
                    <a:pt x="3279800" y="546"/>
                  </a:lnTo>
                  <a:lnTo>
                    <a:pt x="3277057" y="0"/>
                  </a:lnTo>
                  <a:close/>
                </a:path>
              </a:pathLst>
            </a:custGeom>
            <a:solidFill>
              <a:srgbClr val="3A3B3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238624" y="2466975"/>
              <a:ext cx="514349" cy="514349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377822" y="2604724"/>
              <a:ext cx="238774" cy="241682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4229100" y="3543299"/>
              <a:ext cx="1085850" cy="228600"/>
            </a:xfrm>
            <a:custGeom>
              <a:avLst/>
              <a:gdLst/>
              <a:ahLst/>
              <a:cxnLst/>
              <a:rect l="l" t="t" r="r" b="b"/>
              <a:pathLst>
                <a:path w="1085850" h="228600">
                  <a:moveTo>
                    <a:pt x="1067257" y="0"/>
                  </a:moveTo>
                  <a:lnTo>
                    <a:pt x="18592" y="0"/>
                  </a:lnTo>
                  <a:lnTo>
                    <a:pt x="15849" y="546"/>
                  </a:lnTo>
                  <a:lnTo>
                    <a:pt x="0" y="18592"/>
                  </a:lnTo>
                  <a:lnTo>
                    <a:pt x="0" y="207175"/>
                  </a:lnTo>
                  <a:lnTo>
                    <a:pt x="0" y="210007"/>
                  </a:lnTo>
                  <a:lnTo>
                    <a:pt x="18592" y="228600"/>
                  </a:lnTo>
                  <a:lnTo>
                    <a:pt x="1067257" y="228600"/>
                  </a:lnTo>
                  <a:lnTo>
                    <a:pt x="1085850" y="210007"/>
                  </a:lnTo>
                  <a:lnTo>
                    <a:pt x="1085850" y="18592"/>
                  </a:lnTo>
                  <a:lnTo>
                    <a:pt x="1070000" y="546"/>
                  </a:lnTo>
                  <a:lnTo>
                    <a:pt x="1067257" y="0"/>
                  </a:lnTo>
                  <a:close/>
                </a:path>
              </a:pathLst>
            </a:custGeom>
            <a:solidFill>
              <a:srgbClr val="28292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4225925" y="3125787"/>
            <a:ext cx="2392680" cy="922019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spc="195" dirty="0">
                <a:solidFill>
                  <a:srgbClr val="CFCBBE"/>
                </a:solidFill>
                <a:latin typeface="Calibri"/>
                <a:cs typeface="Calibri"/>
              </a:rPr>
              <a:t>Search</a:t>
            </a:r>
            <a:r>
              <a:rPr sz="1650" spc="55" dirty="0">
                <a:solidFill>
                  <a:srgbClr val="CFCBBE"/>
                </a:solidFill>
                <a:latin typeface="Calibri"/>
                <a:cs typeface="Calibri"/>
              </a:rPr>
              <a:t> </a:t>
            </a:r>
            <a:r>
              <a:rPr sz="1650" spc="170" dirty="0">
                <a:solidFill>
                  <a:srgbClr val="CFCBBE"/>
                </a:solidFill>
                <a:latin typeface="Calibri"/>
                <a:cs typeface="Calibri"/>
              </a:rPr>
              <a:t>Exploit</a:t>
            </a:r>
            <a:endParaRPr sz="16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245"/>
              </a:spcBef>
            </a:pPr>
            <a:r>
              <a:rPr sz="1350" dirty="0">
                <a:solidFill>
                  <a:srgbClr val="CFCBBE"/>
                </a:solidFill>
                <a:latin typeface="Tahoma"/>
                <a:cs typeface="Tahoma"/>
              </a:rPr>
              <a:t>search</a:t>
            </a:r>
            <a:r>
              <a:rPr sz="1350" spc="140" dirty="0">
                <a:solidFill>
                  <a:srgbClr val="CFCBBE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CFCBBE"/>
                </a:solidFill>
                <a:latin typeface="Tahoma"/>
                <a:cs typeface="Tahoma"/>
              </a:rPr>
              <a:t>vsftpd</a:t>
            </a:r>
            <a:r>
              <a:rPr sz="1350" spc="135" dirty="0">
                <a:solidFill>
                  <a:srgbClr val="CFCBBE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CFCBBE"/>
                </a:solidFill>
                <a:latin typeface="Trebuchet MS"/>
                <a:cs typeface="Trebuchet MS"/>
              </a:rPr>
              <a:t>found</a:t>
            </a:r>
            <a:r>
              <a:rPr sz="1350" spc="155" dirty="0">
                <a:solidFill>
                  <a:srgbClr val="CFCBBE"/>
                </a:solidFill>
                <a:latin typeface="Trebuchet MS"/>
                <a:cs typeface="Trebuchet MS"/>
              </a:rPr>
              <a:t> </a:t>
            </a:r>
            <a:r>
              <a:rPr sz="1350" spc="-25" dirty="0">
                <a:solidFill>
                  <a:srgbClr val="CFCBBE"/>
                </a:solidFill>
                <a:latin typeface="Trebuchet MS"/>
                <a:cs typeface="Trebuchet MS"/>
              </a:rPr>
              <a:t>the</a:t>
            </a:r>
            <a:endParaRPr sz="13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555"/>
              </a:spcBef>
            </a:pPr>
            <a:r>
              <a:rPr sz="1350" b="1" dirty="0">
                <a:solidFill>
                  <a:srgbClr val="CFCBBE"/>
                </a:solidFill>
                <a:latin typeface="Trebuchet MS"/>
                <a:cs typeface="Trebuchet MS"/>
              </a:rPr>
              <a:t>vsftpd_234_backdoor </a:t>
            </a:r>
            <a:r>
              <a:rPr sz="1350" spc="-20" dirty="0">
                <a:solidFill>
                  <a:srgbClr val="CFCBBE"/>
                </a:solidFill>
                <a:latin typeface="Trebuchet MS"/>
                <a:cs typeface="Trebuchet MS"/>
              </a:rPr>
              <a:t>exploit.</a:t>
            </a:r>
            <a:endParaRPr sz="1350">
              <a:latin typeface="Trebuchet MS"/>
              <a:cs typeface="Trebuchet MS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7534275" y="2295524"/>
            <a:ext cx="3295650" cy="2257425"/>
            <a:chOff x="7534275" y="2295524"/>
            <a:chExt cx="3295650" cy="2257425"/>
          </a:xfrm>
        </p:grpSpPr>
        <p:sp>
          <p:nvSpPr>
            <p:cNvPr id="16" name="object 16"/>
            <p:cNvSpPr/>
            <p:nvPr/>
          </p:nvSpPr>
          <p:spPr>
            <a:xfrm>
              <a:off x="7534275" y="2295524"/>
              <a:ext cx="3295650" cy="2257425"/>
            </a:xfrm>
            <a:custGeom>
              <a:avLst/>
              <a:gdLst/>
              <a:ahLst/>
              <a:cxnLst/>
              <a:rect l="l" t="t" r="r" b="b"/>
              <a:pathLst>
                <a:path w="3295650" h="2257425">
                  <a:moveTo>
                    <a:pt x="3277057" y="0"/>
                  </a:moveTo>
                  <a:lnTo>
                    <a:pt x="18592" y="0"/>
                  </a:lnTo>
                  <a:lnTo>
                    <a:pt x="15849" y="546"/>
                  </a:lnTo>
                  <a:lnTo>
                    <a:pt x="0" y="18592"/>
                  </a:lnTo>
                  <a:lnTo>
                    <a:pt x="0" y="2236000"/>
                  </a:lnTo>
                  <a:lnTo>
                    <a:pt x="0" y="2238832"/>
                  </a:lnTo>
                  <a:lnTo>
                    <a:pt x="18592" y="2257425"/>
                  </a:lnTo>
                  <a:lnTo>
                    <a:pt x="3277057" y="2257425"/>
                  </a:lnTo>
                  <a:lnTo>
                    <a:pt x="3295650" y="2238832"/>
                  </a:lnTo>
                  <a:lnTo>
                    <a:pt x="3295650" y="18592"/>
                  </a:lnTo>
                  <a:lnTo>
                    <a:pt x="3279800" y="546"/>
                  </a:lnTo>
                  <a:lnTo>
                    <a:pt x="3277057" y="0"/>
                  </a:lnTo>
                  <a:close/>
                </a:path>
              </a:pathLst>
            </a:custGeom>
            <a:solidFill>
              <a:srgbClr val="3A3B3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705724" y="2466975"/>
              <a:ext cx="514349" cy="514349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843474" y="2611798"/>
              <a:ext cx="241682" cy="227534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7696200" y="3543312"/>
              <a:ext cx="2943225" cy="514350"/>
            </a:xfrm>
            <a:custGeom>
              <a:avLst/>
              <a:gdLst/>
              <a:ahLst/>
              <a:cxnLst/>
              <a:rect l="l" t="t" r="r" b="b"/>
              <a:pathLst>
                <a:path w="2943225" h="514350">
                  <a:moveTo>
                    <a:pt x="342900" y="18580"/>
                  </a:moveTo>
                  <a:lnTo>
                    <a:pt x="324307" y="0"/>
                  </a:lnTo>
                  <a:lnTo>
                    <a:pt x="18592" y="0"/>
                  </a:lnTo>
                  <a:lnTo>
                    <a:pt x="0" y="18580"/>
                  </a:lnTo>
                  <a:lnTo>
                    <a:pt x="0" y="207162"/>
                  </a:lnTo>
                  <a:lnTo>
                    <a:pt x="0" y="209994"/>
                  </a:lnTo>
                  <a:lnTo>
                    <a:pt x="18592" y="228600"/>
                  </a:lnTo>
                  <a:lnTo>
                    <a:pt x="324307" y="228600"/>
                  </a:lnTo>
                  <a:lnTo>
                    <a:pt x="342900" y="209994"/>
                  </a:lnTo>
                  <a:lnTo>
                    <a:pt x="342900" y="18580"/>
                  </a:lnTo>
                  <a:close/>
                </a:path>
                <a:path w="2943225" h="514350">
                  <a:moveTo>
                    <a:pt x="2943225" y="304330"/>
                  </a:moveTo>
                  <a:lnTo>
                    <a:pt x="2924632" y="285750"/>
                  </a:lnTo>
                  <a:lnTo>
                    <a:pt x="18592" y="285750"/>
                  </a:lnTo>
                  <a:lnTo>
                    <a:pt x="0" y="304330"/>
                  </a:lnTo>
                  <a:lnTo>
                    <a:pt x="0" y="492912"/>
                  </a:lnTo>
                  <a:lnTo>
                    <a:pt x="0" y="495744"/>
                  </a:lnTo>
                  <a:lnTo>
                    <a:pt x="18592" y="514337"/>
                  </a:lnTo>
                  <a:lnTo>
                    <a:pt x="2924632" y="514337"/>
                  </a:lnTo>
                  <a:lnTo>
                    <a:pt x="2943225" y="495744"/>
                  </a:lnTo>
                  <a:lnTo>
                    <a:pt x="2943225" y="304330"/>
                  </a:lnTo>
                  <a:close/>
                </a:path>
              </a:pathLst>
            </a:custGeom>
            <a:solidFill>
              <a:srgbClr val="28292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696200" y="4114799"/>
              <a:ext cx="85725" cy="228600"/>
            </a:xfrm>
            <a:prstGeom prst="rect">
              <a:avLst/>
            </a:prstGeom>
          </p:spPr>
        </p:pic>
      </p:grpSp>
      <p:sp>
        <p:nvSpPr>
          <p:cNvPr id="21" name="object 21"/>
          <p:cNvSpPr txBox="1"/>
          <p:nvPr/>
        </p:nvSpPr>
        <p:spPr>
          <a:xfrm>
            <a:off x="7693025" y="3125787"/>
            <a:ext cx="2948305" cy="12172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spc="160" dirty="0">
                <a:solidFill>
                  <a:srgbClr val="CFCBBE"/>
                </a:solidFill>
                <a:latin typeface="Calibri"/>
                <a:cs typeface="Calibri"/>
              </a:rPr>
              <a:t>Select</a:t>
            </a:r>
            <a:r>
              <a:rPr sz="1650" spc="35" dirty="0">
                <a:solidFill>
                  <a:srgbClr val="CFCBBE"/>
                </a:solidFill>
                <a:latin typeface="Calibri"/>
                <a:cs typeface="Calibri"/>
              </a:rPr>
              <a:t> </a:t>
            </a:r>
            <a:r>
              <a:rPr sz="1650" spc="170" dirty="0">
                <a:solidFill>
                  <a:srgbClr val="CFCBBE"/>
                </a:solidFill>
                <a:latin typeface="Calibri"/>
                <a:cs typeface="Calibri"/>
              </a:rPr>
              <a:t>Exploit</a:t>
            </a:r>
            <a:endParaRPr sz="1650" dirty="0">
              <a:latin typeface="Calibri"/>
              <a:cs typeface="Calibri"/>
            </a:endParaRPr>
          </a:p>
          <a:p>
            <a:pPr marL="12700" marR="5080">
              <a:lnSpc>
                <a:spcPct val="138900"/>
              </a:lnSpc>
              <a:spcBef>
                <a:spcPts val="615"/>
              </a:spcBef>
            </a:pPr>
            <a:r>
              <a:rPr sz="1350" spc="30" dirty="0">
                <a:solidFill>
                  <a:srgbClr val="CFCBBE"/>
                </a:solidFill>
                <a:latin typeface="Tahoma"/>
                <a:cs typeface="Tahoma"/>
              </a:rPr>
              <a:t>use </a:t>
            </a:r>
            <a:r>
              <a:rPr sz="1350" spc="-10" dirty="0">
                <a:solidFill>
                  <a:srgbClr val="CFCBBE"/>
                </a:solidFill>
                <a:latin typeface="Tahoma"/>
                <a:cs typeface="Tahoma"/>
              </a:rPr>
              <a:t>exploit/unix/ftp/vsftpd_234_backdoo</a:t>
            </a:r>
            <a:r>
              <a:rPr sz="1350" spc="500" dirty="0">
                <a:solidFill>
                  <a:srgbClr val="CFCBBE"/>
                </a:solidFill>
                <a:latin typeface="Tahoma"/>
                <a:cs typeface="Tahoma"/>
              </a:rPr>
              <a:t>  </a:t>
            </a:r>
            <a:r>
              <a:rPr sz="1350" spc="60" dirty="0">
                <a:solidFill>
                  <a:srgbClr val="CFCBBE"/>
                </a:solidFill>
                <a:latin typeface="Tahoma"/>
                <a:cs typeface="Tahoma"/>
              </a:rPr>
              <a:t>r</a:t>
            </a:r>
            <a:r>
              <a:rPr sz="1350" spc="-70" dirty="0">
                <a:solidFill>
                  <a:srgbClr val="CFCBBE"/>
                </a:solidFill>
                <a:latin typeface="Tahoma"/>
                <a:cs typeface="Tahoma"/>
              </a:rPr>
              <a:t> </a:t>
            </a:r>
            <a:r>
              <a:rPr sz="1350" spc="-10" dirty="0">
                <a:solidFill>
                  <a:srgbClr val="CFCBBE"/>
                </a:solidFill>
                <a:latin typeface="Trebuchet MS"/>
                <a:cs typeface="Trebuchet MS"/>
              </a:rPr>
              <a:t>prep</a:t>
            </a:r>
            <a:r>
              <a:rPr lang="en-US" sz="1350" spc="-10" dirty="0">
                <a:solidFill>
                  <a:srgbClr val="CFCBBE"/>
                </a:solidFill>
                <a:latin typeface="Trebuchet MS"/>
                <a:cs typeface="Trebuchet MS"/>
              </a:rPr>
              <a:t>a</a:t>
            </a:r>
            <a:r>
              <a:rPr sz="1350" spc="-10" dirty="0">
                <a:solidFill>
                  <a:srgbClr val="CFCBBE"/>
                </a:solidFill>
                <a:latin typeface="Trebuchet MS"/>
                <a:cs typeface="Trebuchet MS"/>
              </a:rPr>
              <a:t>red</a:t>
            </a:r>
            <a:r>
              <a:rPr sz="1350" spc="-50" dirty="0">
                <a:solidFill>
                  <a:srgbClr val="CFCBBE"/>
                </a:solidFill>
                <a:latin typeface="Trebuchet MS"/>
                <a:cs typeface="Trebuchet MS"/>
              </a:rPr>
              <a:t> </a:t>
            </a:r>
            <a:r>
              <a:rPr sz="1350" dirty="0">
                <a:solidFill>
                  <a:srgbClr val="CFCBBE"/>
                </a:solidFill>
                <a:latin typeface="Trebuchet MS"/>
                <a:cs typeface="Trebuchet MS"/>
              </a:rPr>
              <a:t>the</a:t>
            </a:r>
            <a:r>
              <a:rPr sz="1350" spc="-50" dirty="0">
                <a:solidFill>
                  <a:srgbClr val="CFCBBE"/>
                </a:solidFill>
                <a:latin typeface="Trebuchet MS"/>
                <a:cs typeface="Trebuchet MS"/>
              </a:rPr>
              <a:t> </a:t>
            </a:r>
            <a:r>
              <a:rPr sz="1350" spc="-10" dirty="0">
                <a:solidFill>
                  <a:srgbClr val="CFCBBE"/>
                </a:solidFill>
                <a:latin typeface="Trebuchet MS"/>
                <a:cs typeface="Trebuchet MS"/>
              </a:rPr>
              <a:t>module.</a:t>
            </a:r>
            <a:endParaRPr sz="1350" dirty="0">
              <a:latin typeface="Trebuchet MS"/>
              <a:cs typeface="Trebuchet MS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587369" y="4749800"/>
            <a:ext cx="9344660" cy="22057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dirty="0">
                <a:solidFill>
                  <a:srgbClr val="CFCBBE"/>
                </a:solidFill>
                <a:latin typeface="Trebuchet MS"/>
                <a:cs typeface="Trebuchet MS"/>
              </a:rPr>
              <a:t>The</a:t>
            </a:r>
            <a:r>
              <a:rPr sz="1350" spc="-10" dirty="0">
                <a:solidFill>
                  <a:srgbClr val="CFCBBE"/>
                </a:solidFill>
                <a:latin typeface="Trebuchet MS"/>
                <a:cs typeface="Trebuchet MS"/>
              </a:rPr>
              <a:t> Met</a:t>
            </a:r>
            <a:r>
              <a:rPr lang="en-US" sz="1350" spc="-10" dirty="0">
                <a:solidFill>
                  <a:srgbClr val="CFCBBE"/>
                </a:solidFill>
                <a:latin typeface="Trebuchet MS"/>
                <a:cs typeface="Trebuchet MS"/>
              </a:rPr>
              <a:t>a</a:t>
            </a:r>
            <a:r>
              <a:rPr sz="1350" spc="-10" dirty="0">
                <a:solidFill>
                  <a:srgbClr val="CFCBBE"/>
                </a:solidFill>
                <a:latin typeface="Trebuchet MS"/>
                <a:cs typeface="Trebuchet MS"/>
              </a:rPr>
              <a:t>sploit</a:t>
            </a:r>
            <a:r>
              <a:rPr sz="1350" spc="-5" dirty="0">
                <a:solidFill>
                  <a:srgbClr val="CFCBBE"/>
                </a:solidFill>
                <a:latin typeface="Trebuchet MS"/>
                <a:cs typeface="Trebuchet MS"/>
              </a:rPr>
              <a:t> </a:t>
            </a:r>
            <a:r>
              <a:rPr sz="1350" dirty="0">
                <a:solidFill>
                  <a:srgbClr val="CFCBBE"/>
                </a:solidFill>
                <a:latin typeface="Trebuchet MS"/>
                <a:cs typeface="Trebuchet MS"/>
              </a:rPr>
              <a:t>Fr</a:t>
            </a:r>
            <a:r>
              <a:rPr lang="en-US" sz="1350" dirty="0">
                <a:solidFill>
                  <a:srgbClr val="CFCBBE"/>
                </a:solidFill>
                <a:latin typeface="Trebuchet MS"/>
                <a:cs typeface="Trebuchet MS"/>
              </a:rPr>
              <a:t>a</a:t>
            </a:r>
            <a:r>
              <a:rPr sz="1350" dirty="0">
                <a:solidFill>
                  <a:srgbClr val="CFCBBE"/>
                </a:solidFill>
                <a:latin typeface="Trebuchet MS"/>
                <a:cs typeface="Trebuchet MS"/>
              </a:rPr>
              <a:t>mework</a:t>
            </a:r>
            <a:r>
              <a:rPr sz="1350" spc="-5" dirty="0">
                <a:solidFill>
                  <a:srgbClr val="CFCBBE"/>
                </a:solidFill>
                <a:latin typeface="Trebuchet MS"/>
                <a:cs typeface="Trebuchet MS"/>
              </a:rPr>
              <a:t> </a:t>
            </a:r>
            <a:r>
              <a:rPr sz="1350" spc="-10" dirty="0">
                <a:solidFill>
                  <a:srgbClr val="CFCBBE"/>
                </a:solidFill>
                <a:latin typeface="Trebuchet MS"/>
                <a:cs typeface="Trebuchet MS"/>
              </a:rPr>
              <a:t>stre</a:t>
            </a:r>
            <a:r>
              <a:rPr lang="en-US" sz="1350" spc="-10" dirty="0">
                <a:solidFill>
                  <a:srgbClr val="CFCBBE"/>
                </a:solidFill>
                <a:latin typeface="Trebuchet MS"/>
                <a:cs typeface="Trebuchet MS"/>
              </a:rPr>
              <a:t>a</a:t>
            </a:r>
            <a:r>
              <a:rPr sz="1350" spc="-10" dirty="0">
                <a:solidFill>
                  <a:srgbClr val="CFCBBE"/>
                </a:solidFill>
                <a:latin typeface="Trebuchet MS"/>
                <a:cs typeface="Trebuchet MS"/>
              </a:rPr>
              <a:t>mlines</a:t>
            </a:r>
            <a:r>
              <a:rPr sz="1350" spc="-5" dirty="0">
                <a:solidFill>
                  <a:srgbClr val="CFCBBE"/>
                </a:solidFill>
                <a:latin typeface="Trebuchet MS"/>
                <a:cs typeface="Trebuchet MS"/>
              </a:rPr>
              <a:t> </a:t>
            </a:r>
            <a:r>
              <a:rPr sz="1350" dirty="0">
                <a:solidFill>
                  <a:srgbClr val="CFCBBE"/>
                </a:solidFill>
                <a:latin typeface="Trebuchet MS"/>
                <a:cs typeface="Trebuchet MS"/>
              </a:rPr>
              <a:t>the</a:t>
            </a:r>
            <a:r>
              <a:rPr sz="1350" spc="-5" dirty="0">
                <a:solidFill>
                  <a:srgbClr val="CFCBBE"/>
                </a:solidFill>
                <a:latin typeface="Trebuchet MS"/>
                <a:cs typeface="Trebuchet MS"/>
              </a:rPr>
              <a:t> </a:t>
            </a:r>
            <a:r>
              <a:rPr sz="1350" spc="55" dirty="0">
                <a:solidFill>
                  <a:srgbClr val="CFCBBE"/>
                </a:solidFill>
                <a:latin typeface="Trebuchet MS"/>
                <a:cs typeface="Trebuchet MS"/>
              </a:rPr>
              <a:t>process</a:t>
            </a:r>
            <a:r>
              <a:rPr sz="1350" spc="-5" dirty="0">
                <a:solidFill>
                  <a:srgbClr val="CFCBBE"/>
                </a:solidFill>
                <a:latin typeface="Trebuchet MS"/>
                <a:cs typeface="Trebuchet MS"/>
              </a:rPr>
              <a:t> </a:t>
            </a:r>
            <a:r>
              <a:rPr sz="1350" dirty="0">
                <a:solidFill>
                  <a:srgbClr val="CFCBBE"/>
                </a:solidFill>
                <a:latin typeface="Trebuchet MS"/>
                <a:cs typeface="Trebuchet MS"/>
              </a:rPr>
              <a:t>of</a:t>
            </a:r>
            <a:r>
              <a:rPr sz="1350" spc="-40" dirty="0">
                <a:solidFill>
                  <a:srgbClr val="CFCBBE"/>
                </a:solidFill>
                <a:latin typeface="Trebuchet MS"/>
                <a:cs typeface="Trebuchet MS"/>
              </a:rPr>
              <a:t> </a:t>
            </a:r>
            <a:r>
              <a:rPr sz="1350" dirty="0">
                <a:solidFill>
                  <a:srgbClr val="CFCBBE"/>
                </a:solidFill>
                <a:latin typeface="Trebuchet MS"/>
                <a:cs typeface="Trebuchet MS"/>
              </a:rPr>
              <a:t>identifying</a:t>
            </a:r>
            <a:r>
              <a:rPr sz="1350" spc="-10" dirty="0">
                <a:solidFill>
                  <a:srgbClr val="CFCBBE"/>
                </a:solidFill>
                <a:latin typeface="Trebuchet MS"/>
                <a:cs typeface="Trebuchet MS"/>
              </a:rPr>
              <a:t> </a:t>
            </a:r>
            <a:r>
              <a:rPr lang="en-US" sz="1350" spc="-35" dirty="0">
                <a:solidFill>
                  <a:srgbClr val="CFCBBE"/>
                </a:solidFill>
                <a:latin typeface="Trebuchet MS"/>
                <a:cs typeface="Trebuchet MS"/>
              </a:rPr>
              <a:t>a</a:t>
            </a:r>
            <a:r>
              <a:rPr sz="1350" spc="-35" dirty="0">
                <a:solidFill>
                  <a:srgbClr val="CFCBBE"/>
                </a:solidFill>
                <a:latin typeface="Trebuchet MS"/>
                <a:cs typeface="Trebuchet MS"/>
              </a:rPr>
              <a:t>nd</a:t>
            </a:r>
            <a:r>
              <a:rPr sz="1350" spc="-5" dirty="0">
                <a:solidFill>
                  <a:srgbClr val="CFCBBE"/>
                </a:solidFill>
                <a:latin typeface="Trebuchet MS"/>
                <a:cs typeface="Trebuchet MS"/>
              </a:rPr>
              <a:t> </a:t>
            </a:r>
            <a:r>
              <a:rPr sz="1350" dirty="0">
                <a:solidFill>
                  <a:srgbClr val="CFCBBE"/>
                </a:solidFill>
                <a:latin typeface="Trebuchet MS"/>
                <a:cs typeface="Trebuchet MS"/>
              </a:rPr>
              <a:t>deploying</a:t>
            </a:r>
            <a:r>
              <a:rPr sz="1350" spc="-5" dirty="0">
                <a:solidFill>
                  <a:srgbClr val="CFCBBE"/>
                </a:solidFill>
                <a:latin typeface="Trebuchet MS"/>
                <a:cs typeface="Trebuchet MS"/>
              </a:rPr>
              <a:t> </a:t>
            </a:r>
            <a:r>
              <a:rPr sz="1350" dirty="0">
                <a:solidFill>
                  <a:srgbClr val="CFCBBE"/>
                </a:solidFill>
                <a:latin typeface="Trebuchet MS"/>
                <a:cs typeface="Trebuchet MS"/>
              </a:rPr>
              <a:t>exploits</a:t>
            </a:r>
            <a:r>
              <a:rPr sz="1350" spc="-5" dirty="0">
                <a:solidFill>
                  <a:srgbClr val="CFCBBE"/>
                </a:solidFill>
                <a:latin typeface="Trebuchet MS"/>
                <a:cs typeface="Trebuchet MS"/>
              </a:rPr>
              <a:t> </a:t>
            </a:r>
            <a:r>
              <a:rPr lang="en-US" sz="1350" spc="-50" dirty="0">
                <a:solidFill>
                  <a:srgbClr val="CFCBBE"/>
                </a:solidFill>
                <a:latin typeface="Trebuchet MS"/>
                <a:cs typeface="Trebuchet MS"/>
              </a:rPr>
              <a:t>a</a:t>
            </a:r>
            <a:r>
              <a:rPr sz="1350" spc="-50" dirty="0">
                <a:solidFill>
                  <a:srgbClr val="CFCBBE"/>
                </a:solidFill>
                <a:latin typeface="Trebuchet MS"/>
                <a:cs typeface="Trebuchet MS"/>
              </a:rPr>
              <a:t>g</a:t>
            </a:r>
            <a:r>
              <a:rPr lang="en-US" sz="1350" spc="-50" dirty="0">
                <a:solidFill>
                  <a:srgbClr val="CFCBBE"/>
                </a:solidFill>
                <a:latin typeface="Trebuchet MS"/>
                <a:cs typeface="Trebuchet MS"/>
              </a:rPr>
              <a:t>a</a:t>
            </a:r>
            <a:r>
              <a:rPr sz="1350" spc="-50" dirty="0">
                <a:solidFill>
                  <a:srgbClr val="CFCBBE"/>
                </a:solidFill>
                <a:latin typeface="Trebuchet MS"/>
                <a:cs typeface="Trebuchet MS"/>
              </a:rPr>
              <a:t>inst</a:t>
            </a:r>
            <a:r>
              <a:rPr sz="1350" spc="-5" dirty="0">
                <a:solidFill>
                  <a:srgbClr val="CFCBBE"/>
                </a:solidFill>
                <a:latin typeface="Trebuchet MS"/>
                <a:cs typeface="Trebuchet MS"/>
              </a:rPr>
              <a:t> </a:t>
            </a:r>
            <a:r>
              <a:rPr sz="1350" spc="50" dirty="0">
                <a:solidFill>
                  <a:srgbClr val="CFCBBE"/>
                </a:solidFill>
                <a:latin typeface="Trebuchet MS"/>
                <a:cs typeface="Trebuchet MS"/>
              </a:rPr>
              <a:t>known</a:t>
            </a:r>
            <a:r>
              <a:rPr sz="1350" spc="-45" dirty="0">
                <a:solidFill>
                  <a:srgbClr val="CFCBBE"/>
                </a:solidFill>
                <a:latin typeface="Trebuchet MS"/>
                <a:cs typeface="Trebuchet MS"/>
              </a:rPr>
              <a:t> </a:t>
            </a:r>
            <a:r>
              <a:rPr sz="1350" spc="-10" dirty="0">
                <a:solidFill>
                  <a:srgbClr val="CFCBBE"/>
                </a:solidFill>
                <a:latin typeface="Trebuchet MS"/>
                <a:cs typeface="Trebuchet MS"/>
              </a:rPr>
              <a:t>vulner</a:t>
            </a:r>
            <a:r>
              <a:rPr lang="en-US" sz="1350" spc="-10" dirty="0">
                <a:solidFill>
                  <a:srgbClr val="CFCBBE"/>
                </a:solidFill>
                <a:latin typeface="Trebuchet MS"/>
                <a:cs typeface="Trebuchet MS"/>
              </a:rPr>
              <a:t>a</a:t>
            </a:r>
            <a:r>
              <a:rPr sz="1350" spc="-10" dirty="0">
                <a:solidFill>
                  <a:srgbClr val="CFCBBE"/>
                </a:solidFill>
                <a:latin typeface="Trebuchet MS"/>
                <a:cs typeface="Trebuchet MS"/>
              </a:rPr>
              <a:t>bilities.</a:t>
            </a:r>
            <a:endParaRPr sz="1350" dirty="0">
              <a:latin typeface="Trebuchet MS"/>
              <a:cs typeface="Trebuchet MS"/>
            </a:endParaRPr>
          </a:p>
        </p:txBody>
      </p:sp>
      <p:pic>
        <p:nvPicPr>
          <p:cNvPr id="23" name="object 23">
            <a:hlinkClick r:id="rId9"/>
          </p:cNvPr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9580244" y="5926073"/>
            <a:ext cx="1754504" cy="4191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4372" y="172525"/>
            <a:ext cx="10256960" cy="1182052"/>
          </a:xfrm>
          <a:prstGeom prst="rect">
            <a:avLst/>
          </a:prstGeom>
        </p:spPr>
        <p:txBody>
          <a:bodyPr vert="horz" wrap="square" lIns="0" tIns="82550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125"/>
              </a:spcBef>
            </a:pPr>
            <a:r>
              <a:rPr sz="3350" spc="330" dirty="0">
                <a:solidFill>
                  <a:srgbClr val="F2E781"/>
                </a:solidFill>
              </a:rPr>
              <a:t>Exploit</a:t>
            </a:r>
            <a:r>
              <a:rPr sz="3350" spc="70" dirty="0">
                <a:solidFill>
                  <a:srgbClr val="F2E781"/>
                </a:solidFill>
              </a:rPr>
              <a:t> </a:t>
            </a:r>
            <a:r>
              <a:rPr sz="3350" spc="250" dirty="0">
                <a:solidFill>
                  <a:srgbClr val="F2E781"/>
                </a:solidFill>
              </a:rPr>
              <a:t>Selection:</a:t>
            </a:r>
            <a:r>
              <a:rPr sz="3350" spc="70" dirty="0">
                <a:solidFill>
                  <a:srgbClr val="F2E781"/>
                </a:solidFill>
              </a:rPr>
              <a:t> </a:t>
            </a:r>
            <a:r>
              <a:rPr sz="3350" spc="240" dirty="0">
                <a:solidFill>
                  <a:srgbClr val="F2E781"/>
                </a:solidFill>
              </a:rPr>
              <a:t>Metasploit</a:t>
            </a:r>
            <a:endParaRPr sz="3350" dirty="0"/>
          </a:p>
        </p:txBody>
      </p:sp>
      <p:pic>
        <p:nvPicPr>
          <p:cNvPr id="23" name="object 23">
            <a:hlinkClick r:id="rId2"/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580244" y="5926073"/>
            <a:ext cx="1754504" cy="419100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59EBAE90-6F08-6014-1414-580DDB14C7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95800" y="763551"/>
            <a:ext cx="6877797" cy="5655469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E6DEB912-D8D0-FC1F-FBBF-0C47EC076C9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965200"/>
            <a:ext cx="3295650" cy="2257425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38BDD939-1336-4656-5BD9-090DF35C024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3591285"/>
            <a:ext cx="3295650" cy="2257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4401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0536" y="152158"/>
            <a:ext cx="10256960" cy="1182052"/>
          </a:xfrm>
          <a:prstGeom prst="rect">
            <a:avLst/>
          </a:prstGeom>
        </p:spPr>
        <p:txBody>
          <a:bodyPr vert="horz" wrap="square" lIns="0" tIns="82550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125"/>
              </a:spcBef>
            </a:pPr>
            <a:r>
              <a:rPr sz="3350" spc="330" dirty="0">
                <a:solidFill>
                  <a:srgbClr val="F2E781"/>
                </a:solidFill>
              </a:rPr>
              <a:t>Exploit</a:t>
            </a:r>
            <a:r>
              <a:rPr sz="3350" spc="70" dirty="0">
                <a:solidFill>
                  <a:srgbClr val="F2E781"/>
                </a:solidFill>
              </a:rPr>
              <a:t> </a:t>
            </a:r>
            <a:r>
              <a:rPr sz="3350" spc="250" dirty="0">
                <a:solidFill>
                  <a:srgbClr val="F2E781"/>
                </a:solidFill>
              </a:rPr>
              <a:t>Selection:</a:t>
            </a:r>
            <a:r>
              <a:rPr sz="3350" spc="70" dirty="0">
                <a:solidFill>
                  <a:srgbClr val="F2E781"/>
                </a:solidFill>
              </a:rPr>
              <a:t> </a:t>
            </a:r>
            <a:r>
              <a:rPr sz="3350" spc="240" dirty="0">
                <a:solidFill>
                  <a:srgbClr val="F2E781"/>
                </a:solidFill>
              </a:rPr>
              <a:t>Metasploit</a:t>
            </a:r>
            <a:endParaRPr sz="3350" dirty="0"/>
          </a:p>
        </p:txBody>
      </p:sp>
      <p:grpSp>
        <p:nvGrpSpPr>
          <p:cNvPr id="15" name="object 15"/>
          <p:cNvGrpSpPr/>
          <p:nvPr/>
        </p:nvGrpSpPr>
        <p:grpSpPr>
          <a:xfrm>
            <a:off x="304800" y="1089025"/>
            <a:ext cx="3295650" cy="2257425"/>
            <a:chOff x="7534275" y="2295524"/>
            <a:chExt cx="3295650" cy="2257425"/>
          </a:xfrm>
        </p:grpSpPr>
        <p:sp>
          <p:nvSpPr>
            <p:cNvPr id="16" name="object 16"/>
            <p:cNvSpPr/>
            <p:nvPr/>
          </p:nvSpPr>
          <p:spPr>
            <a:xfrm>
              <a:off x="7534275" y="2295524"/>
              <a:ext cx="3295650" cy="2257425"/>
            </a:xfrm>
            <a:custGeom>
              <a:avLst/>
              <a:gdLst/>
              <a:ahLst/>
              <a:cxnLst/>
              <a:rect l="l" t="t" r="r" b="b"/>
              <a:pathLst>
                <a:path w="3295650" h="2257425">
                  <a:moveTo>
                    <a:pt x="3277057" y="0"/>
                  </a:moveTo>
                  <a:lnTo>
                    <a:pt x="18592" y="0"/>
                  </a:lnTo>
                  <a:lnTo>
                    <a:pt x="15849" y="546"/>
                  </a:lnTo>
                  <a:lnTo>
                    <a:pt x="0" y="18592"/>
                  </a:lnTo>
                  <a:lnTo>
                    <a:pt x="0" y="2236000"/>
                  </a:lnTo>
                  <a:lnTo>
                    <a:pt x="0" y="2238832"/>
                  </a:lnTo>
                  <a:lnTo>
                    <a:pt x="18592" y="2257425"/>
                  </a:lnTo>
                  <a:lnTo>
                    <a:pt x="3277057" y="2257425"/>
                  </a:lnTo>
                  <a:lnTo>
                    <a:pt x="3295650" y="2238832"/>
                  </a:lnTo>
                  <a:lnTo>
                    <a:pt x="3295650" y="18592"/>
                  </a:lnTo>
                  <a:lnTo>
                    <a:pt x="3279800" y="546"/>
                  </a:lnTo>
                  <a:lnTo>
                    <a:pt x="3277057" y="0"/>
                  </a:lnTo>
                  <a:close/>
                </a:path>
              </a:pathLst>
            </a:custGeom>
            <a:solidFill>
              <a:srgbClr val="3A3B3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705724" y="2466975"/>
              <a:ext cx="514349" cy="514349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843474" y="2611798"/>
              <a:ext cx="241682" cy="227534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7696200" y="3543312"/>
              <a:ext cx="2943225" cy="514350"/>
            </a:xfrm>
            <a:custGeom>
              <a:avLst/>
              <a:gdLst/>
              <a:ahLst/>
              <a:cxnLst/>
              <a:rect l="l" t="t" r="r" b="b"/>
              <a:pathLst>
                <a:path w="2943225" h="514350">
                  <a:moveTo>
                    <a:pt x="342900" y="18580"/>
                  </a:moveTo>
                  <a:lnTo>
                    <a:pt x="324307" y="0"/>
                  </a:lnTo>
                  <a:lnTo>
                    <a:pt x="18592" y="0"/>
                  </a:lnTo>
                  <a:lnTo>
                    <a:pt x="0" y="18580"/>
                  </a:lnTo>
                  <a:lnTo>
                    <a:pt x="0" y="207162"/>
                  </a:lnTo>
                  <a:lnTo>
                    <a:pt x="0" y="209994"/>
                  </a:lnTo>
                  <a:lnTo>
                    <a:pt x="18592" y="228600"/>
                  </a:lnTo>
                  <a:lnTo>
                    <a:pt x="324307" y="228600"/>
                  </a:lnTo>
                  <a:lnTo>
                    <a:pt x="342900" y="209994"/>
                  </a:lnTo>
                  <a:lnTo>
                    <a:pt x="342900" y="18580"/>
                  </a:lnTo>
                  <a:close/>
                </a:path>
                <a:path w="2943225" h="514350">
                  <a:moveTo>
                    <a:pt x="2943225" y="304330"/>
                  </a:moveTo>
                  <a:lnTo>
                    <a:pt x="2924632" y="285750"/>
                  </a:lnTo>
                  <a:lnTo>
                    <a:pt x="18592" y="285750"/>
                  </a:lnTo>
                  <a:lnTo>
                    <a:pt x="0" y="304330"/>
                  </a:lnTo>
                  <a:lnTo>
                    <a:pt x="0" y="492912"/>
                  </a:lnTo>
                  <a:lnTo>
                    <a:pt x="0" y="495744"/>
                  </a:lnTo>
                  <a:lnTo>
                    <a:pt x="18592" y="514337"/>
                  </a:lnTo>
                  <a:lnTo>
                    <a:pt x="2924632" y="514337"/>
                  </a:lnTo>
                  <a:lnTo>
                    <a:pt x="2943225" y="495744"/>
                  </a:lnTo>
                  <a:lnTo>
                    <a:pt x="2943225" y="304330"/>
                  </a:lnTo>
                  <a:close/>
                </a:path>
              </a:pathLst>
            </a:custGeom>
            <a:solidFill>
              <a:srgbClr val="28292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696200" y="4114799"/>
              <a:ext cx="85725" cy="228600"/>
            </a:xfrm>
            <a:prstGeom prst="rect">
              <a:avLst/>
            </a:prstGeom>
          </p:spPr>
        </p:pic>
      </p:grpSp>
      <p:sp>
        <p:nvSpPr>
          <p:cNvPr id="21" name="object 21"/>
          <p:cNvSpPr txBox="1"/>
          <p:nvPr/>
        </p:nvSpPr>
        <p:spPr>
          <a:xfrm>
            <a:off x="463550" y="1919288"/>
            <a:ext cx="2948305" cy="12172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spc="160" dirty="0">
                <a:solidFill>
                  <a:srgbClr val="CFCBBE"/>
                </a:solidFill>
                <a:latin typeface="Calibri"/>
                <a:cs typeface="Calibri"/>
              </a:rPr>
              <a:t>Select</a:t>
            </a:r>
            <a:r>
              <a:rPr sz="1650" spc="35" dirty="0">
                <a:solidFill>
                  <a:srgbClr val="CFCBBE"/>
                </a:solidFill>
                <a:latin typeface="Calibri"/>
                <a:cs typeface="Calibri"/>
              </a:rPr>
              <a:t> </a:t>
            </a:r>
            <a:r>
              <a:rPr sz="1650" spc="170" dirty="0">
                <a:solidFill>
                  <a:srgbClr val="CFCBBE"/>
                </a:solidFill>
                <a:latin typeface="Calibri"/>
                <a:cs typeface="Calibri"/>
              </a:rPr>
              <a:t>Exploit</a:t>
            </a:r>
            <a:endParaRPr sz="1650" dirty="0">
              <a:latin typeface="Calibri"/>
              <a:cs typeface="Calibri"/>
            </a:endParaRPr>
          </a:p>
          <a:p>
            <a:pPr marL="12700" marR="5080">
              <a:lnSpc>
                <a:spcPct val="138900"/>
              </a:lnSpc>
              <a:spcBef>
                <a:spcPts val="615"/>
              </a:spcBef>
            </a:pPr>
            <a:r>
              <a:rPr sz="1350" spc="30" dirty="0">
                <a:solidFill>
                  <a:srgbClr val="CFCBBE"/>
                </a:solidFill>
                <a:latin typeface="Tahoma"/>
                <a:cs typeface="Tahoma"/>
              </a:rPr>
              <a:t>use </a:t>
            </a:r>
            <a:r>
              <a:rPr sz="1350" spc="-10" dirty="0">
                <a:solidFill>
                  <a:srgbClr val="CFCBBE"/>
                </a:solidFill>
                <a:latin typeface="Tahoma"/>
                <a:cs typeface="Tahoma"/>
              </a:rPr>
              <a:t>exploit/unix/ftp/vsftpd_234_backdoo</a:t>
            </a:r>
            <a:r>
              <a:rPr sz="1350" spc="500" dirty="0">
                <a:solidFill>
                  <a:srgbClr val="CFCBBE"/>
                </a:solidFill>
                <a:latin typeface="Tahoma"/>
                <a:cs typeface="Tahoma"/>
              </a:rPr>
              <a:t>  </a:t>
            </a:r>
            <a:r>
              <a:rPr sz="1350" spc="60" dirty="0">
                <a:solidFill>
                  <a:srgbClr val="CFCBBE"/>
                </a:solidFill>
                <a:latin typeface="Tahoma"/>
                <a:cs typeface="Tahoma"/>
              </a:rPr>
              <a:t>r</a:t>
            </a:r>
            <a:r>
              <a:rPr sz="1350" spc="-70" dirty="0">
                <a:solidFill>
                  <a:srgbClr val="CFCBBE"/>
                </a:solidFill>
                <a:latin typeface="Tahoma"/>
                <a:cs typeface="Tahoma"/>
              </a:rPr>
              <a:t> </a:t>
            </a:r>
            <a:r>
              <a:rPr sz="1350" spc="-10" dirty="0">
                <a:solidFill>
                  <a:srgbClr val="CFCBBE"/>
                </a:solidFill>
                <a:latin typeface="Trebuchet MS"/>
                <a:cs typeface="Trebuchet MS"/>
              </a:rPr>
              <a:t>prep</a:t>
            </a:r>
            <a:r>
              <a:rPr lang="en-US" sz="1350" spc="-10" dirty="0">
                <a:solidFill>
                  <a:srgbClr val="CFCBBE"/>
                </a:solidFill>
                <a:latin typeface="Trebuchet MS"/>
                <a:cs typeface="Trebuchet MS"/>
              </a:rPr>
              <a:t>a</a:t>
            </a:r>
            <a:r>
              <a:rPr sz="1350" spc="-10" dirty="0">
                <a:solidFill>
                  <a:srgbClr val="CFCBBE"/>
                </a:solidFill>
                <a:latin typeface="Trebuchet MS"/>
                <a:cs typeface="Trebuchet MS"/>
              </a:rPr>
              <a:t>red</a:t>
            </a:r>
            <a:r>
              <a:rPr sz="1350" spc="-50" dirty="0">
                <a:solidFill>
                  <a:srgbClr val="CFCBBE"/>
                </a:solidFill>
                <a:latin typeface="Trebuchet MS"/>
                <a:cs typeface="Trebuchet MS"/>
              </a:rPr>
              <a:t> </a:t>
            </a:r>
            <a:r>
              <a:rPr sz="1350" dirty="0">
                <a:solidFill>
                  <a:srgbClr val="CFCBBE"/>
                </a:solidFill>
                <a:latin typeface="Trebuchet MS"/>
                <a:cs typeface="Trebuchet MS"/>
              </a:rPr>
              <a:t>the</a:t>
            </a:r>
            <a:r>
              <a:rPr sz="1350" spc="-50" dirty="0">
                <a:solidFill>
                  <a:srgbClr val="CFCBBE"/>
                </a:solidFill>
                <a:latin typeface="Trebuchet MS"/>
                <a:cs typeface="Trebuchet MS"/>
              </a:rPr>
              <a:t> </a:t>
            </a:r>
            <a:r>
              <a:rPr sz="1350" spc="-10" dirty="0">
                <a:solidFill>
                  <a:srgbClr val="CFCBBE"/>
                </a:solidFill>
                <a:latin typeface="Trebuchet MS"/>
                <a:cs typeface="Trebuchet MS"/>
              </a:rPr>
              <a:t>module.</a:t>
            </a:r>
            <a:endParaRPr sz="1350" dirty="0">
              <a:latin typeface="Trebuchet MS"/>
              <a:cs typeface="Trebuchet MS"/>
            </a:endParaRPr>
          </a:p>
        </p:txBody>
      </p:sp>
      <p:pic>
        <p:nvPicPr>
          <p:cNvPr id="23" name="object 23">
            <a:hlinkClick r:id="rId5"/>
          </p:cNvPr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580244" y="5926073"/>
            <a:ext cx="1754504" cy="419100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E40141C4-6A81-5735-FED2-03956445987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95800" y="860425"/>
            <a:ext cx="5486400" cy="36879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74867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143750" y="253"/>
            <a:ext cx="4286250" cy="6438900"/>
            <a:chOff x="7143750" y="253"/>
            <a:chExt cx="4286250" cy="64389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143750" y="253"/>
              <a:ext cx="4286249" cy="6438900"/>
            </a:xfrm>
            <a:prstGeom prst="rect">
              <a:avLst/>
            </a:prstGeom>
          </p:spPr>
        </p:pic>
        <p:pic>
          <p:nvPicPr>
            <p:cNvPr id="4" name="object 4">
              <a:hlinkClick r:id="rId3"/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580244" y="5926073"/>
              <a:ext cx="1754504" cy="419100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586519" y="1311275"/>
            <a:ext cx="4921250" cy="11112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635">
              <a:lnSpc>
                <a:spcPct val="106300"/>
              </a:lnSpc>
              <a:spcBef>
                <a:spcPts val="95"/>
              </a:spcBef>
            </a:pPr>
            <a:r>
              <a:rPr sz="3350" spc="330" dirty="0">
                <a:solidFill>
                  <a:srgbClr val="F2E781"/>
                </a:solidFill>
              </a:rPr>
              <a:t>Exploit</a:t>
            </a:r>
            <a:r>
              <a:rPr sz="3350" spc="50" dirty="0">
                <a:solidFill>
                  <a:srgbClr val="F2E781"/>
                </a:solidFill>
              </a:rPr>
              <a:t> </a:t>
            </a:r>
            <a:r>
              <a:rPr sz="3350" spc="285" dirty="0">
                <a:solidFill>
                  <a:srgbClr val="F2E781"/>
                </a:solidFill>
              </a:rPr>
              <a:t>Configuration</a:t>
            </a:r>
            <a:r>
              <a:rPr sz="3350" spc="55" dirty="0">
                <a:solidFill>
                  <a:srgbClr val="F2E781"/>
                </a:solidFill>
              </a:rPr>
              <a:t> </a:t>
            </a:r>
            <a:r>
              <a:rPr lang="en-US" sz="3350" spc="430" dirty="0">
                <a:solidFill>
                  <a:srgbClr val="F2E781"/>
                </a:solidFill>
              </a:rPr>
              <a:t>a</a:t>
            </a:r>
            <a:r>
              <a:rPr sz="3350" spc="430" dirty="0">
                <a:solidFill>
                  <a:srgbClr val="F2E781"/>
                </a:solidFill>
              </a:rPr>
              <a:t> </a:t>
            </a:r>
            <a:r>
              <a:rPr sz="3350" spc="204" dirty="0">
                <a:solidFill>
                  <a:srgbClr val="F2E781"/>
                </a:solidFill>
              </a:rPr>
              <a:t>Attempt</a:t>
            </a:r>
            <a:endParaRPr sz="3350" dirty="0"/>
          </a:p>
        </p:txBody>
      </p:sp>
      <p:sp>
        <p:nvSpPr>
          <p:cNvPr id="6" name="object 6"/>
          <p:cNvSpPr/>
          <p:nvPr/>
        </p:nvSpPr>
        <p:spPr>
          <a:xfrm>
            <a:off x="590550" y="3343275"/>
            <a:ext cx="2209800" cy="228600"/>
          </a:xfrm>
          <a:custGeom>
            <a:avLst/>
            <a:gdLst/>
            <a:ahLst/>
            <a:cxnLst/>
            <a:rect l="l" t="t" r="r" b="b"/>
            <a:pathLst>
              <a:path w="2209800" h="228600">
                <a:moveTo>
                  <a:pt x="2191207" y="0"/>
                </a:moveTo>
                <a:lnTo>
                  <a:pt x="18588" y="0"/>
                </a:lnTo>
                <a:lnTo>
                  <a:pt x="15854" y="546"/>
                </a:lnTo>
                <a:lnTo>
                  <a:pt x="0" y="18592"/>
                </a:lnTo>
                <a:lnTo>
                  <a:pt x="0" y="207175"/>
                </a:lnTo>
                <a:lnTo>
                  <a:pt x="0" y="210007"/>
                </a:lnTo>
                <a:lnTo>
                  <a:pt x="18588" y="228600"/>
                </a:lnTo>
                <a:lnTo>
                  <a:pt x="2191207" y="228600"/>
                </a:lnTo>
                <a:lnTo>
                  <a:pt x="2209800" y="210007"/>
                </a:lnTo>
                <a:lnTo>
                  <a:pt x="2209800" y="18592"/>
                </a:lnTo>
                <a:lnTo>
                  <a:pt x="2193950" y="546"/>
                </a:lnTo>
                <a:lnTo>
                  <a:pt x="2191207" y="0"/>
                </a:lnTo>
                <a:close/>
              </a:path>
            </a:pathLst>
          </a:custGeom>
          <a:solidFill>
            <a:srgbClr val="28292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587375" y="2859087"/>
            <a:ext cx="2599055" cy="98869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spc="170" dirty="0">
                <a:solidFill>
                  <a:srgbClr val="F2E781"/>
                </a:solidFill>
                <a:latin typeface="Calibri"/>
                <a:cs typeface="Calibri"/>
              </a:rPr>
              <a:t>Set</a:t>
            </a:r>
            <a:r>
              <a:rPr sz="1650" spc="30" dirty="0">
                <a:solidFill>
                  <a:srgbClr val="F2E781"/>
                </a:solidFill>
                <a:latin typeface="Calibri"/>
                <a:cs typeface="Calibri"/>
              </a:rPr>
              <a:t> </a:t>
            </a:r>
            <a:r>
              <a:rPr sz="1650" spc="130" dirty="0">
                <a:solidFill>
                  <a:srgbClr val="F2E781"/>
                </a:solidFill>
                <a:latin typeface="Calibri"/>
                <a:cs typeface="Calibri"/>
              </a:rPr>
              <a:t>Target</a:t>
            </a:r>
            <a:endParaRPr sz="165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770"/>
              </a:spcBef>
            </a:pPr>
            <a:r>
              <a:rPr sz="1350" dirty="0">
                <a:solidFill>
                  <a:srgbClr val="CFCBBE"/>
                </a:solidFill>
                <a:latin typeface="Tahoma"/>
                <a:cs typeface="Tahoma"/>
              </a:rPr>
              <a:t>set</a:t>
            </a:r>
            <a:r>
              <a:rPr sz="1350" spc="10" dirty="0">
                <a:solidFill>
                  <a:srgbClr val="CFCBBE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CFCBBE"/>
                </a:solidFill>
                <a:latin typeface="Tahoma"/>
                <a:cs typeface="Tahoma"/>
              </a:rPr>
              <a:t>RHOSTS</a:t>
            </a:r>
            <a:r>
              <a:rPr sz="1350" spc="10" dirty="0">
                <a:solidFill>
                  <a:srgbClr val="CFCBBE"/>
                </a:solidFill>
                <a:latin typeface="Tahoma"/>
                <a:cs typeface="Tahoma"/>
              </a:rPr>
              <a:t> </a:t>
            </a:r>
            <a:r>
              <a:rPr sz="1350" spc="-10" dirty="0">
                <a:solidFill>
                  <a:srgbClr val="CFCBBE"/>
                </a:solidFill>
                <a:latin typeface="Tahoma"/>
                <a:cs typeface="Tahoma"/>
              </a:rPr>
              <a:t>192.168.100.25</a:t>
            </a:r>
            <a:endParaRPr sz="1350" dirty="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555"/>
              </a:spcBef>
            </a:pPr>
            <a:r>
              <a:rPr sz="1350" dirty="0">
                <a:solidFill>
                  <a:srgbClr val="CFCBBE"/>
                </a:solidFill>
                <a:latin typeface="Trebuchet MS"/>
                <a:cs typeface="Trebuchet MS"/>
              </a:rPr>
              <a:t>configured</a:t>
            </a:r>
            <a:r>
              <a:rPr sz="1350" spc="15" dirty="0">
                <a:solidFill>
                  <a:srgbClr val="CFCBBE"/>
                </a:solidFill>
                <a:latin typeface="Trebuchet MS"/>
                <a:cs typeface="Trebuchet MS"/>
              </a:rPr>
              <a:t> </a:t>
            </a:r>
            <a:r>
              <a:rPr sz="1350" dirty="0">
                <a:solidFill>
                  <a:srgbClr val="CFCBBE"/>
                </a:solidFill>
                <a:latin typeface="Trebuchet MS"/>
                <a:cs typeface="Trebuchet MS"/>
              </a:rPr>
              <a:t>the</a:t>
            </a:r>
            <a:r>
              <a:rPr sz="1350" spc="20" dirty="0">
                <a:solidFill>
                  <a:srgbClr val="CFCBBE"/>
                </a:solidFill>
                <a:latin typeface="Trebuchet MS"/>
                <a:cs typeface="Trebuchet MS"/>
              </a:rPr>
              <a:t> </a:t>
            </a:r>
            <a:r>
              <a:rPr sz="1350" spc="-45" dirty="0">
                <a:solidFill>
                  <a:srgbClr val="CFCBBE"/>
                </a:solidFill>
                <a:latin typeface="Trebuchet MS"/>
                <a:cs typeface="Trebuchet MS"/>
              </a:rPr>
              <a:t>t</a:t>
            </a:r>
            <a:r>
              <a:rPr lang="en-US" sz="1350" spc="-45" dirty="0">
                <a:solidFill>
                  <a:srgbClr val="CFCBBE"/>
                </a:solidFill>
                <a:latin typeface="Trebuchet MS"/>
                <a:cs typeface="Trebuchet MS"/>
              </a:rPr>
              <a:t>a</a:t>
            </a:r>
            <a:r>
              <a:rPr sz="1350" spc="-45" dirty="0">
                <a:solidFill>
                  <a:srgbClr val="CFCBBE"/>
                </a:solidFill>
                <a:latin typeface="Trebuchet MS"/>
                <a:cs typeface="Trebuchet MS"/>
              </a:rPr>
              <a:t>rget</a:t>
            </a:r>
            <a:r>
              <a:rPr sz="1350" spc="20" dirty="0">
                <a:solidFill>
                  <a:srgbClr val="CFCBBE"/>
                </a:solidFill>
                <a:latin typeface="Trebuchet MS"/>
                <a:cs typeface="Trebuchet MS"/>
              </a:rPr>
              <a:t> </a:t>
            </a:r>
            <a:r>
              <a:rPr sz="1350" dirty="0">
                <a:solidFill>
                  <a:srgbClr val="CFCBBE"/>
                </a:solidFill>
                <a:latin typeface="Trebuchet MS"/>
                <a:cs typeface="Trebuchet MS"/>
              </a:rPr>
              <a:t>IP</a:t>
            </a:r>
            <a:r>
              <a:rPr sz="1350" spc="-25" dirty="0">
                <a:solidFill>
                  <a:srgbClr val="CFCBBE"/>
                </a:solidFill>
                <a:latin typeface="Trebuchet MS"/>
                <a:cs typeface="Trebuchet MS"/>
              </a:rPr>
              <a:t> </a:t>
            </a:r>
            <a:r>
              <a:rPr lang="en-US" sz="1350" spc="-10" dirty="0">
                <a:solidFill>
                  <a:srgbClr val="CFCBBE"/>
                </a:solidFill>
                <a:latin typeface="Trebuchet MS"/>
                <a:cs typeface="Trebuchet MS"/>
              </a:rPr>
              <a:t>a</a:t>
            </a:r>
            <a:r>
              <a:rPr sz="1350" spc="-10" dirty="0">
                <a:solidFill>
                  <a:srgbClr val="CFCBBE"/>
                </a:solidFill>
                <a:latin typeface="Trebuchet MS"/>
                <a:cs typeface="Trebuchet MS"/>
              </a:rPr>
              <a:t>ddress.</a:t>
            </a:r>
            <a:endParaRPr sz="1350" dirty="0">
              <a:latin typeface="Trebuchet MS"/>
              <a:cs typeface="Trebuchet MS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781425" y="3343275"/>
            <a:ext cx="561975" cy="228600"/>
          </a:xfrm>
          <a:custGeom>
            <a:avLst/>
            <a:gdLst/>
            <a:ahLst/>
            <a:cxnLst/>
            <a:rect l="l" t="t" r="r" b="b"/>
            <a:pathLst>
              <a:path w="561975" h="228600">
                <a:moveTo>
                  <a:pt x="543382" y="0"/>
                </a:moveTo>
                <a:lnTo>
                  <a:pt x="18592" y="0"/>
                </a:lnTo>
                <a:lnTo>
                  <a:pt x="15849" y="546"/>
                </a:lnTo>
                <a:lnTo>
                  <a:pt x="0" y="18592"/>
                </a:lnTo>
                <a:lnTo>
                  <a:pt x="0" y="207175"/>
                </a:lnTo>
                <a:lnTo>
                  <a:pt x="0" y="210007"/>
                </a:lnTo>
                <a:lnTo>
                  <a:pt x="18592" y="228600"/>
                </a:lnTo>
                <a:lnTo>
                  <a:pt x="543382" y="228600"/>
                </a:lnTo>
                <a:lnTo>
                  <a:pt x="561975" y="210007"/>
                </a:lnTo>
                <a:lnTo>
                  <a:pt x="561975" y="18592"/>
                </a:lnTo>
                <a:lnTo>
                  <a:pt x="546125" y="546"/>
                </a:lnTo>
                <a:lnTo>
                  <a:pt x="543382" y="0"/>
                </a:lnTo>
                <a:close/>
              </a:path>
            </a:pathLst>
          </a:custGeom>
          <a:solidFill>
            <a:srgbClr val="28292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3777805" y="2859087"/>
            <a:ext cx="2569210" cy="126492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spc="160" dirty="0">
                <a:solidFill>
                  <a:srgbClr val="F2E781"/>
                </a:solidFill>
                <a:latin typeface="Calibri"/>
                <a:cs typeface="Calibri"/>
              </a:rPr>
              <a:t>First</a:t>
            </a:r>
            <a:r>
              <a:rPr sz="1650" spc="40" dirty="0">
                <a:solidFill>
                  <a:srgbClr val="F2E781"/>
                </a:solidFill>
                <a:latin typeface="Calibri"/>
                <a:cs typeface="Calibri"/>
              </a:rPr>
              <a:t> </a:t>
            </a:r>
            <a:r>
              <a:rPr sz="1650" spc="110" dirty="0">
                <a:solidFill>
                  <a:srgbClr val="F2E781"/>
                </a:solidFill>
                <a:latin typeface="Calibri"/>
                <a:cs typeface="Calibri"/>
              </a:rPr>
              <a:t>Attempt</a:t>
            </a:r>
            <a:endParaRPr sz="1650" dirty="0">
              <a:latin typeface="Calibri"/>
              <a:cs typeface="Calibri"/>
            </a:endParaRPr>
          </a:p>
          <a:p>
            <a:pPr marL="12700" marR="5080">
              <a:lnSpc>
                <a:spcPct val="134300"/>
              </a:lnSpc>
              <a:spcBef>
                <a:spcPts val="1215"/>
              </a:spcBef>
            </a:pPr>
            <a:r>
              <a:rPr sz="1350" dirty="0">
                <a:solidFill>
                  <a:srgbClr val="CFCBBE"/>
                </a:solidFill>
                <a:latin typeface="Tahoma"/>
                <a:cs typeface="Tahoma"/>
              </a:rPr>
              <a:t>exploit</a:t>
            </a:r>
            <a:r>
              <a:rPr sz="1350" spc="30" dirty="0">
                <a:solidFill>
                  <a:srgbClr val="CFCBBE"/>
                </a:solidFill>
                <a:latin typeface="Tahoma"/>
                <a:cs typeface="Tahoma"/>
              </a:rPr>
              <a:t> </a:t>
            </a:r>
            <a:r>
              <a:rPr sz="1350" spc="-85" dirty="0">
                <a:solidFill>
                  <a:srgbClr val="CFCBBE"/>
                </a:solidFill>
                <a:latin typeface="Trebuchet MS"/>
                <a:cs typeface="Trebuchet MS"/>
              </a:rPr>
              <a:t>r</a:t>
            </a:r>
            <a:r>
              <a:rPr lang="en-US" sz="1350" spc="-85" dirty="0">
                <a:solidFill>
                  <a:srgbClr val="CFCBBE"/>
                </a:solidFill>
                <a:latin typeface="Trebuchet MS"/>
                <a:cs typeface="Trebuchet MS"/>
              </a:rPr>
              <a:t>u</a:t>
            </a:r>
            <a:r>
              <a:rPr sz="1350" spc="-85" dirty="0">
                <a:solidFill>
                  <a:srgbClr val="CFCBBE"/>
                </a:solidFill>
                <a:latin typeface="Trebuchet MS"/>
                <a:cs typeface="Trebuchet MS"/>
              </a:rPr>
              <a:t>n</a:t>
            </a:r>
            <a:r>
              <a:rPr sz="1350" spc="40" dirty="0">
                <a:solidFill>
                  <a:srgbClr val="CFCBBE"/>
                </a:solidFill>
                <a:latin typeface="Trebuchet MS"/>
                <a:cs typeface="Trebuchet MS"/>
              </a:rPr>
              <a:t> </a:t>
            </a:r>
            <a:r>
              <a:rPr sz="1350" dirty="0">
                <a:solidFill>
                  <a:srgbClr val="CFCBBE"/>
                </a:solidFill>
                <a:latin typeface="Trebuchet MS"/>
                <a:cs typeface="Trebuchet MS"/>
              </a:rPr>
              <a:t>the</a:t>
            </a:r>
            <a:r>
              <a:rPr sz="1350" spc="35" dirty="0">
                <a:solidFill>
                  <a:srgbClr val="CFCBBE"/>
                </a:solidFill>
                <a:latin typeface="Trebuchet MS"/>
                <a:cs typeface="Trebuchet MS"/>
              </a:rPr>
              <a:t> </a:t>
            </a:r>
            <a:r>
              <a:rPr sz="1350" dirty="0">
                <a:solidFill>
                  <a:srgbClr val="CFCBBE"/>
                </a:solidFill>
                <a:latin typeface="Trebuchet MS"/>
                <a:cs typeface="Trebuchet MS"/>
              </a:rPr>
              <a:t>module,</a:t>
            </a:r>
            <a:r>
              <a:rPr sz="1350" spc="40" dirty="0">
                <a:solidFill>
                  <a:srgbClr val="CFCBBE"/>
                </a:solidFill>
                <a:latin typeface="Trebuchet MS"/>
                <a:cs typeface="Trebuchet MS"/>
              </a:rPr>
              <a:t> </a:t>
            </a:r>
            <a:r>
              <a:rPr sz="1350" dirty="0">
                <a:solidFill>
                  <a:srgbClr val="CFCBBE"/>
                </a:solidFill>
                <a:latin typeface="Trebuchet MS"/>
                <a:cs typeface="Trebuchet MS"/>
              </a:rPr>
              <a:t>but</a:t>
            </a:r>
            <a:r>
              <a:rPr sz="1350" spc="40" dirty="0">
                <a:solidFill>
                  <a:srgbClr val="CFCBBE"/>
                </a:solidFill>
                <a:latin typeface="Trebuchet MS"/>
                <a:cs typeface="Trebuchet MS"/>
              </a:rPr>
              <a:t> </a:t>
            </a:r>
            <a:r>
              <a:rPr sz="1350" spc="30" dirty="0">
                <a:solidFill>
                  <a:srgbClr val="CFCBBE"/>
                </a:solidFill>
                <a:latin typeface="Trebuchet MS"/>
                <a:cs typeface="Trebuchet MS"/>
              </a:rPr>
              <a:t>no </a:t>
            </a:r>
            <a:r>
              <a:rPr sz="1350" spc="50" dirty="0">
                <a:solidFill>
                  <a:srgbClr val="CFCBBE"/>
                </a:solidFill>
                <a:latin typeface="Trebuchet MS"/>
                <a:cs typeface="Trebuchet MS"/>
              </a:rPr>
              <a:t>session</a:t>
            </a:r>
            <a:r>
              <a:rPr sz="1350" spc="-35" dirty="0">
                <a:solidFill>
                  <a:srgbClr val="CFCBBE"/>
                </a:solidFill>
                <a:latin typeface="Trebuchet MS"/>
                <a:cs typeface="Trebuchet MS"/>
              </a:rPr>
              <a:t> </a:t>
            </a:r>
            <a:r>
              <a:rPr sz="1350" spc="-10" dirty="0">
                <a:solidFill>
                  <a:srgbClr val="CFCBBE"/>
                </a:solidFill>
                <a:latin typeface="Trebuchet MS"/>
                <a:cs typeface="Trebuchet MS"/>
              </a:rPr>
              <a:t>w</a:t>
            </a:r>
            <a:r>
              <a:rPr lang="en-US" sz="1350" spc="-10" dirty="0">
                <a:solidFill>
                  <a:srgbClr val="CFCBBE"/>
                </a:solidFill>
                <a:latin typeface="Trebuchet MS"/>
                <a:cs typeface="Trebuchet MS"/>
              </a:rPr>
              <a:t>a</a:t>
            </a:r>
            <a:r>
              <a:rPr sz="1350" spc="-10" dirty="0">
                <a:solidFill>
                  <a:srgbClr val="CFCBBE"/>
                </a:solidFill>
                <a:latin typeface="Trebuchet MS"/>
                <a:cs typeface="Trebuchet MS"/>
              </a:rPr>
              <a:t>s</a:t>
            </a:r>
            <a:r>
              <a:rPr sz="1350" spc="20" dirty="0">
                <a:solidFill>
                  <a:srgbClr val="CFCBBE"/>
                </a:solidFill>
                <a:latin typeface="Trebuchet MS"/>
                <a:cs typeface="Trebuchet MS"/>
              </a:rPr>
              <a:t> </a:t>
            </a:r>
            <a:r>
              <a:rPr sz="1350" spc="-45" dirty="0">
                <a:solidFill>
                  <a:srgbClr val="CFCBBE"/>
                </a:solidFill>
                <a:latin typeface="Trebuchet MS"/>
                <a:cs typeface="Trebuchet MS"/>
              </a:rPr>
              <a:t>cre</a:t>
            </a:r>
            <a:r>
              <a:rPr lang="en-US" sz="1350" spc="-45" dirty="0">
                <a:solidFill>
                  <a:srgbClr val="CFCBBE"/>
                </a:solidFill>
                <a:latin typeface="Trebuchet MS"/>
                <a:cs typeface="Trebuchet MS"/>
              </a:rPr>
              <a:t>a</a:t>
            </a:r>
            <a:r>
              <a:rPr sz="1350" spc="-45" dirty="0">
                <a:solidFill>
                  <a:srgbClr val="CFCBBE"/>
                </a:solidFill>
                <a:latin typeface="Trebuchet MS"/>
                <a:cs typeface="Trebuchet MS"/>
              </a:rPr>
              <a:t>ted,</a:t>
            </a:r>
            <a:r>
              <a:rPr sz="1350" spc="15" dirty="0">
                <a:solidFill>
                  <a:srgbClr val="CFCBBE"/>
                </a:solidFill>
                <a:latin typeface="Trebuchet MS"/>
                <a:cs typeface="Trebuchet MS"/>
              </a:rPr>
              <a:t> </a:t>
            </a:r>
            <a:r>
              <a:rPr sz="1350" dirty="0">
                <a:solidFill>
                  <a:srgbClr val="CFCBBE"/>
                </a:solidFill>
                <a:latin typeface="Trebuchet MS"/>
                <a:cs typeface="Trebuchet MS"/>
              </a:rPr>
              <a:t>though</a:t>
            </a:r>
            <a:r>
              <a:rPr sz="1350" spc="20" dirty="0">
                <a:solidFill>
                  <a:srgbClr val="CFCBBE"/>
                </a:solidFill>
                <a:latin typeface="Trebuchet MS"/>
                <a:cs typeface="Trebuchet MS"/>
              </a:rPr>
              <a:t> </a:t>
            </a:r>
            <a:r>
              <a:rPr sz="1350" spc="-25" dirty="0">
                <a:solidFill>
                  <a:srgbClr val="CFCBBE"/>
                </a:solidFill>
                <a:latin typeface="Trebuchet MS"/>
                <a:cs typeface="Trebuchet MS"/>
              </a:rPr>
              <a:t>the </a:t>
            </a:r>
            <a:r>
              <a:rPr sz="1350" dirty="0">
                <a:solidFill>
                  <a:srgbClr val="CFCBBE"/>
                </a:solidFill>
                <a:latin typeface="Trebuchet MS"/>
                <a:cs typeface="Trebuchet MS"/>
              </a:rPr>
              <a:t>service</a:t>
            </a:r>
            <a:r>
              <a:rPr sz="1350" spc="-5" dirty="0">
                <a:solidFill>
                  <a:srgbClr val="CFCBBE"/>
                </a:solidFill>
                <a:latin typeface="Trebuchet MS"/>
                <a:cs typeface="Trebuchet MS"/>
              </a:rPr>
              <a:t> </a:t>
            </a:r>
            <a:r>
              <a:rPr sz="1350" dirty="0">
                <a:solidFill>
                  <a:srgbClr val="CFCBBE"/>
                </a:solidFill>
                <a:latin typeface="Trebuchet MS"/>
                <a:cs typeface="Trebuchet MS"/>
              </a:rPr>
              <a:t>version</a:t>
            </a:r>
            <a:r>
              <a:rPr sz="1350" spc="-10" dirty="0">
                <a:solidFill>
                  <a:srgbClr val="CFCBBE"/>
                </a:solidFill>
                <a:latin typeface="Trebuchet MS"/>
                <a:cs typeface="Trebuchet MS"/>
              </a:rPr>
              <a:t> w</a:t>
            </a:r>
            <a:r>
              <a:rPr lang="en-US" sz="1350" spc="-10" dirty="0">
                <a:solidFill>
                  <a:srgbClr val="CFCBBE"/>
                </a:solidFill>
                <a:latin typeface="Trebuchet MS"/>
                <a:cs typeface="Trebuchet MS"/>
              </a:rPr>
              <a:t>a</a:t>
            </a:r>
            <a:r>
              <a:rPr sz="1350" spc="-10" dirty="0">
                <a:solidFill>
                  <a:srgbClr val="CFCBBE"/>
                </a:solidFill>
                <a:latin typeface="Trebuchet MS"/>
                <a:cs typeface="Trebuchet MS"/>
              </a:rPr>
              <a:t>s</a:t>
            </a:r>
            <a:r>
              <a:rPr sz="1350" spc="45" dirty="0">
                <a:solidFill>
                  <a:srgbClr val="CFCBBE"/>
                </a:solidFill>
                <a:latin typeface="Trebuchet MS"/>
                <a:cs typeface="Trebuchet MS"/>
              </a:rPr>
              <a:t> </a:t>
            </a:r>
            <a:r>
              <a:rPr sz="1350" spc="-10" dirty="0">
                <a:solidFill>
                  <a:srgbClr val="CFCBBE"/>
                </a:solidFill>
                <a:latin typeface="Trebuchet MS"/>
                <a:cs typeface="Trebuchet MS"/>
              </a:rPr>
              <a:t>confirmed.</a:t>
            </a:r>
            <a:endParaRPr sz="1350" dirty="0">
              <a:latin typeface="Trebuchet MS"/>
              <a:cs typeface="Trebuchet M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87375" y="4441190"/>
            <a:ext cx="5730875" cy="53982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34300"/>
              </a:lnSpc>
              <a:spcBef>
                <a:spcPts val="100"/>
              </a:spcBef>
            </a:pPr>
            <a:r>
              <a:rPr sz="1350" dirty="0">
                <a:solidFill>
                  <a:srgbClr val="CFCBBE"/>
                </a:solidFill>
                <a:latin typeface="Trebuchet MS"/>
                <a:cs typeface="Trebuchet MS"/>
              </a:rPr>
              <a:t>Even</a:t>
            </a:r>
            <a:r>
              <a:rPr sz="1350" spc="-10" dirty="0">
                <a:solidFill>
                  <a:srgbClr val="CFCBBE"/>
                </a:solidFill>
                <a:latin typeface="Trebuchet MS"/>
                <a:cs typeface="Trebuchet MS"/>
              </a:rPr>
              <a:t> </a:t>
            </a:r>
            <a:r>
              <a:rPr lang="en-US" sz="1350" spc="-225" dirty="0">
                <a:solidFill>
                  <a:srgbClr val="CFCBBE"/>
                </a:solidFill>
                <a:latin typeface="Trebuchet MS"/>
                <a:cs typeface="Trebuchet MS"/>
              </a:rPr>
              <a:t>a</a:t>
            </a:r>
            <a:r>
              <a:rPr sz="1350" spc="-10" dirty="0">
                <a:solidFill>
                  <a:srgbClr val="CFCBBE"/>
                </a:solidFill>
                <a:latin typeface="Trebuchet MS"/>
                <a:cs typeface="Trebuchet MS"/>
              </a:rPr>
              <a:t> </a:t>
            </a:r>
            <a:r>
              <a:rPr sz="1350" spc="-50" dirty="0">
                <a:solidFill>
                  <a:srgbClr val="CFCBBE"/>
                </a:solidFill>
                <a:latin typeface="Trebuchet MS"/>
                <a:cs typeface="Trebuchet MS"/>
              </a:rPr>
              <a:t>f</a:t>
            </a:r>
            <a:r>
              <a:rPr lang="en-US" sz="1350" spc="-50" dirty="0">
                <a:solidFill>
                  <a:srgbClr val="CFCBBE"/>
                </a:solidFill>
                <a:latin typeface="Trebuchet MS"/>
                <a:cs typeface="Trebuchet MS"/>
              </a:rPr>
              <a:t>a</a:t>
            </a:r>
            <a:r>
              <a:rPr sz="1350" spc="-50" dirty="0">
                <a:solidFill>
                  <a:srgbClr val="CFCBBE"/>
                </a:solidFill>
                <a:latin typeface="Trebuchet MS"/>
                <a:cs typeface="Trebuchet MS"/>
              </a:rPr>
              <a:t>iled</a:t>
            </a:r>
            <a:r>
              <a:rPr sz="1350" spc="-5" dirty="0">
                <a:solidFill>
                  <a:srgbClr val="CFCBBE"/>
                </a:solidFill>
                <a:latin typeface="Trebuchet MS"/>
                <a:cs typeface="Trebuchet MS"/>
              </a:rPr>
              <a:t> </a:t>
            </a:r>
            <a:r>
              <a:rPr sz="1350" spc="-90" dirty="0">
                <a:solidFill>
                  <a:srgbClr val="CFCBBE"/>
                </a:solidFill>
                <a:latin typeface="Trebuchet MS"/>
                <a:cs typeface="Trebuchet MS"/>
              </a:rPr>
              <a:t>initi</a:t>
            </a:r>
            <a:r>
              <a:rPr lang="en-US" sz="1350" spc="-90" dirty="0">
                <a:solidFill>
                  <a:srgbClr val="CFCBBE"/>
                </a:solidFill>
                <a:latin typeface="Trebuchet MS"/>
                <a:cs typeface="Trebuchet MS"/>
              </a:rPr>
              <a:t>a</a:t>
            </a:r>
            <a:r>
              <a:rPr sz="1350" spc="-90" dirty="0">
                <a:solidFill>
                  <a:srgbClr val="CFCBBE"/>
                </a:solidFill>
                <a:latin typeface="Trebuchet MS"/>
                <a:cs typeface="Trebuchet MS"/>
              </a:rPr>
              <a:t>l</a:t>
            </a:r>
            <a:r>
              <a:rPr sz="1350" spc="-55" dirty="0">
                <a:solidFill>
                  <a:srgbClr val="CFCBBE"/>
                </a:solidFill>
                <a:latin typeface="Trebuchet MS"/>
                <a:cs typeface="Trebuchet MS"/>
              </a:rPr>
              <a:t> </a:t>
            </a:r>
            <a:r>
              <a:rPr lang="en-US" sz="1350" spc="-50" dirty="0">
                <a:solidFill>
                  <a:srgbClr val="CFCBBE"/>
                </a:solidFill>
                <a:latin typeface="Trebuchet MS"/>
                <a:cs typeface="Trebuchet MS"/>
              </a:rPr>
              <a:t>a</a:t>
            </a:r>
            <a:r>
              <a:rPr sz="1350" spc="-50" dirty="0">
                <a:solidFill>
                  <a:srgbClr val="CFCBBE"/>
                </a:solidFill>
                <a:latin typeface="Trebuchet MS"/>
                <a:cs typeface="Trebuchet MS"/>
              </a:rPr>
              <a:t>ttempt</a:t>
            </a:r>
            <a:r>
              <a:rPr sz="1350" spc="-5" dirty="0">
                <a:solidFill>
                  <a:srgbClr val="CFCBBE"/>
                </a:solidFill>
                <a:latin typeface="Trebuchet MS"/>
                <a:cs typeface="Trebuchet MS"/>
              </a:rPr>
              <a:t> </a:t>
            </a:r>
            <a:r>
              <a:rPr sz="1350" spc="-35" dirty="0">
                <a:solidFill>
                  <a:srgbClr val="CFCBBE"/>
                </a:solidFill>
                <a:latin typeface="Trebuchet MS"/>
                <a:cs typeface="Trebuchet MS"/>
              </a:rPr>
              <a:t>c</a:t>
            </a:r>
            <a:r>
              <a:rPr lang="en-US" sz="1350" spc="-35" dirty="0">
                <a:solidFill>
                  <a:srgbClr val="CFCBBE"/>
                </a:solidFill>
                <a:latin typeface="Trebuchet MS"/>
                <a:cs typeface="Trebuchet MS"/>
              </a:rPr>
              <a:t>a</a:t>
            </a:r>
            <a:r>
              <a:rPr sz="1350" spc="-35" dirty="0">
                <a:solidFill>
                  <a:srgbClr val="CFCBBE"/>
                </a:solidFill>
                <a:latin typeface="Trebuchet MS"/>
                <a:cs typeface="Trebuchet MS"/>
              </a:rPr>
              <a:t>n</a:t>
            </a:r>
            <a:r>
              <a:rPr sz="1350" spc="-10" dirty="0">
                <a:solidFill>
                  <a:srgbClr val="CFCBBE"/>
                </a:solidFill>
                <a:latin typeface="Trebuchet MS"/>
                <a:cs typeface="Trebuchet MS"/>
              </a:rPr>
              <a:t> </a:t>
            </a:r>
            <a:r>
              <a:rPr sz="1350" dirty="0">
                <a:solidFill>
                  <a:srgbClr val="CFCBBE"/>
                </a:solidFill>
                <a:latin typeface="Trebuchet MS"/>
                <a:cs typeface="Trebuchet MS"/>
              </a:rPr>
              <a:t>provide</a:t>
            </a:r>
            <a:r>
              <a:rPr sz="1350" spc="-50" dirty="0">
                <a:solidFill>
                  <a:srgbClr val="CFCBBE"/>
                </a:solidFill>
                <a:latin typeface="Trebuchet MS"/>
                <a:cs typeface="Trebuchet MS"/>
              </a:rPr>
              <a:t> </a:t>
            </a:r>
            <a:r>
              <a:rPr sz="1350" spc="-35" dirty="0">
                <a:solidFill>
                  <a:srgbClr val="CFCBBE"/>
                </a:solidFill>
                <a:latin typeface="Trebuchet MS"/>
                <a:cs typeface="Trebuchet MS"/>
              </a:rPr>
              <a:t>v</a:t>
            </a:r>
            <a:r>
              <a:rPr lang="en-US" sz="1350" spc="-35" dirty="0">
                <a:solidFill>
                  <a:srgbClr val="CFCBBE"/>
                </a:solidFill>
                <a:latin typeface="Trebuchet MS"/>
                <a:cs typeface="Trebuchet MS"/>
              </a:rPr>
              <a:t>a</a:t>
            </a:r>
            <a:r>
              <a:rPr sz="1350" spc="-35" dirty="0">
                <a:solidFill>
                  <a:srgbClr val="CFCBBE"/>
                </a:solidFill>
                <a:latin typeface="Trebuchet MS"/>
                <a:cs typeface="Trebuchet MS"/>
              </a:rPr>
              <a:t>lu</a:t>
            </a:r>
            <a:r>
              <a:rPr lang="en-US" sz="1350" spc="-35" dirty="0">
                <a:solidFill>
                  <a:srgbClr val="CFCBBE"/>
                </a:solidFill>
                <a:latin typeface="Trebuchet MS"/>
                <a:cs typeface="Trebuchet MS"/>
              </a:rPr>
              <a:t>a</a:t>
            </a:r>
            <a:r>
              <a:rPr sz="1350" spc="-35" dirty="0">
                <a:solidFill>
                  <a:srgbClr val="CFCBBE"/>
                </a:solidFill>
                <a:latin typeface="Trebuchet MS"/>
                <a:cs typeface="Trebuchet MS"/>
              </a:rPr>
              <a:t>ble</a:t>
            </a:r>
            <a:r>
              <a:rPr sz="1350" spc="-5" dirty="0">
                <a:solidFill>
                  <a:srgbClr val="CFCBBE"/>
                </a:solidFill>
                <a:latin typeface="Trebuchet MS"/>
                <a:cs typeface="Trebuchet MS"/>
              </a:rPr>
              <a:t> </a:t>
            </a:r>
            <a:r>
              <a:rPr sz="1350" spc="-35" dirty="0">
                <a:solidFill>
                  <a:srgbClr val="CFCBBE"/>
                </a:solidFill>
                <a:latin typeface="Trebuchet MS"/>
                <a:cs typeface="Trebuchet MS"/>
              </a:rPr>
              <a:t>inform</a:t>
            </a:r>
            <a:r>
              <a:rPr lang="en-US" sz="1350" spc="-35" dirty="0">
                <a:solidFill>
                  <a:srgbClr val="CFCBBE"/>
                </a:solidFill>
                <a:latin typeface="Trebuchet MS"/>
                <a:cs typeface="Trebuchet MS"/>
              </a:rPr>
              <a:t>a</a:t>
            </a:r>
            <a:r>
              <a:rPr sz="1350" spc="-35" dirty="0">
                <a:solidFill>
                  <a:srgbClr val="CFCBBE"/>
                </a:solidFill>
                <a:latin typeface="Trebuchet MS"/>
                <a:cs typeface="Trebuchet MS"/>
              </a:rPr>
              <a:t>tion</a:t>
            </a:r>
            <a:r>
              <a:rPr sz="1350" spc="-10" dirty="0">
                <a:solidFill>
                  <a:srgbClr val="CFCBBE"/>
                </a:solidFill>
                <a:latin typeface="Trebuchet MS"/>
                <a:cs typeface="Trebuchet MS"/>
              </a:rPr>
              <a:t> </a:t>
            </a:r>
            <a:r>
              <a:rPr sz="1350" spc="-25" dirty="0">
                <a:solidFill>
                  <a:srgbClr val="CFCBBE"/>
                </a:solidFill>
                <a:latin typeface="Trebuchet MS"/>
                <a:cs typeface="Trebuchet MS"/>
              </a:rPr>
              <a:t>for</a:t>
            </a:r>
            <a:r>
              <a:rPr sz="1350" spc="-40" dirty="0">
                <a:solidFill>
                  <a:srgbClr val="CFCBBE"/>
                </a:solidFill>
                <a:latin typeface="Trebuchet MS"/>
                <a:cs typeface="Trebuchet MS"/>
              </a:rPr>
              <a:t> </a:t>
            </a:r>
            <a:r>
              <a:rPr sz="1350" dirty="0">
                <a:solidFill>
                  <a:srgbClr val="CFCBBE"/>
                </a:solidFill>
                <a:latin typeface="Trebuchet MS"/>
                <a:cs typeface="Trebuchet MS"/>
              </a:rPr>
              <a:t>the</a:t>
            </a:r>
            <a:r>
              <a:rPr sz="1350" spc="-10" dirty="0">
                <a:solidFill>
                  <a:srgbClr val="CFCBBE"/>
                </a:solidFill>
                <a:latin typeface="Trebuchet MS"/>
                <a:cs typeface="Trebuchet MS"/>
              </a:rPr>
              <a:t> </a:t>
            </a:r>
            <a:r>
              <a:rPr sz="1350" spc="-20" dirty="0">
                <a:solidFill>
                  <a:srgbClr val="CFCBBE"/>
                </a:solidFill>
                <a:latin typeface="Trebuchet MS"/>
                <a:cs typeface="Trebuchet MS"/>
              </a:rPr>
              <a:t>next </a:t>
            </a:r>
            <a:r>
              <a:rPr sz="1350" spc="-10" dirty="0">
                <a:solidFill>
                  <a:srgbClr val="CFCBBE"/>
                </a:solidFill>
                <a:latin typeface="Trebuchet MS"/>
                <a:cs typeface="Trebuchet MS"/>
              </a:rPr>
              <a:t>steps.</a:t>
            </a:r>
            <a:endParaRPr sz="1350" dirty="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143750" y="253"/>
            <a:ext cx="4286250" cy="6438900"/>
            <a:chOff x="7143750" y="253"/>
            <a:chExt cx="4286250" cy="64389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143750" y="253"/>
              <a:ext cx="4286249" cy="6438900"/>
            </a:xfrm>
            <a:prstGeom prst="rect">
              <a:avLst/>
            </a:prstGeom>
          </p:spPr>
        </p:pic>
        <p:pic>
          <p:nvPicPr>
            <p:cNvPr id="4" name="object 4">
              <a:hlinkClick r:id="rId3"/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580244" y="5926073"/>
              <a:ext cx="1754504" cy="419100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457200" y="250825"/>
            <a:ext cx="4921250" cy="11112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635">
              <a:lnSpc>
                <a:spcPct val="106300"/>
              </a:lnSpc>
              <a:spcBef>
                <a:spcPts val="95"/>
              </a:spcBef>
            </a:pPr>
            <a:r>
              <a:rPr sz="3350" spc="330" dirty="0">
                <a:solidFill>
                  <a:srgbClr val="F2E781"/>
                </a:solidFill>
              </a:rPr>
              <a:t>Exploit</a:t>
            </a:r>
            <a:r>
              <a:rPr sz="3350" spc="50" dirty="0">
                <a:solidFill>
                  <a:srgbClr val="F2E781"/>
                </a:solidFill>
              </a:rPr>
              <a:t> </a:t>
            </a:r>
            <a:r>
              <a:rPr sz="3350" spc="285" dirty="0">
                <a:solidFill>
                  <a:srgbClr val="F2E781"/>
                </a:solidFill>
              </a:rPr>
              <a:t>Configuration</a:t>
            </a:r>
            <a:r>
              <a:rPr sz="3350" spc="55" dirty="0">
                <a:solidFill>
                  <a:srgbClr val="F2E781"/>
                </a:solidFill>
              </a:rPr>
              <a:t> </a:t>
            </a:r>
            <a:r>
              <a:rPr lang="en-US" sz="3350" spc="430" dirty="0">
                <a:solidFill>
                  <a:srgbClr val="F2E781"/>
                </a:solidFill>
              </a:rPr>
              <a:t>a</a:t>
            </a:r>
            <a:r>
              <a:rPr sz="3350" spc="430" dirty="0">
                <a:solidFill>
                  <a:srgbClr val="F2E781"/>
                </a:solidFill>
              </a:rPr>
              <a:t> </a:t>
            </a:r>
            <a:r>
              <a:rPr sz="3350" spc="204" dirty="0">
                <a:solidFill>
                  <a:srgbClr val="F2E781"/>
                </a:solidFill>
              </a:rPr>
              <a:t>Attempt</a:t>
            </a:r>
            <a:endParaRPr sz="3350" dirty="0"/>
          </a:p>
        </p:txBody>
      </p:sp>
      <p:sp>
        <p:nvSpPr>
          <p:cNvPr id="6" name="object 6"/>
          <p:cNvSpPr/>
          <p:nvPr/>
        </p:nvSpPr>
        <p:spPr>
          <a:xfrm>
            <a:off x="590550" y="3343275"/>
            <a:ext cx="2209800" cy="228600"/>
          </a:xfrm>
          <a:custGeom>
            <a:avLst/>
            <a:gdLst/>
            <a:ahLst/>
            <a:cxnLst/>
            <a:rect l="l" t="t" r="r" b="b"/>
            <a:pathLst>
              <a:path w="2209800" h="228600">
                <a:moveTo>
                  <a:pt x="2191207" y="0"/>
                </a:moveTo>
                <a:lnTo>
                  <a:pt x="18588" y="0"/>
                </a:lnTo>
                <a:lnTo>
                  <a:pt x="15854" y="546"/>
                </a:lnTo>
                <a:lnTo>
                  <a:pt x="0" y="18592"/>
                </a:lnTo>
                <a:lnTo>
                  <a:pt x="0" y="207175"/>
                </a:lnTo>
                <a:lnTo>
                  <a:pt x="0" y="210007"/>
                </a:lnTo>
                <a:lnTo>
                  <a:pt x="18588" y="228600"/>
                </a:lnTo>
                <a:lnTo>
                  <a:pt x="2191207" y="228600"/>
                </a:lnTo>
                <a:lnTo>
                  <a:pt x="2209800" y="210007"/>
                </a:lnTo>
                <a:lnTo>
                  <a:pt x="2209800" y="18592"/>
                </a:lnTo>
                <a:lnTo>
                  <a:pt x="2193950" y="546"/>
                </a:lnTo>
                <a:lnTo>
                  <a:pt x="2191207" y="0"/>
                </a:lnTo>
                <a:close/>
              </a:path>
            </a:pathLst>
          </a:custGeom>
          <a:solidFill>
            <a:srgbClr val="28292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781425" y="3343275"/>
            <a:ext cx="561975" cy="228600"/>
          </a:xfrm>
          <a:custGeom>
            <a:avLst/>
            <a:gdLst/>
            <a:ahLst/>
            <a:cxnLst/>
            <a:rect l="l" t="t" r="r" b="b"/>
            <a:pathLst>
              <a:path w="561975" h="228600">
                <a:moveTo>
                  <a:pt x="543382" y="0"/>
                </a:moveTo>
                <a:lnTo>
                  <a:pt x="18592" y="0"/>
                </a:lnTo>
                <a:lnTo>
                  <a:pt x="15849" y="546"/>
                </a:lnTo>
                <a:lnTo>
                  <a:pt x="0" y="18592"/>
                </a:lnTo>
                <a:lnTo>
                  <a:pt x="0" y="207175"/>
                </a:lnTo>
                <a:lnTo>
                  <a:pt x="0" y="210007"/>
                </a:lnTo>
                <a:lnTo>
                  <a:pt x="18592" y="228600"/>
                </a:lnTo>
                <a:lnTo>
                  <a:pt x="543382" y="228600"/>
                </a:lnTo>
                <a:lnTo>
                  <a:pt x="561975" y="210007"/>
                </a:lnTo>
                <a:lnTo>
                  <a:pt x="561975" y="18592"/>
                </a:lnTo>
                <a:lnTo>
                  <a:pt x="546125" y="546"/>
                </a:lnTo>
                <a:lnTo>
                  <a:pt x="543382" y="0"/>
                </a:lnTo>
                <a:close/>
              </a:path>
            </a:pathLst>
          </a:custGeom>
          <a:solidFill>
            <a:srgbClr val="28292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609858D-BE22-ED32-D906-7F5222D5FAD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1551114"/>
            <a:ext cx="5486400" cy="38129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30563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86519" y="1311275"/>
            <a:ext cx="10256960" cy="983603"/>
          </a:xfrm>
          <a:prstGeom prst="rect">
            <a:avLst/>
          </a:prstGeom>
        </p:spPr>
        <p:txBody>
          <a:bodyPr vert="horz" wrap="square" lIns="0" tIns="4635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350" spc="225" dirty="0">
                <a:solidFill>
                  <a:srgbClr val="F2E781"/>
                </a:solidFill>
              </a:rPr>
              <a:t>Verification</a:t>
            </a:r>
            <a:r>
              <a:rPr sz="3350" spc="55" dirty="0">
                <a:solidFill>
                  <a:srgbClr val="F2E781"/>
                </a:solidFill>
              </a:rPr>
              <a:t> </a:t>
            </a:r>
            <a:r>
              <a:rPr lang="en-US" sz="3350" spc="480" dirty="0">
                <a:solidFill>
                  <a:srgbClr val="F2E781"/>
                </a:solidFill>
              </a:rPr>
              <a:t>a</a:t>
            </a:r>
            <a:r>
              <a:rPr sz="3350" spc="60" dirty="0">
                <a:solidFill>
                  <a:srgbClr val="F2E781"/>
                </a:solidFill>
              </a:rPr>
              <a:t> </a:t>
            </a:r>
            <a:r>
              <a:rPr sz="3350" spc="345" dirty="0">
                <a:solidFill>
                  <a:srgbClr val="F2E781"/>
                </a:solidFill>
              </a:rPr>
              <a:t>Manual</a:t>
            </a:r>
            <a:r>
              <a:rPr sz="3350" spc="60" dirty="0">
                <a:solidFill>
                  <a:srgbClr val="F2E781"/>
                </a:solidFill>
              </a:rPr>
              <a:t> </a:t>
            </a:r>
            <a:r>
              <a:rPr sz="3350" spc="305" dirty="0">
                <a:solidFill>
                  <a:srgbClr val="F2E781"/>
                </a:solidFill>
              </a:rPr>
              <a:t>Connection</a:t>
            </a:r>
            <a:endParaRPr sz="3350" dirty="0"/>
          </a:p>
        </p:txBody>
      </p:sp>
      <p:sp>
        <p:nvSpPr>
          <p:cNvPr id="3" name="object 3"/>
          <p:cNvSpPr/>
          <p:nvPr/>
        </p:nvSpPr>
        <p:spPr>
          <a:xfrm>
            <a:off x="762000" y="3924300"/>
            <a:ext cx="2381250" cy="228600"/>
          </a:xfrm>
          <a:custGeom>
            <a:avLst/>
            <a:gdLst/>
            <a:ahLst/>
            <a:cxnLst/>
            <a:rect l="l" t="t" r="r" b="b"/>
            <a:pathLst>
              <a:path w="2381250" h="228600">
                <a:moveTo>
                  <a:pt x="2362657" y="0"/>
                </a:moveTo>
                <a:lnTo>
                  <a:pt x="18588" y="0"/>
                </a:lnTo>
                <a:lnTo>
                  <a:pt x="15854" y="546"/>
                </a:lnTo>
                <a:lnTo>
                  <a:pt x="0" y="18592"/>
                </a:lnTo>
                <a:lnTo>
                  <a:pt x="0" y="207175"/>
                </a:lnTo>
                <a:lnTo>
                  <a:pt x="0" y="210007"/>
                </a:lnTo>
                <a:lnTo>
                  <a:pt x="18588" y="228600"/>
                </a:lnTo>
                <a:lnTo>
                  <a:pt x="2362657" y="228600"/>
                </a:lnTo>
                <a:lnTo>
                  <a:pt x="2381250" y="210007"/>
                </a:lnTo>
                <a:lnTo>
                  <a:pt x="2381250" y="18592"/>
                </a:lnTo>
                <a:lnTo>
                  <a:pt x="2365400" y="546"/>
                </a:lnTo>
                <a:lnTo>
                  <a:pt x="2362657" y="0"/>
                </a:lnTo>
                <a:close/>
              </a:path>
            </a:pathLst>
          </a:custGeom>
          <a:solidFill>
            <a:srgbClr val="28292A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600075" y="2676524"/>
            <a:ext cx="10229850" cy="685800"/>
            <a:chOff x="600075" y="2676524"/>
            <a:chExt cx="10229850" cy="685800"/>
          </a:xfrm>
        </p:grpSpPr>
        <p:sp>
          <p:nvSpPr>
            <p:cNvPr id="5" name="object 5"/>
            <p:cNvSpPr/>
            <p:nvPr/>
          </p:nvSpPr>
          <p:spPr>
            <a:xfrm>
              <a:off x="600075" y="2676524"/>
              <a:ext cx="3409950" cy="685800"/>
            </a:xfrm>
            <a:custGeom>
              <a:avLst/>
              <a:gdLst/>
              <a:ahLst/>
              <a:cxnLst/>
              <a:rect l="l" t="t" r="r" b="b"/>
              <a:pathLst>
                <a:path w="3409950" h="685800">
                  <a:moveTo>
                    <a:pt x="3238500" y="0"/>
                  </a:moveTo>
                  <a:lnTo>
                    <a:pt x="0" y="0"/>
                  </a:lnTo>
                  <a:lnTo>
                    <a:pt x="171450" y="342900"/>
                  </a:lnTo>
                  <a:lnTo>
                    <a:pt x="0" y="685800"/>
                  </a:lnTo>
                  <a:lnTo>
                    <a:pt x="3238500" y="685800"/>
                  </a:lnTo>
                  <a:lnTo>
                    <a:pt x="3409950" y="342900"/>
                  </a:lnTo>
                  <a:lnTo>
                    <a:pt x="3238500" y="0"/>
                  </a:lnTo>
                  <a:close/>
                </a:path>
              </a:pathLst>
            </a:custGeom>
            <a:solidFill>
              <a:srgbClr val="3A3B3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175529" y="2890729"/>
              <a:ext cx="268565" cy="266914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4010025" y="2676524"/>
              <a:ext cx="3409950" cy="685800"/>
            </a:xfrm>
            <a:custGeom>
              <a:avLst/>
              <a:gdLst/>
              <a:ahLst/>
              <a:cxnLst/>
              <a:rect l="l" t="t" r="r" b="b"/>
              <a:pathLst>
                <a:path w="3409950" h="685800">
                  <a:moveTo>
                    <a:pt x="3238500" y="0"/>
                  </a:moveTo>
                  <a:lnTo>
                    <a:pt x="0" y="0"/>
                  </a:lnTo>
                  <a:lnTo>
                    <a:pt x="171450" y="342900"/>
                  </a:lnTo>
                  <a:lnTo>
                    <a:pt x="0" y="685800"/>
                  </a:lnTo>
                  <a:lnTo>
                    <a:pt x="3238500" y="685800"/>
                  </a:lnTo>
                  <a:lnTo>
                    <a:pt x="3409950" y="342900"/>
                  </a:lnTo>
                  <a:lnTo>
                    <a:pt x="3238500" y="0"/>
                  </a:lnTo>
                  <a:close/>
                </a:path>
              </a:pathLst>
            </a:custGeom>
            <a:solidFill>
              <a:srgbClr val="3A3B3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626780" y="2889904"/>
              <a:ext cx="180269" cy="268565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7419975" y="2676524"/>
              <a:ext cx="3409950" cy="685800"/>
            </a:xfrm>
            <a:custGeom>
              <a:avLst/>
              <a:gdLst/>
              <a:ahLst/>
              <a:cxnLst/>
              <a:rect l="l" t="t" r="r" b="b"/>
              <a:pathLst>
                <a:path w="3409950" h="685800">
                  <a:moveTo>
                    <a:pt x="3238500" y="0"/>
                  </a:moveTo>
                  <a:lnTo>
                    <a:pt x="0" y="0"/>
                  </a:lnTo>
                  <a:lnTo>
                    <a:pt x="171450" y="342900"/>
                  </a:lnTo>
                  <a:lnTo>
                    <a:pt x="0" y="685800"/>
                  </a:lnTo>
                  <a:lnTo>
                    <a:pt x="3238500" y="685800"/>
                  </a:lnTo>
                  <a:lnTo>
                    <a:pt x="3409950" y="342900"/>
                  </a:lnTo>
                  <a:lnTo>
                    <a:pt x="3238500" y="0"/>
                  </a:lnTo>
                  <a:close/>
                </a:path>
              </a:pathLst>
            </a:custGeom>
            <a:solidFill>
              <a:srgbClr val="3A3B3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996077" y="2889904"/>
              <a:ext cx="267270" cy="268565"/>
            </a:xfrm>
            <a:prstGeom prst="rect">
              <a:avLst/>
            </a:prstGeom>
          </p:spPr>
        </p:pic>
      </p:grpSp>
      <p:sp>
        <p:nvSpPr>
          <p:cNvPr id="11" name="object 11"/>
          <p:cNvSpPr txBox="1"/>
          <p:nvPr/>
        </p:nvSpPr>
        <p:spPr>
          <a:xfrm>
            <a:off x="758397" y="3506787"/>
            <a:ext cx="2897505" cy="922019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spc="114" dirty="0">
                <a:solidFill>
                  <a:srgbClr val="CFCBBE"/>
                </a:solidFill>
                <a:latin typeface="Calibri"/>
                <a:cs typeface="Calibri"/>
              </a:rPr>
              <a:t>Verify</a:t>
            </a:r>
            <a:r>
              <a:rPr sz="1650" spc="50" dirty="0">
                <a:solidFill>
                  <a:srgbClr val="CFCBBE"/>
                </a:solidFill>
                <a:latin typeface="Calibri"/>
                <a:cs typeface="Calibri"/>
              </a:rPr>
              <a:t> </a:t>
            </a:r>
            <a:r>
              <a:rPr sz="1650" spc="190" dirty="0">
                <a:solidFill>
                  <a:srgbClr val="CFCBBE"/>
                </a:solidFill>
                <a:latin typeface="Calibri"/>
                <a:cs typeface="Calibri"/>
              </a:rPr>
              <a:t>Backdoor</a:t>
            </a:r>
            <a:r>
              <a:rPr sz="1650" spc="55" dirty="0">
                <a:solidFill>
                  <a:srgbClr val="CFCBBE"/>
                </a:solidFill>
                <a:latin typeface="Calibri"/>
                <a:cs typeface="Calibri"/>
              </a:rPr>
              <a:t> </a:t>
            </a:r>
            <a:r>
              <a:rPr sz="1650" spc="130" dirty="0">
                <a:solidFill>
                  <a:srgbClr val="CFCBBE"/>
                </a:solidFill>
                <a:latin typeface="Calibri"/>
                <a:cs typeface="Calibri"/>
              </a:rPr>
              <a:t>Port</a:t>
            </a:r>
            <a:endParaRPr sz="1650" dirty="0">
              <a:latin typeface="Calibri"/>
              <a:cs typeface="Calibri"/>
            </a:endParaRPr>
          </a:p>
          <a:p>
            <a:pPr marL="12700" marR="5080">
              <a:lnSpc>
                <a:spcPct val="134300"/>
              </a:lnSpc>
              <a:spcBef>
                <a:spcPts val="690"/>
              </a:spcBef>
            </a:pPr>
            <a:r>
              <a:rPr sz="1350" spc="75" dirty="0">
                <a:solidFill>
                  <a:srgbClr val="CFCBBE"/>
                </a:solidFill>
                <a:latin typeface="Tahoma"/>
                <a:cs typeface="Tahoma"/>
              </a:rPr>
              <a:t>nmap</a:t>
            </a:r>
            <a:r>
              <a:rPr sz="1350" spc="5" dirty="0">
                <a:solidFill>
                  <a:srgbClr val="CFCBBE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CFCBBE"/>
                </a:solidFill>
                <a:latin typeface="Tahoma"/>
                <a:cs typeface="Tahoma"/>
              </a:rPr>
              <a:t>-p</a:t>
            </a:r>
            <a:r>
              <a:rPr sz="1350" spc="5" dirty="0">
                <a:solidFill>
                  <a:srgbClr val="CFCBBE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CFCBBE"/>
                </a:solidFill>
                <a:latin typeface="Tahoma"/>
                <a:cs typeface="Tahoma"/>
              </a:rPr>
              <a:t>6200</a:t>
            </a:r>
            <a:r>
              <a:rPr sz="1350" spc="5" dirty="0">
                <a:solidFill>
                  <a:srgbClr val="CFCBBE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CFCBBE"/>
                </a:solidFill>
                <a:latin typeface="Tahoma"/>
                <a:cs typeface="Tahoma"/>
              </a:rPr>
              <a:t>192.168.100.25</a:t>
            </a:r>
            <a:r>
              <a:rPr sz="1350" spc="-10" dirty="0">
                <a:solidFill>
                  <a:srgbClr val="CFCBBE"/>
                </a:solidFill>
                <a:latin typeface="Tahoma"/>
                <a:cs typeface="Tahoma"/>
              </a:rPr>
              <a:t> </a:t>
            </a:r>
            <a:r>
              <a:rPr sz="1350" spc="-10" dirty="0">
                <a:solidFill>
                  <a:srgbClr val="CFCBBE"/>
                </a:solidFill>
                <a:latin typeface="Trebuchet MS"/>
                <a:cs typeface="Trebuchet MS"/>
              </a:rPr>
              <a:t>found </a:t>
            </a:r>
            <a:r>
              <a:rPr sz="1350" dirty="0">
                <a:solidFill>
                  <a:srgbClr val="CFCBBE"/>
                </a:solidFill>
                <a:latin typeface="Trebuchet MS"/>
                <a:cs typeface="Trebuchet MS"/>
              </a:rPr>
              <a:t>port</a:t>
            </a:r>
            <a:r>
              <a:rPr sz="1350" spc="-45" dirty="0">
                <a:solidFill>
                  <a:srgbClr val="CFCBBE"/>
                </a:solidFill>
                <a:latin typeface="Trebuchet MS"/>
                <a:cs typeface="Trebuchet MS"/>
              </a:rPr>
              <a:t> </a:t>
            </a:r>
            <a:r>
              <a:rPr sz="1350" spc="75" dirty="0">
                <a:solidFill>
                  <a:srgbClr val="CFCBBE"/>
                </a:solidFill>
                <a:latin typeface="Trebuchet MS"/>
                <a:cs typeface="Trebuchet MS"/>
              </a:rPr>
              <a:t>6200</a:t>
            </a:r>
            <a:r>
              <a:rPr sz="1350" spc="-45" dirty="0">
                <a:solidFill>
                  <a:srgbClr val="CFCBBE"/>
                </a:solidFill>
                <a:latin typeface="Trebuchet MS"/>
                <a:cs typeface="Trebuchet MS"/>
              </a:rPr>
              <a:t> </a:t>
            </a:r>
            <a:r>
              <a:rPr sz="1350" dirty="0">
                <a:solidFill>
                  <a:srgbClr val="CFCBBE"/>
                </a:solidFill>
                <a:latin typeface="Trebuchet MS"/>
                <a:cs typeface="Trebuchet MS"/>
              </a:rPr>
              <a:t>open,</a:t>
            </a:r>
            <a:r>
              <a:rPr sz="1350" spc="-45" dirty="0">
                <a:solidFill>
                  <a:srgbClr val="CFCBBE"/>
                </a:solidFill>
                <a:latin typeface="Trebuchet MS"/>
                <a:cs typeface="Trebuchet MS"/>
              </a:rPr>
              <a:t> </a:t>
            </a:r>
            <a:r>
              <a:rPr lang="en-US" sz="1350" spc="-225" dirty="0">
                <a:solidFill>
                  <a:srgbClr val="CFCBBE"/>
                </a:solidFill>
                <a:latin typeface="Trebuchet MS"/>
                <a:cs typeface="Trebuchet MS"/>
              </a:rPr>
              <a:t>a</a:t>
            </a:r>
            <a:r>
              <a:rPr sz="1350" spc="-45" dirty="0">
                <a:solidFill>
                  <a:srgbClr val="CFCBBE"/>
                </a:solidFill>
                <a:latin typeface="Trebuchet MS"/>
                <a:cs typeface="Trebuchet MS"/>
              </a:rPr>
              <a:t> </a:t>
            </a:r>
            <a:r>
              <a:rPr sz="1350" spc="50" dirty="0">
                <a:solidFill>
                  <a:srgbClr val="CFCBBE"/>
                </a:solidFill>
                <a:latin typeface="Trebuchet MS"/>
                <a:cs typeface="Trebuchet MS"/>
              </a:rPr>
              <a:t>known</a:t>
            </a:r>
            <a:r>
              <a:rPr sz="1350" spc="-45" dirty="0">
                <a:solidFill>
                  <a:srgbClr val="CFCBBE"/>
                </a:solidFill>
                <a:latin typeface="Trebuchet MS"/>
                <a:cs typeface="Trebuchet MS"/>
              </a:rPr>
              <a:t> </a:t>
            </a:r>
            <a:r>
              <a:rPr sz="1350" spc="-10" dirty="0">
                <a:solidFill>
                  <a:srgbClr val="CFCBBE"/>
                </a:solidFill>
                <a:latin typeface="Trebuchet MS"/>
                <a:cs typeface="Trebuchet MS"/>
              </a:rPr>
              <a:t>b</a:t>
            </a:r>
            <a:r>
              <a:rPr lang="en-US" sz="1350" spc="-10" dirty="0">
                <a:solidFill>
                  <a:srgbClr val="CFCBBE"/>
                </a:solidFill>
                <a:latin typeface="Trebuchet MS"/>
                <a:cs typeface="Trebuchet MS"/>
              </a:rPr>
              <a:t>a</a:t>
            </a:r>
            <a:r>
              <a:rPr sz="1350" spc="-10" dirty="0">
                <a:solidFill>
                  <a:srgbClr val="CFCBBE"/>
                </a:solidFill>
                <a:latin typeface="Trebuchet MS"/>
                <a:cs typeface="Trebuchet MS"/>
              </a:rPr>
              <a:t>ckdoor.</a:t>
            </a:r>
            <a:endParaRPr sz="1350" dirty="0">
              <a:latin typeface="Trebuchet MS"/>
              <a:cs typeface="Trebuchet MS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4171950" y="3924300"/>
            <a:ext cx="1895475" cy="228600"/>
          </a:xfrm>
          <a:custGeom>
            <a:avLst/>
            <a:gdLst/>
            <a:ahLst/>
            <a:cxnLst/>
            <a:rect l="l" t="t" r="r" b="b"/>
            <a:pathLst>
              <a:path w="1895475" h="228600">
                <a:moveTo>
                  <a:pt x="1876882" y="0"/>
                </a:moveTo>
                <a:lnTo>
                  <a:pt x="18592" y="0"/>
                </a:lnTo>
                <a:lnTo>
                  <a:pt x="15849" y="546"/>
                </a:lnTo>
                <a:lnTo>
                  <a:pt x="0" y="18592"/>
                </a:lnTo>
                <a:lnTo>
                  <a:pt x="0" y="207175"/>
                </a:lnTo>
                <a:lnTo>
                  <a:pt x="0" y="210007"/>
                </a:lnTo>
                <a:lnTo>
                  <a:pt x="18592" y="228600"/>
                </a:lnTo>
                <a:lnTo>
                  <a:pt x="1876882" y="228600"/>
                </a:lnTo>
                <a:lnTo>
                  <a:pt x="1895475" y="210007"/>
                </a:lnTo>
                <a:lnTo>
                  <a:pt x="1895475" y="18592"/>
                </a:lnTo>
                <a:lnTo>
                  <a:pt x="1879625" y="546"/>
                </a:lnTo>
                <a:lnTo>
                  <a:pt x="1876882" y="0"/>
                </a:lnTo>
                <a:close/>
              </a:path>
            </a:pathLst>
          </a:custGeom>
          <a:solidFill>
            <a:srgbClr val="28292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4168775" y="3506787"/>
            <a:ext cx="2917825" cy="922019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spc="185" dirty="0">
                <a:solidFill>
                  <a:srgbClr val="CFCBBE"/>
                </a:solidFill>
                <a:latin typeface="Calibri"/>
                <a:cs typeface="Calibri"/>
              </a:rPr>
              <a:t>Manual</a:t>
            </a:r>
            <a:r>
              <a:rPr sz="1650" spc="35" dirty="0">
                <a:solidFill>
                  <a:srgbClr val="CFCBBE"/>
                </a:solidFill>
                <a:latin typeface="Calibri"/>
                <a:cs typeface="Calibri"/>
              </a:rPr>
              <a:t> </a:t>
            </a:r>
            <a:r>
              <a:rPr sz="1650" spc="160" dirty="0">
                <a:solidFill>
                  <a:srgbClr val="CFCBBE"/>
                </a:solidFill>
                <a:latin typeface="Calibri"/>
                <a:cs typeface="Calibri"/>
              </a:rPr>
              <a:t>Connection</a:t>
            </a:r>
            <a:endParaRPr sz="1650" dirty="0">
              <a:latin typeface="Calibri"/>
              <a:cs typeface="Calibri"/>
            </a:endParaRPr>
          </a:p>
          <a:p>
            <a:pPr marL="12700" marR="5080">
              <a:lnSpc>
                <a:spcPct val="134300"/>
              </a:lnSpc>
              <a:spcBef>
                <a:spcPts val="690"/>
              </a:spcBef>
            </a:pPr>
            <a:r>
              <a:rPr sz="1350" dirty="0">
                <a:solidFill>
                  <a:srgbClr val="CFCBBE"/>
                </a:solidFill>
                <a:latin typeface="Tahoma"/>
                <a:cs typeface="Tahoma"/>
              </a:rPr>
              <a:t>nc</a:t>
            </a:r>
            <a:r>
              <a:rPr sz="1350" spc="25" dirty="0">
                <a:solidFill>
                  <a:srgbClr val="CFCBBE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CFCBBE"/>
                </a:solidFill>
                <a:latin typeface="Tahoma"/>
                <a:cs typeface="Tahoma"/>
              </a:rPr>
              <a:t>192.168.100.25</a:t>
            </a:r>
            <a:r>
              <a:rPr sz="1350" spc="30" dirty="0">
                <a:solidFill>
                  <a:srgbClr val="CFCBBE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CFCBBE"/>
                </a:solidFill>
                <a:latin typeface="Tahoma"/>
                <a:cs typeface="Tahoma"/>
              </a:rPr>
              <a:t>6200</a:t>
            </a:r>
            <a:r>
              <a:rPr sz="1350" spc="10" dirty="0">
                <a:solidFill>
                  <a:srgbClr val="CFCBBE"/>
                </a:solidFill>
                <a:latin typeface="Tahoma"/>
                <a:cs typeface="Tahoma"/>
              </a:rPr>
              <a:t> </a:t>
            </a:r>
            <a:r>
              <a:rPr sz="1350" spc="75" dirty="0">
                <a:solidFill>
                  <a:srgbClr val="CFCBBE"/>
                </a:solidFill>
                <a:latin typeface="Trebuchet MS"/>
                <a:cs typeface="Trebuchet MS"/>
              </a:rPr>
              <a:t>used</a:t>
            </a:r>
            <a:r>
              <a:rPr sz="1350" spc="40" dirty="0">
                <a:solidFill>
                  <a:srgbClr val="CFCBBE"/>
                </a:solidFill>
                <a:latin typeface="Trebuchet MS"/>
                <a:cs typeface="Trebuchet MS"/>
              </a:rPr>
              <a:t> </a:t>
            </a:r>
            <a:r>
              <a:rPr sz="1350" spc="-25" dirty="0" err="1">
                <a:solidFill>
                  <a:srgbClr val="CFCBBE"/>
                </a:solidFill>
                <a:latin typeface="Trebuchet MS"/>
                <a:cs typeface="Trebuchet MS"/>
              </a:rPr>
              <a:t>Netc</a:t>
            </a:r>
            <a:r>
              <a:rPr lang="en-US" sz="1350" spc="-25" dirty="0" err="1">
                <a:solidFill>
                  <a:srgbClr val="CFCBBE"/>
                </a:solidFill>
                <a:latin typeface="Trebuchet MS"/>
                <a:cs typeface="Trebuchet MS"/>
              </a:rPr>
              <a:t>a</a:t>
            </a:r>
            <a:r>
              <a:rPr sz="1350" spc="-25" dirty="0" err="1">
                <a:solidFill>
                  <a:srgbClr val="CFCBBE"/>
                </a:solidFill>
                <a:latin typeface="Trebuchet MS"/>
                <a:cs typeface="Trebuchet MS"/>
              </a:rPr>
              <a:t>t</a:t>
            </a:r>
            <a:r>
              <a:rPr sz="1350" spc="-25" dirty="0">
                <a:solidFill>
                  <a:srgbClr val="CFCBBE"/>
                </a:solidFill>
                <a:latin typeface="Trebuchet MS"/>
                <a:cs typeface="Trebuchet MS"/>
              </a:rPr>
              <a:t> </a:t>
            </a:r>
            <a:r>
              <a:rPr sz="1350" dirty="0">
                <a:solidFill>
                  <a:srgbClr val="CFCBBE"/>
                </a:solidFill>
                <a:latin typeface="Trebuchet MS"/>
                <a:cs typeface="Trebuchet MS"/>
              </a:rPr>
              <a:t>to</a:t>
            </a:r>
            <a:r>
              <a:rPr sz="1350" spc="55" dirty="0">
                <a:solidFill>
                  <a:srgbClr val="CFCBBE"/>
                </a:solidFill>
                <a:latin typeface="Trebuchet MS"/>
                <a:cs typeface="Trebuchet MS"/>
              </a:rPr>
              <a:t> </a:t>
            </a:r>
            <a:r>
              <a:rPr sz="1350" dirty="0">
                <a:solidFill>
                  <a:srgbClr val="CFCBBE"/>
                </a:solidFill>
                <a:latin typeface="Trebuchet MS"/>
                <a:cs typeface="Trebuchet MS"/>
              </a:rPr>
              <a:t>connect</a:t>
            </a:r>
            <a:r>
              <a:rPr sz="1350" spc="55" dirty="0">
                <a:solidFill>
                  <a:srgbClr val="CFCBBE"/>
                </a:solidFill>
                <a:latin typeface="Trebuchet MS"/>
                <a:cs typeface="Trebuchet MS"/>
              </a:rPr>
              <a:t> </a:t>
            </a:r>
            <a:r>
              <a:rPr sz="1350" spc="-10" dirty="0">
                <a:solidFill>
                  <a:srgbClr val="CFCBBE"/>
                </a:solidFill>
                <a:latin typeface="Trebuchet MS"/>
                <a:cs typeface="Trebuchet MS"/>
              </a:rPr>
              <a:t>directly.</a:t>
            </a:r>
            <a:endParaRPr sz="1350" dirty="0">
              <a:latin typeface="Trebuchet MS"/>
              <a:cs typeface="Trebuchet MS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578725" y="3506787"/>
            <a:ext cx="2854960" cy="875176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spc="295" dirty="0">
                <a:solidFill>
                  <a:srgbClr val="CFCBBE"/>
                </a:solidFill>
                <a:latin typeface="Calibri"/>
                <a:cs typeface="Calibri"/>
              </a:rPr>
              <a:t>SUCCESS!</a:t>
            </a:r>
            <a:endParaRPr sz="1650" dirty="0">
              <a:latin typeface="Calibri"/>
              <a:cs typeface="Calibri"/>
            </a:endParaRPr>
          </a:p>
          <a:p>
            <a:pPr marL="12700" marR="5080">
              <a:lnSpc>
                <a:spcPct val="134300"/>
              </a:lnSpc>
              <a:spcBef>
                <a:spcPts val="615"/>
              </a:spcBef>
            </a:pPr>
            <a:r>
              <a:rPr sz="1350" dirty="0">
                <a:solidFill>
                  <a:srgbClr val="CFCBBE"/>
                </a:solidFill>
                <a:latin typeface="Trebuchet MS"/>
                <a:cs typeface="Trebuchet MS"/>
              </a:rPr>
              <a:t>Connection</a:t>
            </a:r>
            <a:r>
              <a:rPr sz="1350" spc="140" dirty="0">
                <a:solidFill>
                  <a:srgbClr val="CFCBBE"/>
                </a:solidFill>
                <a:latin typeface="Trebuchet MS"/>
                <a:cs typeface="Trebuchet MS"/>
              </a:rPr>
              <a:t> </a:t>
            </a:r>
            <a:r>
              <a:rPr sz="1350" spc="-20" dirty="0">
                <a:solidFill>
                  <a:srgbClr val="CFCBBE"/>
                </a:solidFill>
                <a:latin typeface="Trebuchet MS"/>
                <a:cs typeface="Trebuchet MS"/>
              </a:rPr>
              <a:t>est</a:t>
            </a:r>
            <a:r>
              <a:rPr lang="en-US" sz="1350" spc="-20" dirty="0">
                <a:solidFill>
                  <a:srgbClr val="CFCBBE"/>
                </a:solidFill>
                <a:latin typeface="Trebuchet MS"/>
                <a:cs typeface="Trebuchet MS"/>
              </a:rPr>
              <a:t>a</a:t>
            </a:r>
            <a:r>
              <a:rPr sz="1350" spc="-20" dirty="0">
                <a:solidFill>
                  <a:srgbClr val="CFCBBE"/>
                </a:solidFill>
                <a:latin typeface="Trebuchet MS"/>
                <a:cs typeface="Trebuchet MS"/>
              </a:rPr>
              <a:t>blished,</a:t>
            </a:r>
            <a:r>
              <a:rPr sz="1350" spc="140" dirty="0">
                <a:solidFill>
                  <a:srgbClr val="CFCBBE"/>
                </a:solidFill>
                <a:latin typeface="Trebuchet MS"/>
                <a:cs typeface="Trebuchet MS"/>
              </a:rPr>
              <a:t> </a:t>
            </a:r>
            <a:r>
              <a:rPr sz="1350" dirty="0">
                <a:solidFill>
                  <a:srgbClr val="CFCBBE"/>
                </a:solidFill>
                <a:latin typeface="Trebuchet MS"/>
                <a:cs typeface="Trebuchet MS"/>
              </a:rPr>
              <a:t>providing</a:t>
            </a:r>
            <a:r>
              <a:rPr sz="1350" spc="145" dirty="0">
                <a:solidFill>
                  <a:srgbClr val="CFCBBE"/>
                </a:solidFill>
                <a:latin typeface="Trebuchet MS"/>
                <a:cs typeface="Trebuchet MS"/>
              </a:rPr>
              <a:t> </a:t>
            </a:r>
            <a:r>
              <a:rPr lang="en-US" sz="1350" spc="-130" dirty="0">
                <a:solidFill>
                  <a:srgbClr val="CFCBBE"/>
                </a:solidFill>
                <a:latin typeface="Trebuchet MS"/>
                <a:cs typeface="Trebuchet MS"/>
              </a:rPr>
              <a:t>a</a:t>
            </a:r>
            <a:r>
              <a:rPr sz="1350" spc="-130" dirty="0">
                <a:solidFill>
                  <a:srgbClr val="CFCBBE"/>
                </a:solidFill>
                <a:latin typeface="Trebuchet MS"/>
                <a:cs typeface="Trebuchet MS"/>
              </a:rPr>
              <a:t> </a:t>
            </a:r>
            <a:r>
              <a:rPr sz="1350" dirty="0">
                <a:solidFill>
                  <a:srgbClr val="CFCBBE"/>
                </a:solidFill>
                <a:latin typeface="Trebuchet MS"/>
                <a:cs typeface="Trebuchet MS"/>
              </a:rPr>
              <a:t>root</a:t>
            </a:r>
            <a:r>
              <a:rPr sz="1350" spc="-50" dirty="0">
                <a:solidFill>
                  <a:srgbClr val="CFCBBE"/>
                </a:solidFill>
                <a:latin typeface="Trebuchet MS"/>
                <a:cs typeface="Trebuchet MS"/>
              </a:rPr>
              <a:t> </a:t>
            </a:r>
            <a:r>
              <a:rPr sz="1350" dirty="0">
                <a:solidFill>
                  <a:srgbClr val="CFCBBE"/>
                </a:solidFill>
                <a:latin typeface="Trebuchet MS"/>
                <a:cs typeface="Trebuchet MS"/>
              </a:rPr>
              <a:t>shell</a:t>
            </a:r>
            <a:r>
              <a:rPr sz="1350" spc="-90" dirty="0">
                <a:solidFill>
                  <a:srgbClr val="CFCBBE"/>
                </a:solidFill>
                <a:latin typeface="Trebuchet MS"/>
                <a:cs typeface="Trebuchet MS"/>
              </a:rPr>
              <a:t> </a:t>
            </a:r>
            <a:r>
              <a:rPr sz="1350" spc="55" dirty="0">
                <a:solidFill>
                  <a:srgbClr val="CFCBBE"/>
                </a:solidFill>
                <a:latin typeface="Trebuchet MS"/>
                <a:cs typeface="Trebuchet MS"/>
              </a:rPr>
              <a:t>on</a:t>
            </a:r>
            <a:r>
              <a:rPr sz="1350" spc="-45" dirty="0">
                <a:solidFill>
                  <a:srgbClr val="CFCBBE"/>
                </a:solidFill>
                <a:latin typeface="Trebuchet MS"/>
                <a:cs typeface="Trebuchet MS"/>
              </a:rPr>
              <a:t> </a:t>
            </a:r>
            <a:r>
              <a:rPr sz="1350" dirty="0">
                <a:solidFill>
                  <a:srgbClr val="CFCBBE"/>
                </a:solidFill>
                <a:latin typeface="Trebuchet MS"/>
                <a:cs typeface="Trebuchet MS"/>
              </a:rPr>
              <a:t>the</a:t>
            </a:r>
            <a:r>
              <a:rPr sz="1350" spc="-45" dirty="0">
                <a:solidFill>
                  <a:srgbClr val="CFCBBE"/>
                </a:solidFill>
                <a:latin typeface="Trebuchet MS"/>
                <a:cs typeface="Trebuchet MS"/>
              </a:rPr>
              <a:t> t</a:t>
            </a:r>
            <a:r>
              <a:rPr lang="en-US" sz="1350" spc="-45" dirty="0">
                <a:solidFill>
                  <a:srgbClr val="CFCBBE"/>
                </a:solidFill>
                <a:latin typeface="Trebuchet MS"/>
                <a:cs typeface="Trebuchet MS"/>
              </a:rPr>
              <a:t>a</a:t>
            </a:r>
            <a:r>
              <a:rPr sz="1350" spc="-45" dirty="0">
                <a:solidFill>
                  <a:srgbClr val="CFCBBE"/>
                </a:solidFill>
                <a:latin typeface="Trebuchet MS"/>
                <a:cs typeface="Trebuchet MS"/>
              </a:rPr>
              <a:t>rget </a:t>
            </a:r>
            <a:r>
              <a:rPr sz="1350" spc="-10" dirty="0">
                <a:solidFill>
                  <a:srgbClr val="CFCBBE"/>
                </a:solidFill>
                <a:latin typeface="Trebuchet MS"/>
                <a:cs typeface="Trebuchet MS"/>
              </a:rPr>
              <a:t>m</a:t>
            </a:r>
            <a:r>
              <a:rPr lang="en-US" sz="1350" spc="-10" dirty="0">
                <a:solidFill>
                  <a:srgbClr val="CFCBBE"/>
                </a:solidFill>
                <a:latin typeface="Trebuchet MS"/>
                <a:cs typeface="Trebuchet MS"/>
              </a:rPr>
              <a:t>a</a:t>
            </a:r>
            <a:r>
              <a:rPr sz="1350" spc="-10" dirty="0">
                <a:solidFill>
                  <a:srgbClr val="CFCBBE"/>
                </a:solidFill>
                <a:latin typeface="Trebuchet MS"/>
                <a:cs typeface="Trebuchet MS"/>
              </a:rPr>
              <a:t>chine.</a:t>
            </a:r>
            <a:endParaRPr sz="1350" dirty="0">
              <a:latin typeface="Trebuchet MS"/>
              <a:cs typeface="Trebuchet MS"/>
            </a:endParaRPr>
          </a:p>
        </p:txBody>
      </p:sp>
      <p:pic>
        <p:nvPicPr>
          <p:cNvPr id="15" name="object 15">
            <a:hlinkClick r:id="rId5"/>
          </p:cNvPr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580244" y="5926073"/>
            <a:ext cx="1754504" cy="4191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53"/>
            <a:ext cx="11430000" cy="2142871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533400" y="2273616"/>
            <a:ext cx="8236584" cy="5397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350" spc="295" dirty="0">
                <a:solidFill>
                  <a:srgbClr val="F2E781"/>
                </a:solidFill>
                <a:latin typeface="Calibri"/>
                <a:cs typeface="Calibri"/>
              </a:rPr>
              <a:t>Post-</a:t>
            </a:r>
            <a:r>
              <a:rPr sz="3350" spc="250" dirty="0">
                <a:solidFill>
                  <a:srgbClr val="F2E781"/>
                </a:solidFill>
                <a:latin typeface="Calibri"/>
                <a:cs typeface="Calibri"/>
              </a:rPr>
              <a:t>Exploitation:</a:t>
            </a:r>
            <a:r>
              <a:rPr sz="3350" spc="60" dirty="0">
                <a:solidFill>
                  <a:srgbClr val="F2E781"/>
                </a:solidFill>
                <a:latin typeface="Calibri"/>
                <a:cs typeface="Calibri"/>
              </a:rPr>
              <a:t> </a:t>
            </a:r>
            <a:r>
              <a:rPr sz="3350" spc="295" dirty="0">
                <a:solidFill>
                  <a:srgbClr val="F2E781"/>
                </a:solidFill>
                <a:latin typeface="Calibri"/>
                <a:cs typeface="Calibri"/>
              </a:rPr>
              <a:t>Proof</a:t>
            </a:r>
            <a:r>
              <a:rPr sz="3350" spc="65" dirty="0">
                <a:solidFill>
                  <a:srgbClr val="F2E781"/>
                </a:solidFill>
                <a:latin typeface="Calibri"/>
                <a:cs typeface="Calibri"/>
              </a:rPr>
              <a:t> </a:t>
            </a:r>
            <a:r>
              <a:rPr sz="3350" spc="195" dirty="0">
                <a:solidFill>
                  <a:srgbClr val="F2E781"/>
                </a:solidFill>
                <a:latin typeface="Calibri"/>
                <a:cs typeface="Calibri"/>
              </a:rPr>
              <a:t>of</a:t>
            </a:r>
            <a:r>
              <a:rPr sz="3350" spc="65" dirty="0">
                <a:solidFill>
                  <a:srgbClr val="F2E781"/>
                </a:solidFill>
                <a:latin typeface="Calibri"/>
                <a:cs typeface="Calibri"/>
              </a:rPr>
              <a:t> </a:t>
            </a:r>
            <a:r>
              <a:rPr sz="3350" spc="345" dirty="0">
                <a:solidFill>
                  <a:srgbClr val="F2E781"/>
                </a:solidFill>
                <a:latin typeface="Calibri"/>
                <a:cs typeface="Calibri"/>
              </a:rPr>
              <a:t>Compromise</a:t>
            </a:r>
            <a:endParaRPr sz="3350" dirty="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33400" y="2813366"/>
            <a:ext cx="9387205" cy="22057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dirty="0">
                <a:solidFill>
                  <a:srgbClr val="CFCBBE"/>
                </a:solidFill>
                <a:latin typeface="Trebuchet MS"/>
                <a:cs typeface="Trebuchet MS"/>
              </a:rPr>
              <a:t>From</a:t>
            </a:r>
            <a:r>
              <a:rPr sz="1350" spc="40" dirty="0">
                <a:solidFill>
                  <a:srgbClr val="CFCBBE"/>
                </a:solidFill>
                <a:latin typeface="Trebuchet MS"/>
                <a:cs typeface="Trebuchet MS"/>
              </a:rPr>
              <a:t> </a:t>
            </a:r>
            <a:r>
              <a:rPr sz="1350" dirty="0">
                <a:solidFill>
                  <a:srgbClr val="CFCBBE"/>
                </a:solidFill>
                <a:latin typeface="Trebuchet MS"/>
                <a:cs typeface="Trebuchet MS"/>
              </a:rPr>
              <a:t>the</a:t>
            </a:r>
            <a:r>
              <a:rPr sz="1350" spc="40" dirty="0">
                <a:solidFill>
                  <a:srgbClr val="CFCBBE"/>
                </a:solidFill>
                <a:latin typeface="Trebuchet MS"/>
                <a:cs typeface="Trebuchet MS"/>
              </a:rPr>
              <a:t> </a:t>
            </a:r>
            <a:r>
              <a:rPr sz="1350" dirty="0">
                <a:solidFill>
                  <a:srgbClr val="CFCBBE"/>
                </a:solidFill>
                <a:latin typeface="Trebuchet MS"/>
                <a:cs typeface="Trebuchet MS"/>
              </a:rPr>
              <a:t>est</a:t>
            </a:r>
            <a:r>
              <a:rPr lang="en-US" sz="1350" dirty="0">
                <a:solidFill>
                  <a:srgbClr val="CFCBBE"/>
                </a:solidFill>
                <a:latin typeface="Trebuchet MS"/>
                <a:cs typeface="Trebuchet MS"/>
              </a:rPr>
              <a:t>a</a:t>
            </a:r>
            <a:r>
              <a:rPr sz="1350" dirty="0">
                <a:solidFill>
                  <a:srgbClr val="CFCBBE"/>
                </a:solidFill>
                <a:latin typeface="Trebuchet MS"/>
                <a:cs typeface="Trebuchet MS"/>
              </a:rPr>
              <a:t>blished</a:t>
            </a:r>
            <a:r>
              <a:rPr sz="1350" spc="40" dirty="0">
                <a:solidFill>
                  <a:srgbClr val="CFCBBE"/>
                </a:solidFill>
                <a:latin typeface="Trebuchet MS"/>
                <a:cs typeface="Trebuchet MS"/>
              </a:rPr>
              <a:t> </a:t>
            </a:r>
            <a:r>
              <a:rPr sz="1350" spc="-25" dirty="0" err="1">
                <a:solidFill>
                  <a:srgbClr val="CFCBBE"/>
                </a:solidFill>
                <a:latin typeface="Trebuchet MS"/>
                <a:cs typeface="Trebuchet MS"/>
              </a:rPr>
              <a:t>Netc</a:t>
            </a:r>
            <a:r>
              <a:rPr lang="en-US" sz="1350" spc="-25" dirty="0" err="1">
                <a:solidFill>
                  <a:srgbClr val="CFCBBE"/>
                </a:solidFill>
                <a:latin typeface="Trebuchet MS"/>
                <a:cs typeface="Trebuchet MS"/>
              </a:rPr>
              <a:t>a</a:t>
            </a:r>
            <a:r>
              <a:rPr sz="1350" spc="-25" dirty="0" err="1">
                <a:solidFill>
                  <a:srgbClr val="CFCBBE"/>
                </a:solidFill>
                <a:latin typeface="Trebuchet MS"/>
                <a:cs typeface="Trebuchet MS"/>
              </a:rPr>
              <a:t>t</a:t>
            </a:r>
            <a:r>
              <a:rPr sz="1350" spc="40" dirty="0">
                <a:solidFill>
                  <a:srgbClr val="CFCBBE"/>
                </a:solidFill>
                <a:latin typeface="Trebuchet MS"/>
                <a:cs typeface="Trebuchet MS"/>
              </a:rPr>
              <a:t> </a:t>
            </a:r>
            <a:r>
              <a:rPr sz="1350" dirty="0">
                <a:solidFill>
                  <a:srgbClr val="CFCBBE"/>
                </a:solidFill>
                <a:latin typeface="Trebuchet MS"/>
                <a:cs typeface="Trebuchet MS"/>
              </a:rPr>
              <a:t>session,</a:t>
            </a:r>
            <a:r>
              <a:rPr sz="1350" spc="40" dirty="0">
                <a:solidFill>
                  <a:srgbClr val="CFCBBE"/>
                </a:solidFill>
                <a:latin typeface="Trebuchet MS"/>
                <a:cs typeface="Trebuchet MS"/>
              </a:rPr>
              <a:t> </a:t>
            </a:r>
            <a:r>
              <a:rPr sz="1350" dirty="0">
                <a:solidFill>
                  <a:srgbClr val="CFCBBE"/>
                </a:solidFill>
                <a:latin typeface="Trebuchet MS"/>
                <a:cs typeface="Trebuchet MS"/>
              </a:rPr>
              <a:t>comm</a:t>
            </a:r>
            <a:r>
              <a:rPr lang="en-US" sz="1350" dirty="0">
                <a:solidFill>
                  <a:srgbClr val="CFCBBE"/>
                </a:solidFill>
                <a:latin typeface="Trebuchet MS"/>
                <a:cs typeface="Trebuchet MS"/>
              </a:rPr>
              <a:t>a</a:t>
            </a:r>
            <a:r>
              <a:rPr sz="1350" dirty="0">
                <a:solidFill>
                  <a:srgbClr val="CFCBBE"/>
                </a:solidFill>
                <a:latin typeface="Trebuchet MS"/>
                <a:cs typeface="Trebuchet MS"/>
              </a:rPr>
              <a:t>nds</a:t>
            </a:r>
            <a:r>
              <a:rPr sz="1350" spc="-10" dirty="0">
                <a:solidFill>
                  <a:srgbClr val="CFCBBE"/>
                </a:solidFill>
                <a:latin typeface="Trebuchet MS"/>
                <a:cs typeface="Trebuchet MS"/>
              </a:rPr>
              <a:t> </a:t>
            </a:r>
            <a:r>
              <a:rPr sz="1350" dirty="0">
                <a:solidFill>
                  <a:srgbClr val="CFCBBE"/>
                </a:solidFill>
                <a:latin typeface="Trebuchet MS"/>
                <a:cs typeface="Trebuchet MS"/>
              </a:rPr>
              <a:t>were</a:t>
            </a:r>
            <a:r>
              <a:rPr sz="1350" spc="40" dirty="0">
                <a:solidFill>
                  <a:srgbClr val="CFCBBE"/>
                </a:solidFill>
                <a:latin typeface="Trebuchet MS"/>
                <a:cs typeface="Trebuchet MS"/>
              </a:rPr>
              <a:t> </a:t>
            </a:r>
            <a:r>
              <a:rPr sz="1350" dirty="0">
                <a:solidFill>
                  <a:srgbClr val="CFCBBE"/>
                </a:solidFill>
                <a:latin typeface="Trebuchet MS"/>
                <a:cs typeface="Trebuchet MS"/>
              </a:rPr>
              <a:t>executed</a:t>
            </a:r>
            <a:r>
              <a:rPr sz="1350" spc="40" dirty="0">
                <a:solidFill>
                  <a:srgbClr val="CFCBBE"/>
                </a:solidFill>
                <a:latin typeface="Trebuchet MS"/>
                <a:cs typeface="Trebuchet MS"/>
              </a:rPr>
              <a:t> </a:t>
            </a:r>
            <a:r>
              <a:rPr sz="1350" dirty="0">
                <a:solidFill>
                  <a:srgbClr val="CFCBBE"/>
                </a:solidFill>
                <a:latin typeface="Trebuchet MS"/>
                <a:cs typeface="Trebuchet MS"/>
              </a:rPr>
              <a:t>to</a:t>
            </a:r>
            <a:r>
              <a:rPr sz="1350" spc="40" dirty="0">
                <a:solidFill>
                  <a:srgbClr val="CFCBBE"/>
                </a:solidFill>
                <a:latin typeface="Trebuchet MS"/>
                <a:cs typeface="Trebuchet MS"/>
              </a:rPr>
              <a:t> </a:t>
            </a:r>
            <a:r>
              <a:rPr sz="1350" dirty="0">
                <a:solidFill>
                  <a:srgbClr val="CFCBBE"/>
                </a:solidFill>
                <a:latin typeface="Trebuchet MS"/>
                <a:cs typeface="Trebuchet MS"/>
              </a:rPr>
              <a:t>confirm</a:t>
            </a:r>
            <a:r>
              <a:rPr sz="1350" spc="40" dirty="0">
                <a:solidFill>
                  <a:srgbClr val="CFCBBE"/>
                </a:solidFill>
                <a:latin typeface="Trebuchet MS"/>
                <a:cs typeface="Trebuchet MS"/>
              </a:rPr>
              <a:t> </a:t>
            </a:r>
            <a:r>
              <a:rPr sz="1350" dirty="0">
                <a:solidFill>
                  <a:srgbClr val="CFCBBE"/>
                </a:solidFill>
                <a:latin typeface="Trebuchet MS"/>
                <a:cs typeface="Trebuchet MS"/>
              </a:rPr>
              <a:t>root</a:t>
            </a:r>
            <a:r>
              <a:rPr sz="1350" spc="40" dirty="0">
                <a:solidFill>
                  <a:srgbClr val="CFCBBE"/>
                </a:solidFill>
                <a:latin typeface="Trebuchet MS"/>
                <a:cs typeface="Trebuchet MS"/>
              </a:rPr>
              <a:t> </a:t>
            </a:r>
            <a:r>
              <a:rPr lang="en-US" sz="1350" spc="40" dirty="0">
                <a:solidFill>
                  <a:srgbClr val="CFCBBE"/>
                </a:solidFill>
                <a:latin typeface="Trebuchet MS"/>
                <a:cs typeface="Trebuchet MS"/>
              </a:rPr>
              <a:t>su</a:t>
            </a:r>
            <a:r>
              <a:rPr sz="1350" dirty="0">
                <a:solidFill>
                  <a:srgbClr val="CFCBBE"/>
                </a:solidFill>
                <a:latin typeface="Trebuchet MS"/>
                <a:cs typeface="Trebuchet MS"/>
              </a:rPr>
              <a:t>ccess</a:t>
            </a:r>
            <a:r>
              <a:rPr sz="1350" spc="40" dirty="0">
                <a:solidFill>
                  <a:srgbClr val="CFCBBE"/>
                </a:solidFill>
                <a:latin typeface="Trebuchet MS"/>
                <a:cs typeface="Trebuchet MS"/>
              </a:rPr>
              <a:t> </a:t>
            </a:r>
            <a:r>
              <a:rPr lang="en-US" sz="1350" spc="-35" dirty="0">
                <a:solidFill>
                  <a:srgbClr val="CFCBBE"/>
                </a:solidFill>
                <a:latin typeface="Trebuchet MS"/>
                <a:cs typeface="Trebuchet MS"/>
              </a:rPr>
              <a:t>a</a:t>
            </a:r>
            <a:r>
              <a:rPr sz="1350" spc="-35" dirty="0">
                <a:solidFill>
                  <a:srgbClr val="CFCBBE"/>
                </a:solidFill>
                <a:latin typeface="Trebuchet MS"/>
                <a:cs typeface="Trebuchet MS"/>
              </a:rPr>
              <a:t>nd</a:t>
            </a:r>
            <a:r>
              <a:rPr sz="1350" spc="40" dirty="0">
                <a:solidFill>
                  <a:srgbClr val="CFCBBE"/>
                </a:solidFill>
                <a:latin typeface="Trebuchet MS"/>
                <a:cs typeface="Trebuchet MS"/>
              </a:rPr>
              <a:t> </a:t>
            </a:r>
            <a:r>
              <a:rPr sz="1350" spc="-25" dirty="0">
                <a:solidFill>
                  <a:srgbClr val="CFCBBE"/>
                </a:solidFill>
                <a:latin typeface="Trebuchet MS"/>
                <a:cs typeface="Trebuchet MS"/>
              </a:rPr>
              <a:t>g</a:t>
            </a:r>
            <a:r>
              <a:rPr lang="en-US" sz="1350" spc="-25" dirty="0">
                <a:solidFill>
                  <a:srgbClr val="CFCBBE"/>
                </a:solidFill>
                <a:latin typeface="Trebuchet MS"/>
                <a:cs typeface="Trebuchet MS"/>
              </a:rPr>
              <a:t>a</a:t>
            </a:r>
            <a:r>
              <a:rPr sz="1350" spc="-25" dirty="0">
                <a:solidFill>
                  <a:srgbClr val="CFCBBE"/>
                </a:solidFill>
                <a:latin typeface="Trebuchet MS"/>
                <a:cs typeface="Trebuchet MS"/>
              </a:rPr>
              <a:t>ther</a:t>
            </a:r>
            <a:r>
              <a:rPr sz="1350" dirty="0">
                <a:solidFill>
                  <a:srgbClr val="CFCBBE"/>
                </a:solidFill>
                <a:latin typeface="Trebuchet MS"/>
                <a:cs typeface="Trebuchet MS"/>
              </a:rPr>
              <a:t> system</a:t>
            </a:r>
            <a:r>
              <a:rPr sz="1350" spc="45" dirty="0">
                <a:solidFill>
                  <a:srgbClr val="CFCBBE"/>
                </a:solidFill>
                <a:latin typeface="Trebuchet MS"/>
                <a:cs typeface="Trebuchet MS"/>
              </a:rPr>
              <a:t> </a:t>
            </a:r>
            <a:r>
              <a:rPr sz="1350" spc="-10" dirty="0">
                <a:solidFill>
                  <a:srgbClr val="CFCBBE"/>
                </a:solidFill>
                <a:latin typeface="Trebuchet MS"/>
                <a:cs typeface="Trebuchet MS"/>
              </a:rPr>
              <a:t>inform</a:t>
            </a:r>
            <a:r>
              <a:rPr lang="en-US" sz="1350" spc="-10" dirty="0">
                <a:solidFill>
                  <a:srgbClr val="CFCBBE"/>
                </a:solidFill>
                <a:latin typeface="Trebuchet MS"/>
                <a:cs typeface="Trebuchet MS"/>
              </a:rPr>
              <a:t>a</a:t>
            </a:r>
            <a:r>
              <a:rPr sz="1350" spc="-10" dirty="0">
                <a:solidFill>
                  <a:srgbClr val="CFCBBE"/>
                </a:solidFill>
                <a:latin typeface="Trebuchet MS"/>
                <a:cs typeface="Trebuchet MS"/>
              </a:rPr>
              <a:t>tion.</a:t>
            </a:r>
            <a:endParaRPr sz="1350" dirty="0">
              <a:latin typeface="Trebuchet MS"/>
              <a:cs typeface="Trebuchet MS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83911" y="3616034"/>
            <a:ext cx="161925" cy="228600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1406814" y="3610796"/>
            <a:ext cx="1819275" cy="228600"/>
          </a:xfrm>
          <a:custGeom>
            <a:avLst/>
            <a:gdLst/>
            <a:ahLst/>
            <a:cxnLst/>
            <a:rect l="l" t="t" r="r" b="b"/>
            <a:pathLst>
              <a:path w="1819275" h="228600">
                <a:moveTo>
                  <a:pt x="1800682" y="0"/>
                </a:moveTo>
                <a:lnTo>
                  <a:pt x="18592" y="0"/>
                </a:lnTo>
                <a:lnTo>
                  <a:pt x="15849" y="546"/>
                </a:lnTo>
                <a:lnTo>
                  <a:pt x="0" y="18592"/>
                </a:lnTo>
                <a:lnTo>
                  <a:pt x="0" y="207175"/>
                </a:lnTo>
                <a:lnTo>
                  <a:pt x="0" y="210007"/>
                </a:lnTo>
                <a:lnTo>
                  <a:pt x="18592" y="228600"/>
                </a:lnTo>
                <a:lnTo>
                  <a:pt x="1800682" y="228600"/>
                </a:lnTo>
                <a:lnTo>
                  <a:pt x="1819275" y="210007"/>
                </a:lnTo>
                <a:lnTo>
                  <a:pt x="1819275" y="18592"/>
                </a:lnTo>
                <a:lnTo>
                  <a:pt x="1803425" y="546"/>
                </a:lnTo>
                <a:lnTo>
                  <a:pt x="1800682" y="0"/>
                </a:lnTo>
                <a:close/>
              </a:path>
            </a:pathLst>
          </a:custGeom>
          <a:solidFill>
            <a:srgbClr val="28292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590550" y="3121687"/>
            <a:ext cx="2628900" cy="71247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spc="170" dirty="0">
                <a:solidFill>
                  <a:srgbClr val="F2E781"/>
                </a:solidFill>
                <a:latin typeface="Calibri"/>
                <a:cs typeface="Calibri"/>
              </a:rPr>
              <a:t>User</a:t>
            </a:r>
            <a:r>
              <a:rPr sz="1650" spc="40" dirty="0">
                <a:solidFill>
                  <a:srgbClr val="F2E781"/>
                </a:solidFill>
                <a:latin typeface="Calibri"/>
                <a:cs typeface="Calibri"/>
              </a:rPr>
              <a:t> </a:t>
            </a:r>
            <a:r>
              <a:rPr sz="1650" spc="295" dirty="0">
                <a:solidFill>
                  <a:srgbClr val="F2E781"/>
                </a:solidFill>
                <a:latin typeface="Calibri"/>
                <a:cs typeface="Calibri"/>
              </a:rPr>
              <a:t>ID</a:t>
            </a:r>
            <a:endParaRPr sz="165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770"/>
              </a:spcBef>
            </a:pPr>
            <a:r>
              <a:rPr sz="1350" dirty="0">
                <a:solidFill>
                  <a:srgbClr val="CFCBBE"/>
                </a:solidFill>
                <a:latin typeface="Tahoma"/>
                <a:cs typeface="Tahoma"/>
              </a:rPr>
              <a:t>id</a:t>
            </a:r>
            <a:r>
              <a:rPr sz="1350" spc="-50" dirty="0">
                <a:solidFill>
                  <a:srgbClr val="CFCBBE"/>
                </a:solidFill>
                <a:latin typeface="Tahoma"/>
                <a:cs typeface="Tahoma"/>
              </a:rPr>
              <a:t> </a:t>
            </a:r>
            <a:r>
              <a:rPr sz="1350" spc="-20" dirty="0">
                <a:solidFill>
                  <a:srgbClr val="CFCBBE"/>
                </a:solidFill>
                <a:latin typeface="Trebuchet MS"/>
                <a:cs typeface="Trebuchet MS"/>
              </a:rPr>
              <a:t>output:</a:t>
            </a:r>
            <a:r>
              <a:rPr sz="1350" spc="-30" dirty="0">
                <a:solidFill>
                  <a:srgbClr val="CFCBBE"/>
                </a:solidFill>
                <a:latin typeface="Trebuchet MS"/>
                <a:cs typeface="Trebuchet MS"/>
              </a:rPr>
              <a:t> </a:t>
            </a:r>
            <a:r>
              <a:rPr sz="1350" dirty="0">
                <a:solidFill>
                  <a:srgbClr val="CFCBBE"/>
                </a:solidFill>
                <a:latin typeface="Tahoma"/>
                <a:cs typeface="Tahoma"/>
              </a:rPr>
              <a:t>uid=0(root)</a:t>
            </a:r>
            <a:r>
              <a:rPr sz="1350" spc="-45" dirty="0">
                <a:solidFill>
                  <a:srgbClr val="CFCBBE"/>
                </a:solidFill>
                <a:latin typeface="Tahoma"/>
                <a:cs typeface="Tahoma"/>
              </a:rPr>
              <a:t> </a:t>
            </a:r>
            <a:r>
              <a:rPr sz="1350" spc="-10" dirty="0">
                <a:solidFill>
                  <a:srgbClr val="CFCBBE"/>
                </a:solidFill>
                <a:latin typeface="Tahoma"/>
                <a:cs typeface="Tahoma"/>
              </a:rPr>
              <a:t>gid=0(root)</a:t>
            </a:r>
            <a:endParaRPr sz="1350" dirty="0">
              <a:latin typeface="Tahoma"/>
              <a:cs typeface="Tahom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4132434" y="3629011"/>
            <a:ext cx="657225" cy="228600"/>
          </a:xfrm>
          <a:custGeom>
            <a:avLst/>
            <a:gdLst/>
            <a:ahLst/>
            <a:cxnLst/>
            <a:rect l="l" t="t" r="r" b="b"/>
            <a:pathLst>
              <a:path w="657225" h="228600">
                <a:moveTo>
                  <a:pt x="638632" y="0"/>
                </a:moveTo>
                <a:lnTo>
                  <a:pt x="18592" y="0"/>
                </a:lnTo>
                <a:lnTo>
                  <a:pt x="15849" y="546"/>
                </a:lnTo>
                <a:lnTo>
                  <a:pt x="0" y="18592"/>
                </a:lnTo>
                <a:lnTo>
                  <a:pt x="0" y="207175"/>
                </a:lnTo>
                <a:lnTo>
                  <a:pt x="0" y="210007"/>
                </a:lnTo>
                <a:lnTo>
                  <a:pt x="18592" y="228600"/>
                </a:lnTo>
                <a:lnTo>
                  <a:pt x="638632" y="228600"/>
                </a:lnTo>
                <a:lnTo>
                  <a:pt x="657225" y="210007"/>
                </a:lnTo>
                <a:lnTo>
                  <a:pt x="657225" y="18592"/>
                </a:lnTo>
                <a:lnTo>
                  <a:pt x="641375" y="546"/>
                </a:lnTo>
                <a:lnTo>
                  <a:pt x="638632" y="0"/>
                </a:lnTo>
                <a:close/>
              </a:path>
            </a:pathLst>
          </a:custGeom>
          <a:solidFill>
            <a:srgbClr val="28292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5444110" y="3655041"/>
            <a:ext cx="352425" cy="228600"/>
          </a:xfrm>
          <a:custGeom>
            <a:avLst/>
            <a:gdLst/>
            <a:ahLst/>
            <a:cxnLst/>
            <a:rect l="l" t="t" r="r" b="b"/>
            <a:pathLst>
              <a:path w="352425" h="228600">
                <a:moveTo>
                  <a:pt x="333832" y="0"/>
                </a:moveTo>
                <a:lnTo>
                  <a:pt x="18592" y="0"/>
                </a:lnTo>
                <a:lnTo>
                  <a:pt x="15849" y="546"/>
                </a:lnTo>
                <a:lnTo>
                  <a:pt x="0" y="18592"/>
                </a:lnTo>
                <a:lnTo>
                  <a:pt x="0" y="207175"/>
                </a:lnTo>
                <a:lnTo>
                  <a:pt x="0" y="210007"/>
                </a:lnTo>
                <a:lnTo>
                  <a:pt x="18592" y="228600"/>
                </a:lnTo>
                <a:lnTo>
                  <a:pt x="333832" y="228600"/>
                </a:lnTo>
                <a:lnTo>
                  <a:pt x="352425" y="210007"/>
                </a:lnTo>
                <a:lnTo>
                  <a:pt x="352425" y="18592"/>
                </a:lnTo>
                <a:lnTo>
                  <a:pt x="336575" y="546"/>
                </a:lnTo>
                <a:lnTo>
                  <a:pt x="333832" y="0"/>
                </a:lnTo>
                <a:close/>
              </a:path>
            </a:pathLst>
          </a:custGeom>
          <a:solidFill>
            <a:srgbClr val="28292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4150068" y="3121687"/>
            <a:ext cx="1647189" cy="71247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spc="170" dirty="0">
                <a:solidFill>
                  <a:srgbClr val="F2E781"/>
                </a:solidFill>
                <a:latin typeface="Calibri"/>
                <a:cs typeface="Calibri"/>
              </a:rPr>
              <a:t>Current</a:t>
            </a:r>
            <a:r>
              <a:rPr sz="1650" spc="60" dirty="0">
                <a:solidFill>
                  <a:srgbClr val="F2E781"/>
                </a:solidFill>
                <a:latin typeface="Calibri"/>
                <a:cs typeface="Calibri"/>
              </a:rPr>
              <a:t> </a:t>
            </a:r>
            <a:r>
              <a:rPr sz="1650" spc="150" dirty="0">
                <a:solidFill>
                  <a:srgbClr val="F2E781"/>
                </a:solidFill>
                <a:latin typeface="Calibri"/>
                <a:cs typeface="Calibri"/>
              </a:rPr>
              <a:t>User</a:t>
            </a:r>
            <a:endParaRPr sz="16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770"/>
              </a:spcBef>
            </a:pPr>
            <a:r>
              <a:rPr sz="1350" spc="55" dirty="0">
                <a:solidFill>
                  <a:srgbClr val="CFCBBE"/>
                </a:solidFill>
                <a:latin typeface="Tahoma"/>
                <a:cs typeface="Tahoma"/>
              </a:rPr>
              <a:t>whoami</a:t>
            </a:r>
            <a:r>
              <a:rPr sz="1350" spc="-65" dirty="0">
                <a:solidFill>
                  <a:srgbClr val="CFCBBE"/>
                </a:solidFill>
                <a:latin typeface="Tahoma"/>
                <a:cs typeface="Tahoma"/>
              </a:rPr>
              <a:t> </a:t>
            </a:r>
            <a:r>
              <a:rPr sz="1350" spc="-20" dirty="0">
                <a:solidFill>
                  <a:srgbClr val="CFCBBE"/>
                </a:solidFill>
                <a:latin typeface="Trebuchet MS"/>
                <a:cs typeface="Trebuchet MS"/>
              </a:rPr>
              <a:t>output:</a:t>
            </a:r>
            <a:r>
              <a:rPr sz="1350" spc="-55" dirty="0">
                <a:solidFill>
                  <a:srgbClr val="CFCBBE"/>
                </a:solidFill>
                <a:latin typeface="Trebuchet MS"/>
                <a:cs typeface="Trebuchet MS"/>
              </a:rPr>
              <a:t> </a:t>
            </a:r>
            <a:r>
              <a:rPr sz="1350" spc="35" dirty="0">
                <a:solidFill>
                  <a:srgbClr val="CFCBBE"/>
                </a:solidFill>
                <a:latin typeface="Tahoma"/>
                <a:cs typeface="Tahoma"/>
              </a:rPr>
              <a:t>root</a:t>
            </a:r>
            <a:endParaRPr sz="1350">
              <a:latin typeface="Tahoma"/>
              <a:cs typeface="Tahoma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7707835" y="3629011"/>
            <a:ext cx="781050" cy="228600"/>
          </a:xfrm>
          <a:custGeom>
            <a:avLst/>
            <a:gdLst/>
            <a:ahLst/>
            <a:cxnLst/>
            <a:rect l="l" t="t" r="r" b="b"/>
            <a:pathLst>
              <a:path w="781050" h="228600">
                <a:moveTo>
                  <a:pt x="762457" y="0"/>
                </a:moveTo>
                <a:lnTo>
                  <a:pt x="18592" y="0"/>
                </a:lnTo>
                <a:lnTo>
                  <a:pt x="15849" y="546"/>
                </a:lnTo>
                <a:lnTo>
                  <a:pt x="0" y="18592"/>
                </a:lnTo>
                <a:lnTo>
                  <a:pt x="0" y="207175"/>
                </a:lnTo>
                <a:lnTo>
                  <a:pt x="0" y="210007"/>
                </a:lnTo>
                <a:lnTo>
                  <a:pt x="18592" y="228600"/>
                </a:lnTo>
                <a:lnTo>
                  <a:pt x="762457" y="228600"/>
                </a:lnTo>
                <a:lnTo>
                  <a:pt x="781050" y="210007"/>
                </a:lnTo>
                <a:lnTo>
                  <a:pt x="781050" y="18592"/>
                </a:lnTo>
                <a:lnTo>
                  <a:pt x="765200" y="546"/>
                </a:lnTo>
                <a:lnTo>
                  <a:pt x="762457" y="0"/>
                </a:lnTo>
                <a:close/>
              </a:path>
            </a:pathLst>
          </a:custGeom>
          <a:solidFill>
            <a:srgbClr val="28292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7708557" y="3121687"/>
            <a:ext cx="1852930" cy="98869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spc="150" dirty="0">
                <a:solidFill>
                  <a:srgbClr val="F2E781"/>
                </a:solidFill>
                <a:latin typeface="Calibri"/>
                <a:cs typeface="Calibri"/>
              </a:rPr>
              <a:t>System</a:t>
            </a:r>
            <a:r>
              <a:rPr sz="1650" spc="55" dirty="0">
                <a:solidFill>
                  <a:srgbClr val="F2E781"/>
                </a:solidFill>
                <a:latin typeface="Calibri"/>
                <a:cs typeface="Calibri"/>
              </a:rPr>
              <a:t> </a:t>
            </a:r>
            <a:r>
              <a:rPr sz="1650" spc="130" dirty="0">
                <a:solidFill>
                  <a:srgbClr val="F2E781"/>
                </a:solidFill>
                <a:latin typeface="Calibri"/>
                <a:cs typeface="Calibri"/>
              </a:rPr>
              <a:t>Info</a:t>
            </a:r>
            <a:endParaRPr sz="1650" dirty="0">
              <a:latin typeface="Calibri"/>
              <a:cs typeface="Calibri"/>
            </a:endParaRPr>
          </a:p>
          <a:p>
            <a:pPr marL="12700" marR="5080">
              <a:lnSpc>
                <a:spcPct val="134300"/>
              </a:lnSpc>
              <a:spcBef>
                <a:spcPts val="1215"/>
              </a:spcBef>
            </a:pPr>
            <a:r>
              <a:rPr sz="1350" spc="65" dirty="0">
                <a:solidFill>
                  <a:srgbClr val="CFCBBE"/>
                </a:solidFill>
                <a:latin typeface="Tahoma"/>
                <a:cs typeface="Tahoma"/>
              </a:rPr>
              <a:t>uname</a:t>
            </a:r>
            <a:r>
              <a:rPr sz="1350" spc="-80" dirty="0">
                <a:solidFill>
                  <a:srgbClr val="CFCBBE"/>
                </a:solidFill>
                <a:latin typeface="Tahoma"/>
                <a:cs typeface="Tahoma"/>
              </a:rPr>
              <a:t> </a:t>
            </a:r>
            <a:r>
              <a:rPr sz="1350" spc="-10" dirty="0">
                <a:solidFill>
                  <a:srgbClr val="CFCBBE"/>
                </a:solidFill>
                <a:latin typeface="Tahoma"/>
                <a:cs typeface="Tahoma"/>
              </a:rPr>
              <a:t>-</a:t>
            </a:r>
            <a:r>
              <a:rPr sz="1350" dirty="0">
                <a:solidFill>
                  <a:srgbClr val="CFCBBE"/>
                </a:solidFill>
                <a:latin typeface="Tahoma"/>
                <a:cs typeface="Tahoma"/>
              </a:rPr>
              <a:t>a</a:t>
            </a:r>
            <a:r>
              <a:rPr sz="1350" spc="-90" dirty="0">
                <a:solidFill>
                  <a:srgbClr val="CFCBBE"/>
                </a:solidFill>
                <a:latin typeface="Tahoma"/>
                <a:cs typeface="Tahoma"/>
              </a:rPr>
              <a:t> </a:t>
            </a:r>
            <a:r>
              <a:rPr sz="1350" spc="-20" dirty="0">
                <a:solidFill>
                  <a:srgbClr val="CFCBBE"/>
                </a:solidFill>
                <a:latin typeface="Trebuchet MS"/>
                <a:cs typeface="Trebuchet MS"/>
              </a:rPr>
              <a:t>output:</a:t>
            </a:r>
            <a:r>
              <a:rPr sz="1350" spc="-65" dirty="0">
                <a:solidFill>
                  <a:srgbClr val="CFCBBE"/>
                </a:solidFill>
                <a:latin typeface="Trebuchet MS"/>
                <a:cs typeface="Trebuchet MS"/>
              </a:rPr>
              <a:t> </a:t>
            </a:r>
            <a:r>
              <a:rPr sz="1350" spc="-10" dirty="0">
                <a:solidFill>
                  <a:srgbClr val="CFCBBE"/>
                </a:solidFill>
                <a:latin typeface="Trebuchet MS"/>
                <a:cs typeface="Trebuchet MS"/>
              </a:rPr>
              <a:t>Linux </a:t>
            </a:r>
            <a:r>
              <a:rPr sz="1350" spc="-10" dirty="0" err="1">
                <a:solidFill>
                  <a:srgbClr val="CFCBBE"/>
                </a:solidFill>
                <a:latin typeface="Trebuchet MS"/>
                <a:cs typeface="Trebuchet MS"/>
              </a:rPr>
              <a:t>met</a:t>
            </a:r>
            <a:r>
              <a:rPr lang="en-US" sz="1350" spc="-10" dirty="0" err="1">
                <a:solidFill>
                  <a:srgbClr val="CFCBBE"/>
                </a:solidFill>
                <a:latin typeface="Trebuchet MS"/>
                <a:cs typeface="Trebuchet MS"/>
              </a:rPr>
              <a:t>a</a:t>
            </a:r>
            <a:r>
              <a:rPr sz="1350" spc="-10" dirty="0" err="1">
                <a:solidFill>
                  <a:srgbClr val="CFCBBE"/>
                </a:solidFill>
                <a:latin typeface="Trebuchet MS"/>
                <a:cs typeface="Trebuchet MS"/>
              </a:rPr>
              <a:t>sploit</a:t>
            </a:r>
            <a:r>
              <a:rPr lang="en-US" sz="1350" spc="-10" dirty="0" err="1">
                <a:solidFill>
                  <a:srgbClr val="CFCBBE"/>
                </a:solidFill>
                <a:latin typeface="Trebuchet MS"/>
                <a:cs typeface="Trebuchet MS"/>
              </a:rPr>
              <a:t>a</a:t>
            </a:r>
            <a:r>
              <a:rPr sz="1350" spc="-10" dirty="0" err="1">
                <a:solidFill>
                  <a:srgbClr val="CFCBBE"/>
                </a:solidFill>
                <a:latin typeface="Trebuchet MS"/>
                <a:cs typeface="Trebuchet MS"/>
              </a:rPr>
              <a:t>ble</a:t>
            </a:r>
            <a:r>
              <a:rPr sz="1350" spc="-10" dirty="0">
                <a:solidFill>
                  <a:srgbClr val="CFCBBE"/>
                </a:solidFill>
                <a:latin typeface="Trebuchet MS"/>
                <a:cs typeface="Trebuchet MS"/>
              </a:rPr>
              <a:t>...</a:t>
            </a:r>
            <a:endParaRPr sz="1350" dirty="0">
              <a:latin typeface="Trebuchet MS"/>
              <a:cs typeface="Trebuchet MS"/>
            </a:endParaRPr>
          </a:p>
        </p:txBody>
      </p:sp>
      <p:pic>
        <p:nvPicPr>
          <p:cNvPr id="13" name="object 13">
            <a:hlinkClick r:id="rId4"/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580244" y="5926073"/>
            <a:ext cx="1754504" cy="4191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1E7B4F93-8350-E10A-413A-C65630A4314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6581" y="4084138"/>
            <a:ext cx="7077075" cy="202882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53"/>
            <a:ext cx="4286250" cy="64389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873625" y="2680425"/>
            <a:ext cx="6461123" cy="1084399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 marR="5080">
              <a:lnSpc>
                <a:spcPts val="4200"/>
              </a:lnSpc>
              <a:spcBef>
                <a:spcPts val="50"/>
              </a:spcBef>
            </a:pPr>
            <a:r>
              <a:rPr lang="en-US" sz="4000" b="1" spc="305" dirty="0"/>
              <a:t>Defense on Metasploitable2</a:t>
            </a:r>
            <a:endParaRPr lang="en-US" sz="4000" b="1" dirty="0"/>
          </a:p>
        </p:txBody>
      </p:sp>
      <p:pic>
        <p:nvPicPr>
          <p:cNvPr id="5" name="object 5">
            <a:hlinkClick r:id="rId3"/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580244" y="5926073"/>
            <a:ext cx="1754504" cy="4191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87375" y="479425"/>
            <a:ext cx="5996305" cy="5397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350" dirty="0"/>
              <a:t>Phase</a:t>
            </a:r>
            <a:r>
              <a:rPr spc="60" dirty="0"/>
              <a:t> </a:t>
            </a:r>
            <a:r>
              <a:rPr spc="-300" dirty="0"/>
              <a:t>1:</a:t>
            </a:r>
            <a:r>
              <a:rPr spc="60" dirty="0"/>
              <a:t> </a:t>
            </a:r>
            <a:r>
              <a:rPr spc="310" dirty="0"/>
              <a:t>Stopping</a:t>
            </a:r>
            <a:r>
              <a:rPr spc="65" dirty="0"/>
              <a:t> </a:t>
            </a:r>
            <a:r>
              <a:rPr spc="210" dirty="0"/>
              <a:t>the</a:t>
            </a:r>
            <a:r>
              <a:rPr spc="60" dirty="0"/>
              <a:t> </a:t>
            </a:r>
            <a:r>
              <a:rPr spc="325" dirty="0"/>
              <a:t>Service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87375" y="2326639"/>
            <a:ext cx="9375775" cy="53982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34300"/>
              </a:lnSpc>
              <a:spcBef>
                <a:spcPts val="100"/>
              </a:spcBef>
            </a:pPr>
            <a:r>
              <a:rPr sz="1350" dirty="0">
                <a:solidFill>
                  <a:srgbClr val="CFCBBE"/>
                </a:solidFill>
                <a:latin typeface="Trebuchet MS"/>
                <a:cs typeface="Trebuchet MS"/>
              </a:rPr>
              <a:t>The</a:t>
            </a:r>
            <a:r>
              <a:rPr sz="1350" spc="10" dirty="0">
                <a:solidFill>
                  <a:srgbClr val="CFCBBE"/>
                </a:solidFill>
                <a:latin typeface="Trebuchet MS"/>
                <a:cs typeface="Trebuchet MS"/>
              </a:rPr>
              <a:t> </a:t>
            </a:r>
            <a:r>
              <a:rPr sz="1350" spc="-10" dirty="0">
                <a:solidFill>
                  <a:srgbClr val="CFCBBE"/>
                </a:solidFill>
                <a:latin typeface="Trebuchet MS"/>
                <a:cs typeface="Trebuchet MS"/>
              </a:rPr>
              <a:t>immedi</a:t>
            </a:r>
            <a:r>
              <a:rPr lang="en-US" sz="1350" spc="-10" dirty="0">
                <a:solidFill>
                  <a:srgbClr val="CFCBBE"/>
                </a:solidFill>
                <a:latin typeface="Trebuchet MS"/>
                <a:cs typeface="Trebuchet MS"/>
              </a:rPr>
              <a:t>a</a:t>
            </a:r>
            <a:r>
              <a:rPr sz="1350" spc="-10" dirty="0">
                <a:solidFill>
                  <a:srgbClr val="CFCBBE"/>
                </a:solidFill>
                <a:latin typeface="Trebuchet MS"/>
                <a:cs typeface="Trebuchet MS"/>
              </a:rPr>
              <a:t>te</a:t>
            </a:r>
            <a:r>
              <a:rPr sz="1350" spc="15" dirty="0">
                <a:solidFill>
                  <a:srgbClr val="CFCBBE"/>
                </a:solidFill>
                <a:latin typeface="Trebuchet MS"/>
                <a:cs typeface="Trebuchet MS"/>
              </a:rPr>
              <a:t> </a:t>
            </a:r>
            <a:r>
              <a:rPr sz="1350" spc="-30" dirty="0">
                <a:solidFill>
                  <a:srgbClr val="CFCBBE"/>
                </a:solidFill>
                <a:latin typeface="Trebuchet MS"/>
                <a:cs typeface="Trebuchet MS"/>
              </a:rPr>
              <a:t>priority</a:t>
            </a:r>
            <a:r>
              <a:rPr sz="1350" spc="-80" dirty="0">
                <a:solidFill>
                  <a:srgbClr val="CFCBBE"/>
                </a:solidFill>
                <a:latin typeface="Trebuchet MS"/>
                <a:cs typeface="Trebuchet MS"/>
              </a:rPr>
              <a:t> </a:t>
            </a:r>
            <a:r>
              <a:rPr sz="1350" spc="-10" dirty="0">
                <a:solidFill>
                  <a:srgbClr val="CFCBBE"/>
                </a:solidFill>
                <a:latin typeface="Trebuchet MS"/>
                <a:cs typeface="Trebuchet MS"/>
              </a:rPr>
              <a:t>w</a:t>
            </a:r>
            <a:r>
              <a:rPr lang="en-US" sz="1350" spc="-10" dirty="0">
                <a:solidFill>
                  <a:srgbClr val="CFCBBE"/>
                </a:solidFill>
                <a:latin typeface="Trebuchet MS"/>
                <a:cs typeface="Trebuchet MS"/>
              </a:rPr>
              <a:t>a</a:t>
            </a:r>
            <a:r>
              <a:rPr sz="1350" spc="-10" dirty="0">
                <a:solidFill>
                  <a:srgbClr val="CFCBBE"/>
                </a:solidFill>
                <a:latin typeface="Trebuchet MS"/>
                <a:cs typeface="Trebuchet MS"/>
              </a:rPr>
              <a:t>s</a:t>
            </a:r>
            <a:r>
              <a:rPr sz="1350" spc="15" dirty="0">
                <a:solidFill>
                  <a:srgbClr val="CFCBBE"/>
                </a:solidFill>
                <a:latin typeface="Trebuchet MS"/>
                <a:cs typeface="Trebuchet MS"/>
              </a:rPr>
              <a:t> </a:t>
            </a:r>
            <a:r>
              <a:rPr sz="1350" dirty="0">
                <a:solidFill>
                  <a:srgbClr val="CFCBBE"/>
                </a:solidFill>
                <a:latin typeface="Trebuchet MS"/>
                <a:cs typeface="Trebuchet MS"/>
              </a:rPr>
              <a:t>to</a:t>
            </a:r>
            <a:r>
              <a:rPr sz="1350" spc="15" dirty="0">
                <a:solidFill>
                  <a:srgbClr val="CFCBBE"/>
                </a:solidFill>
                <a:latin typeface="Trebuchet MS"/>
                <a:cs typeface="Trebuchet MS"/>
              </a:rPr>
              <a:t> </a:t>
            </a:r>
            <a:r>
              <a:rPr sz="1350" spc="-80" dirty="0">
                <a:solidFill>
                  <a:srgbClr val="CFCBBE"/>
                </a:solidFill>
                <a:latin typeface="Trebuchet MS"/>
                <a:cs typeface="Trebuchet MS"/>
              </a:rPr>
              <a:t>h</a:t>
            </a:r>
            <a:r>
              <a:rPr lang="en-US" sz="1350" spc="-80" dirty="0">
                <a:solidFill>
                  <a:srgbClr val="CFCBBE"/>
                </a:solidFill>
                <a:latin typeface="Trebuchet MS"/>
                <a:cs typeface="Trebuchet MS"/>
              </a:rPr>
              <a:t>a</a:t>
            </a:r>
            <a:r>
              <a:rPr sz="1350" spc="-80" dirty="0">
                <a:solidFill>
                  <a:srgbClr val="CFCBBE"/>
                </a:solidFill>
                <a:latin typeface="Trebuchet MS"/>
                <a:cs typeface="Trebuchet MS"/>
              </a:rPr>
              <a:t>lt</a:t>
            </a:r>
            <a:r>
              <a:rPr sz="1350" spc="10" dirty="0">
                <a:solidFill>
                  <a:srgbClr val="CFCBBE"/>
                </a:solidFill>
                <a:latin typeface="Trebuchet MS"/>
                <a:cs typeface="Trebuchet MS"/>
              </a:rPr>
              <a:t> </a:t>
            </a:r>
            <a:r>
              <a:rPr sz="1350" dirty="0">
                <a:solidFill>
                  <a:srgbClr val="CFCBBE"/>
                </a:solidFill>
                <a:latin typeface="Trebuchet MS"/>
                <a:cs typeface="Trebuchet MS"/>
              </a:rPr>
              <a:t>the</a:t>
            </a:r>
            <a:r>
              <a:rPr sz="1350" spc="15" dirty="0">
                <a:solidFill>
                  <a:srgbClr val="CFCBBE"/>
                </a:solidFill>
                <a:latin typeface="Trebuchet MS"/>
                <a:cs typeface="Trebuchet MS"/>
              </a:rPr>
              <a:t> </a:t>
            </a:r>
            <a:r>
              <a:rPr lang="en-US" sz="1350" spc="-85" dirty="0">
                <a:solidFill>
                  <a:srgbClr val="CFCBBE"/>
                </a:solidFill>
                <a:latin typeface="Trebuchet MS"/>
                <a:cs typeface="Trebuchet MS"/>
              </a:rPr>
              <a:t>a</a:t>
            </a:r>
            <a:r>
              <a:rPr sz="1350" spc="-85" dirty="0">
                <a:solidFill>
                  <a:srgbClr val="CFCBBE"/>
                </a:solidFill>
                <a:latin typeface="Trebuchet MS"/>
                <a:cs typeface="Trebuchet MS"/>
              </a:rPr>
              <a:t>tt</a:t>
            </a:r>
            <a:r>
              <a:rPr lang="en-US" sz="1350" spc="-85" dirty="0">
                <a:solidFill>
                  <a:srgbClr val="CFCBBE"/>
                </a:solidFill>
                <a:latin typeface="Trebuchet MS"/>
                <a:cs typeface="Trebuchet MS"/>
              </a:rPr>
              <a:t>a</a:t>
            </a:r>
            <a:r>
              <a:rPr sz="1350" spc="-85" dirty="0">
                <a:solidFill>
                  <a:srgbClr val="CFCBBE"/>
                </a:solidFill>
                <a:latin typeface="Trebuchet MS"/>
                <a:cs typeface="Trebuchet MS"/>
              </a:rPr>
              <a:t>ck</a:t>
            </a:r>
            <a:r>
              <a:rPr sz="1350" spc="15" dirty="0">
                <a:solidFill>
                  <a:srgbClr val="CFCBBE"/>
                </a:solidFill>
                <a:latin typeface="Trebuchet MS"/>
                <a:cs typeface="Trebuchet MS"/>
              </a:rPr>
              <a:t> </a:t>
            </a:r>
            <a:r>
              <a:rPr sz="1350" spc="60" dirty="0">
                <a:solidFill>
                  <a:srgbClr val="CFCBBE"/>
                </a:solidFill>
                <a:latin typeface="Trebuchet MS"/>
                <a:cs typeface="Trebuchet MS"/>
              </a:rPr>
              <a:t>by</a:t>
            </a:r>
            <a:r>
              <a:rPr sz="1350" spc="-30" dirty="0">
                <a:solidFill>
                  <a:srgbClr val="CFCBBE"/>
                </a:solidFill>
                <a:latin typeface="Trebuchet MS"/>
                <a:cs typeface="Trebuchet MS"/>
              </a:rPr>
              <a:t> </a:t>
            </a:r>
            <a:r>
              <a:rPr sz="1350" dirty="0">
                <a:solidFill>
                  <a:srgbClr val="CFCBBE"/>
                </a:solidFill>
                <a:latin typeface="Trebuchet MS"/>
                <a:cs typeface="Trebuchet MS"/>
              </a:rPr>
              <a:t>stopping</a:t>
            </a:r>
            <a:r>
              <a:rPr sz="1350" spc="10" dirty="0">
                <a:solidFill>
                  <a:srgbClr val="CFCBBE"/>
                </a:solidFill>
                <a:latin typeface="Trebuchet MS"/>
                <a:cs typeface="Trebuchet MS"/>
              </a:rPr>
              <a:t> </a:t>
            </a:r>
            <a:r>
              <a:rPr sz="1350" dirty="0">
                <a:solidFill>
                  <a:srgbClr val="CFCBBE"/>
                </a:solidFill>
                <a:latin typeface="Trebuchet MS"/>
                <a:cs typeface="Trebuchet MS"/>
              </a:rPr>
              <a:t>the</a:t>
            </a:r>
            <a:r>
              <a:rPr sz="1350" spc="15" dirty="0">
                <a:solidFill>
                  <a:srgbClr val="CFCBBE"/>
                </a:solidFill>
                <a:latin typeface="Trebuchet MS"/>
                <a:cs typeface="Trebuchet MS"/>
              </a:rPr>
              <a:t> </a:t>
            </a:r>
            <a:r>
              <a:rPr sz="1350" dirty="0">
                <a:solidFill>
                  <a:srgbClr val="CFCBBE"/>
                </a:solidFill>
                <a:latin typeface="Trebuchet MS"/>
                <a:cs typeface="Trebuchet MS"/>
              </a:rPr>
              <a:t>running</a:t>
            </a:r>
            <a:r>
              <a:rPr sz="1350" spc="-30" dirty="0">
                <a:solidFill>
                  <a:srgbClr val="CFCBBE"/>
                </a:solidFill>
                <a:latin typeface="Trebuchet MS"/>
                <a:cs typeface="Trebuchet MS"/>
              </a:rPr>
              <a:t> </a:t>
            </a:r>
            <a:r>
              <a:rPr sz="1350" dirty="0">
                <a:solidFill>
                  <a:srgbClr val="CFCBBE"/>
                </a:solidFill>
                <a:latin typeface="Trebuchet MS"/>
                <a:cs typeface="Trebuchet MS"/>
              </a:rPr>
              <a:t>vsftpd</a:t>
            </a:r>
            <a:r>
              <a:rPr sz="1350" spc="15" dirty="0">
                <a:solidFill>
                  <a:srgbClr val="CFCBBE"/>
                </a:solidFill>
                <a:latin typeface="Trebuchet MS"/>
                <a:cs typeface="Trebuchet MS"/>
              </a:rPr>
              <a:t> </a:t>
            </a:r>
            <a:r>
              <a:rPr sz="1350" dirty="0">
                <a:solidFill>
                  <a:srgbClr val="CFCBBE"/>
                </a:solidFill>
                <a:latin typeface="Trebuchet MS"/>
                <a:cs typeface="Trebuchet MS"/>
              </a:rPr>
              <a:t>process.</a:t>
            </a:r>
            <a:r>
              <a:rPr sz="1350" spc="-35" dirty="0">
                <a:solidFill>
                  <a:srgbClr val="CFCBBE"/>
                </a:solidFill>
                <a:latin typeface="Trebuchet MS"/>
                <a:cs typeface="Trebuchet MS"/>
              </a:rPr>
              <a:t> </a:t>
            </a:r>
            <a:r>
              <a:rPr sz="1350" dirty="0">
                <a:solidFill>
                  <a:srgbClr val="CFCBBE"/>
                </a:solidFill>
                <a:latin typeface="Trebuchet MS"/>
                <a:cs typeface="Trebuchet MS"/>
              </a:rPr>
              <a:t>This</a:t>
            </a:r>
            <a:r>
              <a:rPr sz="1350" spc="15" dirty="0">
                <a:solidFill>
                  <a:srgbClr val="CFCBBE"/>
                </a:solidFill>
                <a:latin typeface="Trebuchet MS"/>
                <a:cs typeface="Trebuchet MS"/>
              </a:rPr>
              <a:t> </a:t>
            </a:r>
            <a:r>
              <a:rPr lang="en-US" sz="1350" spc="-35" dirty="0">
                <a:solidFill>
                  <a:srgbClr val="CFCBBE"/>
                </a:solidFill>
                <a:latin typeface="Trebuchet MS"/>
                <a:cs typeface="Trebuchet MS"/>
              </a:rPr>
              <a:t>a</a:t>
            </a:r>
            <a:r>
              <a:rPr sz="1350" spc="-35" dirty="0">
                <a:solidFill>
                  <a:srgbClr val="CFCBBE"/>
                </a:solidFill>
                <a:latin typeface="Trebuchet MS"/>
                <a:cs typeface="Trebuchet MS"/>
              </a:rPr>
              <a:t>ction</a:t>
            </a:r>
            <a:r>
              <a:rPr sz="1350" spc="10" dirty="0">
                <a:solidFill>
                  <a:srgbClr val="CFCBBE"/>
                </a:solidFill>
                <a:latin typeface="Trebuchet MS"/>
                <a:cs typeface="Trebuchet MS"/>
              </a:rPr>
              <a:t> </a:t>
            </a:r>
            <a:r>
              <a:rPr sz="1350" dirty="0">
                <a:solidFill>
                  <a:srgbClr val="CFCBBE"/>
                </a:solidFill>
                <a:latin typeface="Trebuchet MS"/>
                <a:cs typeface="Trebuchet MS"/>
              </a:rPr>
              <a:t>severed</a:t>
            </a:r>
            <a:r>
              <a:rPr sz="1350" spc="15" dirty="0">
                <a:solidFill>
                  <a:srgbClr val="CFCBBE"/>
                </a:solidFill>
                <a:latin typeface="Trebuchet MS"/>
                <a:cs typeface="Trebuchet MS"/>
              </a:rPr>
              <a:t> </a:t>
            </a:r>
            <a:r>
              <a:rPr sz="1350" dirty="0">
                <a:solidFill>
                  <a:srgbClr val="CFCBBE"/>
                </a:solidFill>
                <a:latin typeface="Trebuchet MS"/>
                <a:cs typeface="Trebuchet MS"/>
              </a:rPr>
              <a:t>the</a:t>
            </a:r>
            <a:r>
              <a:rPr sz="1350" spc="15" dirty="0">
                <a:solidFill>
                  <a:srgbClr val="CFCBBE"/>
                </a:solidFill>
                <a:latin typeface="Trebuchet MS"/>
                <a:cs typeface="Trebuchet MS"/>
              </a:rPr>
              <a:t> </a:t>
            </a:r>
            <a:r>
              <a:rPr lang="en-US" sz="1350" spc="-20" dirty="0">
                <a:solidFill>
                  <a:srgbClr val="CFCBBE"/>
                </a:solidFill>
                <a:latin typeface="Trebuchet MS"/>
                <a:cs typeface="Trebuchet MS"/>
              </a:rPr>
              <a:t>a</a:t>
            </a:r>
            <a:r>
              <a:rPr sz="1350" spc="-20" dirty="0">
                <a:solidFill>
                  <a:srgbClr val="CFCBBE"/>
                </a:solidFill>
                <a:latin typeface="Trebuchet MS"/>
                <a:cs typeface="Trebuchet MS"/>
              </a:rPr>
              <a:t>tt</a:t>
            </a:r>
            <a:r>
              <a:rPr lang="en-US" sz="1350" spc="-20" dirty="0">
                <a:solidFill>
                  <a:srgbClr val="CFCBBE"/>
                </a:solidFill>
                <a:latin typeface="Trebuchet MS"/>
                <a:cs typeface="Trebuchet MS"/>
              </a:rPr>
              <a:t>a</a:t>
            </a:r>
            <a:r>
              <a:rPr sz="1350" spc="-20" dirty="0">
                <a:solidFill>
                  <a:srgbClr val="CFCBBE"/>
                </a:solidFill>
                <a:latin typeface="Trebuchet MS"/>
                <a:cs typeface="Trebuchet MS"/>
              </a:rPr>
              <a:t>cker's </a:t>
            </a:r>
            <a:r>
              <a:rPr sz="1350" dirty="0">
                <a:solidFill>
                  <a:srgbClr val="CFCBBE"/>
                </a:solidFill>
                <a:latin typeface="Trebuchet MS"/>
                <a:cs typeface="Trebuchet MS"/>
              </a:rPr>
              <a:t>connection</a:t>
            </a:r>
            <a:r>
              <a:rPr sz="1350" spc="75" dirty="0">
                <a:solidFill>
                  <a:srgbClr val="CFCBBE"/>
                </a:solidFill>
                <a:latin typeface="Trebuchet MS"/>
                <a:cs typeface="Trebuchet MS"/>
              </a:rPr>
              <a:t> </a:t>
            </a:r>
            <a:r>
              <a:rPr lang="en-US" sz="1350" spc="-35" dirty="0">
                <a:solidFill>
                  <a:srgbClr val="CFCBBE"/>
                </a:solidFill>
                <a:latin typeface="Trebuchet MS"/>
                <a:cs typeface="Trebuchet MS"/>
              </a:rPr>
              <a:t>a</a:t>
            </a:r>
            <a:r>
              <a:rPr sz="1350" spc="-35" dirty="0">
                <a:solidFill>
                  <a:srgbClr val="CFCBBE"/>
                </a:solidFill>
                <a:latin typeface="Trebuchet MS"/>
                <a:cs typeface="Trebuchet MS"/>
              </a:rPr>
              <a:t>nd</a:t>
            </a:r>
            <a:r>
              <a:rPr sz="1350" spc="75" dirty="0">
                <a:solidFill>
                  <a:srgbClr val="CFCBBE"/>
                </a:solidFill>
                <a:latin typeface="Trebuchet MS"/>
                <a:cs typeface="Trebuchet MS"/>
              </a:rPr>
              <a:t> </a:t>
            </a:r>
            <a:r>
              <a:rPr sz="1350" dirty="0">
                <a:solidFill>
                  <a:srgbClr val="CFCBBE"/>
                </a:solidFill>
                <a:latin typeface="Trebuchet MS"/>
                <a:cs typeface="Trebuchet MS"/>
              </a:rPr>
              <a:t>prevented</a:t>
            </a:r>
            <a:r>
              <a:rPr sz="1350" spc="75" dirty="0">
                <a:solidFill>
                  <a:srgbClr val="CFCBBE"/>
                </a:solidFill>
                <a:latin typeface="Trebuchet MS"/>
                <a:cs typeface="Trebuchet MS"/>
              </a:rPr>
              <a:t> </a:t>
            </a:r>
            <a:r>
              <a:rPr sz="1350" spc="-20" dirty="0">
                <a:solidFill>
                  <a:srgbClr val="CFCBBE"/>
                </a:solidFill>
                <a:latin typeface="Trebuchet MS"/>
                <a:cs typeface="Trebuchet MS"/>
              </a:rPr>
              <a:t>further</a:t>
            </a:r>
            <a:r>
              <a:rPr sz="1350" spc="35" dirty="0">
                <a:solidFill>
                  <a:srgbClr val="CFCBBE"/>
                </a:solidFill>
                <a:latin typeface="Trebuchet MS"/>
                <a:cs typeface="Trebuchet MS"/>
              </a:rPr>
              <a:t> </a:t>
            </a:r>
            <a:r>
              <a:rPr sz="1350" spc="-10" dirty="0">
                <a:solidFill>
                  <a:srgbClr val="CFCBBE"/>
                </a:solidFill>
                <a:latin typeface="Trebuchet MS"/>
                <a:cs typeface="Trebuchet MS"/>
              </a:rPr>
              <a:t>compromise.</a:t>
            </a:r>
            <a:endParaRPr sz="1350" dirty="0">
              <a:latin typeface="Trebuchet MS"/>
              <a:cs typeface="Trebuchet MS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600075" y="3133724"/>
            <a:ext cx="5029200" cy="1800225"/>
            <a:chOff x="600075" y="3133724"/>
            <a:chExt cx="5029200" cy="1800225"/>
          </a:xfrm>
        </p:grpSpPr>
        <p:sp>
          <p:nvSpPr>
            <p:cNvPr id="5" name="object 5"/>
            <p:cNvSpPr/>
            <p:nvPr/>
          </p:nvSpPr>
          <p:spPr>
            <a:xfrm>
              <a:off x="600075" y="3133724"/>
              <a:ext cx="5029200" cy="1800225"/>
            </a:xfrm>
            <a:custGeom>
              <a:avLst/>
              <a:gdLst/>
              <a:ahLst/>
              <a:cxnLst/>
              <a:rect l="l" t="t" r="r" b="b"/>
              <a:pathLst>
                <a:path w="5029200" h="1800225">
                  <a:moveTo>
                    <a:pt x="5010607" y="0"/>
                  </a:moveTo>
                  <a:lnTo>
                    <a:pt x="18588" y="0"/>
                  </a:lnTo>
                  <a:lnTo>
                    <a:pt x="15854" y="546"/>
                  </a:lnTo>
                  <a:lnTo>
                    <a:pt x="0" y="18592"/>
                  </a:lnTo>
                  <a:lnTo>
                    <a:pt x="0" y="1778800"/>
                  </a:lnTo>
                  <a:lnTo>
                    <a:pt x="0" y="1781632"/>
                  </a:lnTo>
                  <a:lnTo>
                    <a:pt x="18588" y="1800225"/>
                  </a:lnTo>
                  <a:lnTo>
                    <a:pt x="5010607" y="1800225"/>
                  </a:lnTo>
                  <a:lnTo>
                    <a:pt x="5029200" y="1781632"/>
                  </a:lnTo>
                  <a:lnTo>
                    <a:pt x="5029200" y="18592"/>
                  </a:lnTo>
                  <a:lnTo>
                    <a:pt x="5013350" y="546"/>
                  </a:lnTo>
                  <a:lnTo>
                    <a:pt x="5010607" y="0"/>
                  </a:lnTo>
                  <a:close/>
                </a:path>
              </a:pathLst>
            </a:custGeom>
            <a:solidFill>
              <a:srgbClr val="3A3B3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771512" y="3762387"/>
              <a:ext cx="4686935" cy="533400"/>
            </a:xfrm>
            <a:custGeom>
              <a:avLst/>
              <a:gdLst/>
              <a:ahLst/>
              <a:cxnLst/>
              <a:rect l="l" t="t" r="r" b="b"/>
              <a:pathLst>
                <a:path w="4686935" h="533400">
                  <a:moveTo>
                    <a:pt x="4686312" y="18580"/>
                  </a:moveTo>
                  <a:lnTo>
                    <a:pt x="4686300" y="15519"/>
                  </a:lnTo>
                  <a:lnTo>
                    <a:pt x="4684204" y="10464"/>
                  </a:lnTo>
                  <a:lnTo>
                    <a:pt x="4682083" y="8356"/>
                  </a:lnTo>
                  <a:lnTo>
                    <a:pt x="4678019" y="4254"/>
                  </a:lnTo>
                  <a:lnTo>
                    <a:pt x="4675835" y="2095"/>
                  </a:lnTo>
                  <a:lnTo>
                    <a:pt x="4670793" y="0"/>
                  </a:lnTo>
                  <a:lnTo>
                    <a:pt x="4667707" y="0"/>
                  </a:lnTo>
                  <a:lnTo>
                    <a:pt x="18592" y="0"/>
                  </a:lnTo>
                  <a:lnTo>
                    <a:pt x="15519" y="0"/>
                  </a:lnTo>
                  <a:lnTo>
                    <a:pt x="10464" y="2095"/>
                  </a:lnTo>
                  <a:lnTo>
                    <a:pt x="8331" y="4229"/>
                  </a:lnTo>
                  <a:lnTo>
                    <a:pt x="4267" y="8280"/>
                  </a:lnTo>
                  <a:lnTo>
                    <a:pt x="2095" y="10464"/>
                  </a:lnTo>
                  <a:lnTo>
                    <a:pt x="0" y="15519"/>
                  </a:lnTo>
                  <a:lnTo>
                    <a:pt x="0" y="517893"/>
                  </a:lnTo>
                  <a:lnTo>
                    <a:pt x="2095" y="522935"/>
                  </a:lnTo>
                  <a:lnTo>
                    <a:pt x="10464" y="531304"/>
                  </a:lnTo>
                  <a:lnTo>
                    <a:pt x="15519" y="533400"/>
                  </a:lnTo>
                  <a:lnTo>
                    <a:pt x="4670793" y="533400"/>
                  </a:lnTo>
                  <a:lnTo>
                    <a:pt x="4675835" y="531304"/>
                  </a:lnTo>
                  <a:lnTo>
                    <a:pt x="4678019" y="529120"/>
                  </a:lnTo>
                  <a:lnTo>
                    <a:pt x="4682045" y="525094"/>
                  </a:lnTo>
                  <a:lnTo>
                    <a:pt x="4684204" y="522935"/>
                  </a:lnTo>
                  <a:lnTo>
                    <a:pt x="4686300" y="517893"/>
                  </a:lnTo>
                  <a:lnTo>
                    <a:pt x="4686300" y="514858"/>
                  </a:lnTo>
                  <a:lnTo>
                    <a:pt x="4686312" y="18580"/>
                  </a:lnTo>
                  <a:close/>
                </a:path>
              </a:pathLst>
            </a:custGeom>
            <a:solidFill>
              <a:srgbClr val="28292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921791" y="3911600"/>
            <a:ext cx="1635125" cy="231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spc="80" dirty="0">
                <a:solidFill>
                  <a:srgbClr val="CFCBBE"/>
                </a:solidFill>
                <a:latin typeface="Trebuchet MS"/>
                <a:cs typeface="Trebuchet MS"/>
              </a:rPr>
              <a:t>ps</a:t>
            </a:r>
            <a:r>
              <a:rPr sz="1350" spc="20" dirty="0">
                <a:solidFill>
                  <a:srgbClr val="CFCBBE"/>
                </a:solidFill>
                <a:latin typeface="Trebuchet MS"/>
                <a:cs typeface="Trebuchet MS"/>
              </a:rPr>
              <a:t> </a:t>
            </a:r>
            <a:r>
              <a:rPr sz="1350" dirty="0">
                <a:solidFill>
                  <a:srgbClr val="CFCBBE"/>
                </a:solidFill>
                <a:latin typeface="Trebuchet MS"/>
                <a:cs typeface="Trebuchet MS"/>
              </a:rPr>
              <a:t>aux</a:t>
            </a:r>
            <a:r>
              <a:rPr sz="1350" spc="25" dirty="0">
                <a:solidFill>
                  <a:srgbClr val="CFCBBE"/>
                </a:solidFill>
                <a:latin typeface="Trebuchet MS"/>
                <a:cs typeface="Trebuchet MS"/>
              </a:rPr>
              <a:t> </a:t>
            </a:r>
            <a:r>
              <a:rPr sz="1350" dirty="0">
                <a:solidFill>
                  <a:srgbClr val="CFCBBE"/>
                </a:solidFill>
                <a:latin typeface="Trebuchet MS"/>
                <a:cs typeface="Trebuchet MS"/>
              </a:rPr>
              <a:t>|</a:t>
            </a:r>
            <a:r>
              <a:rPr sz="1350" spc="25" dirty="0">
                <a:solidFill>
                  <a:srgbClr val="CFCBBE"/>
                </a:solidFill>
                <a:latin typeface="Trebuchet MS"/>
                <a:cs typeface="Trebuchet MS"/>
              </a:rPr>
              <a:t> </a:t>
            </a:r>
            <a:r>
              <a:rPr sz="1350" dirty="0">
                <a:solidFill>
                  <a:srgbClr val="CFCBBE"/>
                </a:solidFill>
                <a:latin typeface="Trebuchet MS"/>
                <a:cs typeface="Trebuchet MS"/>
              </a:rPr>
              <a:t>grep</a:t>
            </a:r>
            <a:r>
              <a:rPr sz="1350" spc="25" dirty="0">
                <a:solidFill>
                  <a:srgbClr val="CFCBBE"/>
                </a:solidFill>
                <a:latin typeface="Trebuchet MS"/>
                <a:cs typeface="Trebuchet MS"/>
              </a:rPr>
              <a:t> </a:t>
            </a:r>
            <a:r>
              <a:rPr sz="1350" spc="-10" dirty="0">
                <a:solidFill>
                  <a:srgbClr val="CFCBBE"/>
                </a:solidFill>
                <a:latin typeface="Trebuchet MS"/>
                <a:cs typeface="Trebuchet MS"/>
              </a:rPr>
              <a:t>vsftpd</a:t>
            </a:r>
            <a:endParaRPr sz="135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58825" y="3278187"/>
            <a:ext cx="2289810" cy="2825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spc="220" dirty="0">
                <a:solidFill>
                  <a:srgbClr val="CFCBBE"/>
                </a:solidFill>
                <a:latin typeface="Calibri"/>
                <a:cs typeface="Calibri"/>
              </a:rPr>
              <a:t>Find</a:t>
            </a:r>
            <a:r>
              <a:rPr sz="1650" spc="30" dirty="0">
                <a:solidFill>
                  <a:srgbClr val="CFCBBE"/>
                </a:solidFill>
                <a:latin typeface="Calibri"/>
                <a:cs typeface="Calibri"/>
              </a:rPr>
              <a:t> </a:t>
            </a:r>
            <a:r>
              <a:rPr sz="1650" spc="175" dirty="0">
                <a:solidFill>
                  <a:srgbClr val="CFCBBE"/>
                </a:solidFill>
                <a:latin typeface="Calibri"/>
                <a:cs typeface="Calibri"/>
              </a:rPr>
              <a:t>Process</a:t>
            </a:r>
            <a:r>
              <a:rPr sz="1650" spc="35" dirty="0">
                <a:solidFill>
                  <a:srgbClr val="CFCBBE"/>
                </a:solidFill>
                <a:latin typeface="Calibri"/>
                <a:cs typeface="Calibri"/>
              </a:rPr>
              <a:t> </a:t>
            </a:r>
            <a:r>
              <a:rPr sz="1650" spc="320" dirty="0">
                <a:solidFill>
                  <a:srgbClr val="CFCBBE"/>
                </a:solidFill>
                <a:latin typeface="Calibri"/>
                <a:cs typeface="Calibri"/>
              </a:rPr>
              <a:t>ID</a:t>
            </a:r>
            <a:r>
              <a:rPr sz="1650" spc="35" dirty="0">
                <a:solidFill>
                  <a:srgbClr val="CFCBBE"/>
                </a:solidFill>
                <a:latin typeface="Calibri"/>
                <a:cs typeface="Calibri"/>
              </a:rPr>
              <a:t> </a:t>
            </a:r>
            <a:r>
              <a:rPr sz="1650" spc="210" dirty="0">
                <a:solidFill>
                  <a:srgbClr val="CFCBBE"/>
                </a:solidFill>
                <a:latin typeface="Calibri"/>
                <a:cs typeface="Calibri"/>
              </a:rPr>
              <a:t>(PID)</a:t>
            </a:r>
            <a:endParaRPr sz="1650">
              <a:latin typeface="Calibri"/>
              <a:cs typeface="Calibri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5800725" y="3133724"/>
            <a:ext cx="5029200" cy="1800225"/>
            <a:chOff x="5800725" y="3133724"/>
            <a:chExt cx="5029200" cy="1800225"/>
          </a:xfrm>
        </p:grpSpPr>
        <p:sp>
          <p:nvSpPr>
            <p:cNvPr id="10" name="object 10"/>
            <p:cNvSpPr/>
            <p:nvPr/>
          </p:nvSpPr>
          <p:spPr>
            <a:xfrm>
              <a:off x="5800725" y="3133724"/>
              <a:ext cx="5029200" cy="1800225"/>
            </a:xfrm>
            <a:custGeom>
              <a:avLst/>
              <a:gdLst/>
              <a:ahLst/>
              <a:cxnLst/>
              <a:rect l="l" t="t" r="r" b="b"/>
              <a:pathLst>
                <a:path w="5029200" h="1800225">
                  <a:moveTo>
                    <a:pt x="5010607" y="0"/>
                  </a:moveTo>
                  <a:lnTo>
                    <a:pt x="18592" y="0"/>
                  </a:lnTo>
                  <a:lnTo>
                    <a:pt x="15849" y="546"/>
                  </a:lnTo>
                  <a:lnTo>
                    <a:pt x="0" y="18592"/>
                  </a:lnTo>
                  <a:lnTo>
                    <a:pt x="0" y="1778800"/>
                  </a:lnTo>
                  <a:lnTo>
                    <a:pt x="0" y="1781632"/>
                  </a:lnTo>
                  <a:lnTo>
                    <a:pt x="18592" y="1800225"/>
                  </a:lnTo>
                  <a:lnTo>
                    <a:pt x="5010607" y="1800225"/>
                  </a:lnTo>
                  <a:lnTo>
                    <a:pt x="5029200" y="1781632"/>
                  </a:lnTo>
                  <a:lnTo>
                    <a:pt x="5029200" y="18592"/>
                  </a:lnTo>
                  <a:lnTo>
                    <a:pt x="5013350" y="546"/>
                  </a:lnTo>
                  <a:lnTo>
                    <a:pt x="5010607" y="0"/>
                  </a:lnTo>
                  <a:close/>
                </a:path>
              </a:pathLst>
            </a:custGeom>
            <a:solidFill>
              <a:srgbClr val="3A3B3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972162" y="3762387"/>
              <a:ext cx="4686935" cy="533400"/>
            </a:xfrm>
            <a:custGeom>
              <a:avLst/>
              <a:gdLst/>
              <a:ahLst/>
              <a:cxnLst/>
              <a:rect l="l" t="t" r="r" b="b"/>
              <a:pathLst>
                <a:path w="4686934" h="533400">
                  <a:moveTo>
                    <a:pt x="4686312" y="18580"/>
                  </a:moveTo>
                  <a:lnTo>
                    <a:pt x="4686300" y="15519"/>
                  </a:lnTo>
                  <a:lnTo>
                    <a:pt x="4684204" y="10464"/>
                  </a:lnTo>
                  <a:lnTo>
                    <a:pt x="4682096" y="8369"/>
                  </a:lnTo>
                  <a:lnTo>
                    <a:pt x="4678007" y="4254"/>
                  </a:lnTo>
                  <a:lnTo>
                    <a:pt x="4675835" y="2095"/>
                  </a:lnTo>
                  <a:lnTo>
                    <a:pt x="4670793" y="0"/>
                  </a:lnTo>
                  <a:lnTo>
                    <a:pt x="4667720" y="0"/>
                  </a:lnTo>
                  <a:lnTo>
                    <a:pt x="18605" y="0"/>
                  </a:lnTo>
                  <a:lnTo>
                    <a:pt x="15506" y="0"/>
                  </a:lnTo>
                  <a:lnTo>
                    <a:pt x="10464" y="2095"/>
                  </a:lnTo>
                  <a:lnTo>
                    <a:pt x="8331" y="4229"/>
                  </a:lnTo>
                  <a:lnTo>
                    <a:pt x="4267" y="8280"/>
                  </a:lnTo>
                  <a:lnTo>
                    <a:pt x="2095" y="10464"/>
                  </a:lnTo>
                  <a:lnTo>
                    <a:pt x="0" y="15519"/>
                  </a:lnTo>
                  <a:lnTo>
                    <a:pt x="0" y="517893"/>
                  </a:lnTo>
                  <a:lnTo>
                    <a:pt x="2095" y="522935"/>
                  </a:lnTo>
                  <a:lnTo>
                    <a:pt x="10464" y="531304"/>
                  </a:lnTo>
                  <a:lnTo>
                    <a:pt x="15506" y="533400"/>
                  </a:lnTo>
                  <a:lnTo>
                    <a:pt x="4670793" y="533400"/>
                  </a:lnTo>
                  <a:lnTo>
                    <a:pt x="4675835" y="531304"/>
                  </a:lnTo>
                  <a:lnTo>
                    <a:pt x="4682045" y="525094"/>
                  </a:lnTo>
                  <a:lnTo>
                    <a:pt x="4684204" y="522935"/>
                  </a:lnTo>
                  <a:lnTo>
                    <a:pt x="4686300" y="517893"/>
                  </a:lnTo>
                  <a:lnTo>
                    <a:pt x="4686300" y="514858"/>
                  </a:lnTo>
                  <a:lnTo>
                    <a:pt x="4686312" y="18580"/>
                  </a:lnTo>
                  <a:close/>
                </a:path>
              </a:pathLst>
            </a:custGeom>
            <a:solidFill>
              <a:srgbClr val="28292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6122441" y="3911600"/>
            <a:ext cx="1201420" cy="231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spc="80" dirty="0">
                <a:solidFill>
                  <a:srgbClr val="CFCBBE"/>
                </a:solidFill>
                <a:latin typeface="Trebuchet MS"/>
                <a:cs typeface="Trebuchet MS"/>
              </a:rPr>
              <a:t>sudo</a:t>
            </a:r>
            <a:r>
              <a:rPr sz="1350" spc="-40" dirty="0">
                <a:solidFill>
                  <a:srgbClr val="CFCBBE"/>
                </a:solidFill>
                <a:latin typeface="Trebuchet MS"/>
                <a:cs typeface="Trebuchet MS"/>
              </a:rPr>
              <a:t> </a:t>
            </a:r>
            <a:r>
              <a:rPr sz="1350" spc="-50" dirty="0">
                <a:solidFill>
                  <a:srgbClr val="CFCBBE"/>
                </a:solidFill>
                <a:latin typeface="Trebuchet MS"/>
                <a:cs typeface="Trebuchet MS"/>
              </a:rPr>
              <a:t>kill</a:t>
            </a:r>
            <a:r>
              <a:rPr sz="1350" spc="-35" dirty="0">
                <a:solidFill>
                  <a:srgbClr val="CFCBBE"/>
                </a:solidFill>
                <a:latin typeface="Trebuchet MS"/>
                <a:cs typeface="Trebuchet MS"/>
              </a:rPr>
              <a:t> </a:t>
            </a:r>
            <a:r>
              <a:rPr sz="1350" spc="45" dirty="0">
                <a:solidFill>
                  <a:srgbClr val="CFCBBE"/>
                </a:solidFill>
                <a:latin typeface="Trebuchet MS"/>
                <a:cs typeface="Trebuchet MS"/>
              </a:rPr>
              <a:t>&lt;PID&gt;</a:t>
            </a:r>
            <a:endParaRPr sz="1350">
              <a:latin typeface="Trebuchet MS"/>
              <a:cs typeface="Trebuchet M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959475" y="3278187"/>
            <a:ext cx="1610360" cy="2825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spc="170" dirty="0">
                <a:solidFill>
                  <a:srgbClr val="CFCBBE"/>
                </a:solidFill>
                <a:latin typeface="Calibri"/>
                <a:cs typeface="Calibri"/>
              </a:rPr>
              <a:t>Kill</a:t>
            </a:r>
            <a:r>
              <a:rPr sz="1650" spc="40" dirty="0">
                <a:solidFill>
                  <a:srgbClr val="CFCBBE"/>
                </a:solidFill>
                <a:latin typeface="Calibri"/>
                <a:cs typeface="Calibri"/>
              </a:rPr>
              <a:t> </a:t>
            </a:r>
            <a:r>
              <a:rPr sz="1650" spc="110" dirty="0">
                <a:solidFill>
                  <a:srgbClr val="CFCBBE"/>
                </a:solidFill>
                <a:latin typeface="Calibri"/>
                <a:cs typeface="Calibri"/>
              </a:rPr>
              <a:t>the</a:t>
            </a:r>
            <a:r>
              <a:rPr sz="1650" spc="40" dirty="0">
                <a:solidFill>
                  <a:srgbClr val="CFCBBE"/>
                </a:solidFill>
                <a:latin typeface="Calibri"/>
                <a:cs typeface="Calibri"/>
              </a:rPr>
              <a:t> </a:t>
            </a:r>
            <a:r>
              <a:rPr sz="1650" spc="165" dirty="0">
                <a:solidFill>
                  <a:srgbClr val="CFCBBE"/>
                </a:solidFill>
                <a:latin typeface="Calibri"/>
                <a:cs typeface="Calibri"/>
              </a:rPr>
              <a:t>Process</a:t>
            </a:r>
            <a:endParaRPr sz="165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959475" y="4492625"/>
            <a:ext cx="1558925" cy="231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spc="-190" dirty="0">
                <a:solidFill>
                  <a:srgbClr val="CFCBBE"/>
                </a:solidFill>
                <a:latin typeface="Trebuchet MS"/>
                <a:cs typeface="Trebuchet MS"/>
              </a:rPr>
              <a:t>Ge.g.,</a:t>
            </a:r>
            <a:r>
              <a:rPr sz="1350" spc="-35" dirty="0">
                <a:solidFill>
                  <a:srgbClr val="CFCBBE"/>
                </a:solidFill>
                <a:latin typeface="Trebuchet MS"/>
                <a:cs typeface="Trebuchet MS"/>
              </a:rPr>
              <a:t> </a:t>
            </a:r>
            <a:r>
              <a:rPr sz="1350" spc="80" dirty="0">
                <a:solidFill>
                  <a:srgbClr val="CFCBBE"/>
                </a:solidFill>
                <a:latin typeface="Trebuchet MS"/>
                <a:cs typeface="Trebuchet MS"/>
              </a:rPr>
              <a:t>sudo</a:t>
            </a:r>
            <a:r>
              <a:rPr sz="1350" spc="-30" dirty="0">
                <a:solidFill>
                  <a:srgbClr val="CFCBBE"/>
                </a:solidFill>
                <a:latin typeface="Trebuchet MS"/>
                <a:cs typeface="Trebuchet MS"/>
              </a:rPr>
              <a:t> </a:t>
            </a:r>
            <a:r>
              <a:rPr sz="1350" spc="-40" dirty="0">
                <a:solidFill>
                  <a:srgbClr val="CFCBBE"/>
                </a:solidFill>
                <a:latin typeface="Trebuchet MS"/>
                <a:cs typeface="Trebuchet MS"/>
              </a:rPr>
              <a:t>kill</a:t>
            </a:r>
            <a:r>
              <a:rPr sz="1350" spc="-75" dirty="0">
                <a:solidFill>
                  <a:srgbClr val="CFCBBE"/>
                </a:solidFill>
                <a:latin typeface="Trebuchet MS"/>
                <a:cs typeface="Trebuchet MS"/>
              </a:rPr>
              <a:t> </a:t>
            </a:r>
            <a:r>
              <a:rPr sz="1350" spc="-10" dirty="0">
                <a:solidFill>
                  <a:srgbClr val="CFCBBE"/>
                </a:solidFill>
                <a:latin typeface="Trebuchet MS"/>
                <a:cs typeface="Trebuchet MS"/>
              </a:rPr>
              <a:t>58053</a:t>
            </a:r>
            <a:endParaRPr sz="1350">
              <a:latin typeface="Trebuchet MS"/>
              <a:cs typeface="Trebuchet MS"/>
            </a:endParaRPr>
          </a:p>
        </p:txBody>
      </p:sp>
      <p:pic>
        <p:nvPicPr>
          <p:cNvPr id="15" name="object 15">
            <a:hlinkClick r:id="rId2"/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580244" y="5926073"/>
            <a:ext cx="1754504" cy="4191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87375" y="479425"/>
            <a:ext cx="5996305" cy="5397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350" dirty="0"/>
              <a:t>Phase</a:t>
            </a:r>
            <a:r>
              <a:rPr spc="60" dirty="0"/>
              <a:t> </a:t>
            </a:r>
            <a:r>
              <a:rPr spc="-300" dirty="0"/>
              <a:t>1:</a:t>
            </a:r>
            <a:r>
              <a:rPr spc="60" dirty="0"/>
              <a:t> </a:t>
            </a:r>
            <a:r>
              <a:rPr spc="310" dirty="0"/>
              <a:t>Stopping</a:t>
            </a:r>
            <a:r>
              <a:rPr spc="65" dirty="0"/>
              <a:t> </a:t>
            </a:r>
            <a:r>
              <a:rPr spc="210" dirty="0"/>
              <a:t>the</a:t>
            </a:r>
            <a:r>
              <a:rPr spc="60" dirty="0"/>
              <a:t> </a:t>
            </a:r>
            <a:r>
              <a:rPr spc="325" dirty="0"/>
              <a:t>Service</a:t>
            </a:r>
          </a:p>
        </p:txBody>
      </p:sp>
      <p:pic>
        <p:nvPicPr>
          <p:cNvPr id="15" name="object 15">
            <a:hlinkClick r:id="rId2"/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580244" y="5926073"/>
            <a:ext cx="1754504" cy="419100"/>
          </a:xfrm>
          <a:prstGeom prst="rect">
            <a:avLst/>
          </a:prstGeom>
        </p:spPr>
      </p:pic>
      <p:pic>
        <p:nvPicPr>
          <p:cNvPr id="17" name="Picture 16" descr="A screenshot of a computer program&#10;&#10;Description automatically generated">
            <a:extLst>
              <a:ext uri="{FF2B5EF4-FFF2-40B4-BE49-F238E27FC236}">
                <a16:creationId xmlns:a16="http://schemas.microsoft.com/office/drawing/2014/main" id="{6CC62E0B-52C4-AAD6-7ADE-45667D2F95A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" y="2460625"/>
            <a:ext cx="9869458" cy="2381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708591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1000" y="555625"/>
            <a:ext cx="10256960" cy="1182052"/>
          </a:xfrm>
          <a:prstGeom prst="rect">
            <a:avLst/>
          </a:prstGeom>
        </p:spPr>
        <p:txBody>
          <a:bodyPr vert="horz" wrap="square" lIns="0" tIns="3683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350" dirty="0"/>
              <a:t>Phase</a:t>
            </a:r>
            <a:r>
              <a:rPr spc="65" dirty="0"/>
              <a:t> </a:t>
            </a:r>
            <a:r>
              <a:rPr spc="140" dirty="0"/>
              <a:t>2:</a:t>
            </a:r>
            <a:r>
              <a:rPr spc="65" dirty="0"/>
              <a:t> </a:t>
            </a:r>
            <a:r>
              <a:rPr spc="320" dirty="0"/>
              <a:t>Permanent</a:t>
            </a:r>
            <a:r>
              <a:rPr spc="65" dirty="0"/>
              <a:t> </a:t>
            </a:r>
            <a:r>
              <a:rPr spc="229" dirty="0"/>
              <a:t>Mitigation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87375" y="2749550"/>
            <a:ext cx="8340090" cy="22057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spc="-20" dirty="0">
                <a:solidFill>
                  <a:srgbClr val="CFCBBE"/>
                </a:solidFill>
                <a:latin typeface="Trebuchet MS"/>
                <a:cs typeface="Trebuchet MS"/>
              </a:rPr>
              <a:t>To</a:t>
            </a:r>
            <a:r>
              <a:rPr sz="1350" spc="-5" dirty="0">
                <a:solidFill>
                  <a:srgbClr val="CFCBBE"/>
                </a:solidFill>
                <a:latin typeface="Trebuchet MS"/>
                <a:cs typeface="Trebuchet MS"/>
              </a:rPr>
              <a:t> </a:t>
            </a:r>
            <a:r>
              <a:rPr sz="1350" dirty="0">
                <a:solidFill>
                  <a:srgbClr val="CFCBBE"/>
                </a:solidFill>
                <a:latin typeface="Trebuchet MS"/>
                <a:cs typeface="Trebuchet MS"/>
              </a:rPr>
              <a:t>ensure</a:t>
            </a:r>
            <a:r>
              <a:rPr sz="1350" spc="-5" dirty="0">
                <a:solidFill>
                  <a:srgbClr val="CFCBBE"/>
                </a:solidFill>
                <a:latin typeface="Trebuchet MS"/>
                <a:cs typeface="Trebuchet MS"/>
              </a:rPr>
              <a:t> </a:t>
            </a:r>
            <a:r>
              <a:rPr sz="1350" dirty="0">
                <a:solidFill>
                  <a:srgbClr val="CFCBBE"/>
                </a:solidFill>
                <a:latin typeface="Trebuchet MS"/>
                <a:cs typeface="Trebuchet MS"/>
              </a:rPr>
              <a:t>the</a:t>
            </a:r>
            <a:r>
              <a:rPr sz="1350" spc="-5" dirty="0">
                <a:solidFill>
                  <a:srgbClr val="CFCBBE"/>
                </a:solidFill>
                <a:latin typeface="Trebuchet MS"/>
                <a:cs typeface="Trebuchet MS"/>
              </a:rPr>
              <a:t> </a:t>
            </a:r>
            <a:r>
              <a:rPr sz="1350" dirty="0">
                <a:solidFill>
                  <a:srgbClr val="CFCBBE"/>
                </a:solidFill>
                <a:latin typeface="Trebuchet MS"/>
                <a:cs typeface="Trebuchet MS"/>
              </a:rPr>
              <a:t>service</a:t>
            </a:r>
            <a:r>
              <a:rPr sz="1350" spc="-50" dirty="0">
                <a:solidFill>
                  <a:srgbClr val="CFCBBE"/>
                </a:solidFill>
                <a:latin typeface="Trebuchet MS"/>
                <a:cs typeface="Trebuchet MS"/>
              </a:rPr>
              <a:t> </a:t>
            </a:r>
            <a:r>
              <a:rPr sz="1350" dirty="0">
                <a:solidFill>
                  <a:srgbClr val="CFCBBE"/>
                </a:solidFill>
                <a:latin typeface="Trebuchet MS"/>
                <a:cs typeface="Trebuchet MS"/>
              </a:rPr>
              <a:t>would</a:t>
            </a:r>
            <a:r>
              <a:rPr sz="1350" spc="-5" dirty="0">
                <a:solidFill>
                  <a:srgbClr val="CFCBBE"/>
                </a:solidFill>
                <a:latin typeface="Trebuchet MS"/>
                <a:cs typeface="Trebuchet MS"/>
              </a:rPr>
              <a:t> </a:t>
            </a:r>
            <a:r>
              <a:rPr sz="1350" dirty="0">
                <a:solidFill>
                  <a:srgbClr val="CFCBBE"/>
                </a:solidFill>
                <a:latin typeface="Trebuchet MS"/>
                <a:cs typeface="Trebuchet MS"/>
              </a:rPr>
              <a:t>not</a:t>
            </a:r>
            <a:r>
              <a:rPr sz="1350" spc="-5" dirty="0">
                <a:solidFill>
                  <a:srgbClr val="CFCBBE"/>
                </a:solidFill>
                <a:latin typeface="Trebuchet MS"/>
                <a:cs typeface="Trebuchet MS"/>
              </a:rPr>
              <a:t> </a:t>
            </a:r>
            <a:r>
              <a:rPr sz="1350" spc="-55" dirty="0">
                <a:solidFill>
                  <a:srgbClr val="CFCBBE"/>
                </a:solidFill>
                <a:latin typeface="Trebuchet MS"/>
                <a:cs typeface="Trebuchet MS"/>
              </a:rPr>
              <a:t>rest</a:t>
            </a:r>
            <a:r>
              <a:rPr lang="en-US" sz="1350" spc="-55" dirty="0">
                <a:solidFill>
                  <a:srgbClr val="CFCBBE"/>
                </a:solidFill>
                <a:latin typeface="Trebuchet MS"/>
                <a:cs typeface="Trebuchet MS"/>
              </a:rPr>
              <a:t>a</a:t>
            </a:r>
            <a:r>
              <a:rPr sz="1350" spc="-55" dirty="0">
                <a:solidFill>
                  <a:srgbClr val="CFCBBE"/>
                </a:solidFill>
                <a:latin typeface="Trebuchet MS"/>
                <a:cs typeface="Trebuchet MS"/>
              </a:rPr>
              <a:t>rt</a:t>
            </a:r>
            <a:r>
              <a:rPr sz="1350" spc="-5" dirty="0">
                <a:solidFill>
                  <a:srgbClr val="CFCBBE"/>
                </a:solidFill>
                <a:latin typeface="Trebuchet MS"/>
                <a:cs typeface="Trebuchet MS"/>
              </a:rPr>
              <a:t> </a:t>
            </a:r>
            <a:r>
              <a:rPr lang="en-US" sz="1350" spc="-85" dirty="0">
                <a:solidFill>
                  <a:srgbClr val="CFCBBE"/>
                </a:solidFill>
                <a:latin typeface="Trebuchet MS"/>
                <a:cs typeface="Trebuchet MS"/>
              </a:rPr>
              <a:t>a</a:t>
            </a:r>
            <a:r>
              <a:rPr sz="1350" spc="-85" dirty="0">
                <a:solidFill>
                  <a:srgbClr val="CFCBBE"/>
                </a:solidFill>
                <a:latin typeface="Trebuchet MS"/>
                <a:cs typeface="Trebuchet MS"/>
              </a:rPr>
              <a:t>fter</a:t>
            </a:r>
            <a:r>
              <a:rPr sz="1350" spc="-40" dirty="0">
                <a:solidFill>
                  <a:srgbClr val="CFCBBE"/>
                </a:solidFill>
                <a:latin typeface="Trebuchet MS"/>
                <a:cs typeface="Trebuchet MS"/>
              </a:rPr>
              <a:t> </a:t>
            </a:r>
            <a:r>
              <a:rPr lang="en-US" sz="1350" spc="-225" dirty="0">
                <a:solidFill>
                  <a:srgbClr val="CFCBBE"/>
                </a:solidFill>
                <a:latin typeface="Trebuchet MS"/>
                <a:cs typeface="Trebuchet MS"/>
              </a:rPr>
              <a:t>a</a:t>
            </a:r>
            <a:r>
              <a:rPr sz="1350" spc="-5" dirty="0">
                <a:solidFill>
                  <a:srgbClr val="CFCBBE"/>
                </a:solidFill>
                <a:latin typeface="Trebuchet MS"/>
                <a:cs typeface="Trebuchet MS"/>
              </a:rPr>
              <a:t> </a:t>
            </a:r>
            <a:r>
              <a:rPr sz="1350" spc="-10" dirty="0">
                <a:solidFill>
                  <a:srgbClr val="CFCBBE"/>
                </a:solidFill>
                <a:latin typeface="Trebuchet MS"/>
                <a:cs typeface="Trebuchet MS"/>
              </a:rPr>
              <a:t>reboot,</a:t>
            </a:r>
            <a:r>
              <a:rPr sz="1350" spc="-5" dirty="0">
                <a:solidFill>
                  <a:srgbClr val="CFCBBE"/>
                </a:solidFill>
                <a:latin typeface="Trebuchet MS"/>
                <a:cs typeface="Trebuchet MS"/>
              </a:rPr>
              <a:t> </a:t>
            </a:r>
            <a:r>
              <a:rPr sz="1350" spc="-35" dirty="0">
                <a:solidFill>
                  <a:srgbClr val="CFCBBE"/>
                </a:solidFill>
                <a:latin typeface="Trebuchet MS"/>
                <a:cs typeface="Trebuchet MS"/>
              </a:rPr>
              <a:t>its</a:t>
            </a:r>
            <a:r>
              <a:rPr sz="1350" spc="-5" dirty="0">
                <a:solidFill>
                  <a:srgbClr val="CFCBBE"/>
                </a:solidFill>
                <a:latin typeface="Trebuchet MS"/>
                <a:cs typeface="Trebuchet MS"/>
              </a:rPr>
              <a:t> </a:t>
            </a:r>
            <a:r>
              <a:rPr sz="1350" spc="-20" dirty="0">
                <a:solidFill>
                  <a:srgbClr val="CFCBBE"/>
                </a:solidFill>
                <a:latin typeface="Trebuchet MS"/>
                <a:cs typeface="Trebuchet MS"/>
              </a:rPr>
              <a:t>configur</a:t>
            </a:r>
            <a:r>
              <a:rPr lang="en-US" sz="1350" spc="-20" dirty="0">
                <a:solidFill>
                  <a:srgbClr val="CFCBBE"/>
                </a:solidFill>
                <a:latin typeface="Trebuchet MS"/>
                <a:cs typeface="Trebuchet MS"/>
              </a:rPr>
              <a:t>a</a:t>
            </a:r>
            <a:r>
              <a:rPr sz="1350" spc="-20" dirty="0">
                <a:solidFill>
                  <a:srgbClr val="CFCBBE"/>
                </a:solidFill>
                <a:latin typeface="Trebuchet MS"/>
                <a:cs typeface="Trebuchet MS"/>
              </a:rPr>
              <a:t>tion</a:t>
            </a:r>
            <a:r>
              <a:rPr sz="1350" spc="-50" dirty="0">
                <a:solidFill>
                  <a:srgbClr val="CFCBBE"/>
                </a:solidFill>
                <a:latin typeface="Trebuchet MS"/>
                <a:cs typeface="Trebuchet MS"/>
              </a:rPr>
              <a:t> </a:t>
            </a:r>
            <a:r>
              <a:rPr sz="1350" spc="-10" dirty="0">
                <a:solidFill>
                  <a:srgbClr val="CFCBBE"/>
                </a:solidFill>
                <a:latin typeface="Trebuchet MS"/>
                <a:cs typeface="Trebuchet MS"/>
              </a:rPr>
              <a:t>w</a:t>
            </a:r>
            <a:r>
              <a:rPr lang="en-US" sz="1350" spc="-10" dirty="0">
                <a:solidFill>
                  <a:srgbClr val="CFCBBE"/>
                </a:solidFill>
                <a:latin typeface="Trebuchet MS"/>
                <a:cs typeface="Trebuchet MS"/>
              </a:rPr>
              <a:t>a</a:t>
            </a:r>
            <a:r>
              <a:rPr sz="1350" spc="-10" dirty="0">
                <a:solidFill>
                  <a:srgbClr val="CFCBBE"/>
                </a:solidFill>
                <a:latin typeface="Trebuchet MS"/>
                <a:cs typeface="Trebuchet MS"/>
              </a:rPr>
              <a:t>s</a:t>
            </a:r>
            <a:r>
              <a:rPr sz="1350" spc="-5" dirty="0">
                <a:solidFill>
                  <a:srgbClr val="CFCBBE"/>
                </a:solidFill>
                <a:latin typeface="Trebuchet MS"/>
                <a:cs typeface="Trebuchet MS"/>
              </a:rPr>
              <a:t> </a:t>
            </a:r>
            <a:r>
              <a:rPr sz="1350" dirty="0">
                <a:solidFill>
                  <a:srgbClr val="CFCBBE"/>
                </a:solidFill>
                <a:latin typeface="Trebuchet MS"/>
                <a:cs typeface="Trebuchet MS"/>
              </a:rPr>
              <a:t>modified</a:t>
            </a:r>
            <a:r>
              <a:rPr sz="1350" spc="-5" dirty="0">
                <a:solidFill>
                  <a:srgbClr val="CFCBBE"/>
                </a:solidFill>
                <a:latin typeface="Trebuchet MS"/>
                <a:cs typeface="Trebuchet MS"/>
              </a:rPr>
              <a:t> </a:t>
            </a:r>
            <a:r>
              <a:rPr sz="1350" spc="-25" dirty="0">
                <a:solidFill>
                  <a:srgbClr val="CFCBBE"/>
                </a:solidFill>
                <a:latin typeface="Trebuchet MS"/>
                <a:cs typeface="Trebuchet MS"/>
              </a:rPr>
              <a:t>for</a:t>
            </a:r>
            <a:r>
              <a:rPr sz="1350" spc="-40" dirty="0">
                <a:solidFill>
                  <a:srgbClr val="CFCBBE"/>
                </a:solidFill>
                <a:latin typeface="Trebuchet MS"/>
                <a:cs typeface="Trebuchet MS"/>
              </a:rPr>
              <a:t> </a:t>
            </a:r>
            <a:r>
              <a:rPr lang="en-US" sz="1350" spc="-225" dirty="0">
                <a:solidFill>
                  <a:srgbClr val="CFCBBE"/>
                </a:solidFill>
                <a:latin typeface="Trebuchet MS"/>
                <a:cs typeface="Trebuchet MS"/>
              </a:rPr>
              <a:t>a</a:t>
            </a:r>
            <a:r>
              <a:rPr sz="1350" spc="-5" dirty="0">
                <a:solidFill>
                  <a:srgbClr val="CFCBBE"/>
                </a:solidFill>
                <a:latin typeface="Trebuchet MS"/>
                <a:cs typeface="Trebuchet MS"/>
              </a:rPr>
              <a:t> </a:t>
            </a:r>
            <a:r>
              <a:rPr sz="1350" spc="-20" dirty="0">
                <a:solidFill>
                  <a:srgbClr val="CFCBBE"/>
                </a:solidFill>
                <a:latin typeface="Trebuchet MS"/>
                <a:cs typeface="Trebuchet MS"/>
              </a:rPr>
              <a:t>l</a:t>
            </a:r>
            <a:r>
              <a:rPr lang="en-US" sz="1350" spc="-20" dirty="0">
                <a:solidFill>
                  <a:srgbClr val="CFCBBE"/>
                </a:solidFill>
                <a:latin typeface="Trebuchet MS"/>
                <a:cs typeface="Trebuchet MS"/>
              </a:rPr>
              <a:t>a</a:t>
            </a:r>
            <a:r>
              <a:rPr sz="1350" spc="-20" dirty="0">
                <a:solidFill>
                  <a:srgbClr val="CFCBBE"/>
                </a:solidFill>
                <a:latin typeface="Trebuchet MS"/>
                <a:cs typeface="Trebuchet MS"/>
              </a:rPr>
              <a:t>sting</a:t>
            </a:r>
            <a:r>
              <a:rPr sz="1350" spc="-5" dirty="0">
                <a:solidFill>
                  <a:srgbClr val="CFCBBE"/>
                </a:solidFill>
                <a:latin typeface="Trebuchet MS"/>
                <a:cs typeface="Trebuchet MS"/>
              </a:rPr>
              <a:t> </a:t>
            </a:r>
            <a:r>
              <a:rPr sz="1350" spc="-10" dirty="0">
                <a:solidFill>
                  <a:srgbClr val="CFCBBE"/>
                </a:solidFill>
                <a:latin typeface="Trebuchet MS"/>
                <a:cs typeface="Trebuchet MS"/>
              </a:rPr>
              <a:t>defense.</a:t>
            </a:r>
            <a:endParaRPr sz="1350" dirty="0">
              <a:latin typeface="Trebuchet MS"/>
              <a:cs typeface="Trebuchet MS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600075" y="3209924"/>
            <a:ext cx="5029200" cy="1371600"/>
            <a:chOff x="600075" y="3209924"/>
            <a:chExt cx="5029200" cy="1371600"/>
          </a:xfrm>
        </p:grpSpPr>
        <p:sp>
          <p:nvSpPr>
            <p:cNvPr id="5" name="object 5"/>
            <p:cNvSpPr/>
            <p:nvPr/>
          </p:nvSpPr>
          <p:spPr>
            <a:xfrm>
              <a:off x="609600" y="3219449"/>
              <a:ext cx="5010150" cy="1352550"/>
            </a:xfrm>
            <a:custGeom>
              <a:avLst/>
              <a:gdLst/>
              <a:ahLst/>
              <a:cxnLst/>
              <a:rect l="l" t="t" r="r" b="b"/>
              <a:pathLst>
                <a:path w="5010150" h="1352550">
                  <a:moveTo>
                    <a:pt x="5001526" y="0"/>
                  </a:moveTo>
                  <a:lnTo>
                    <a:pt x="8616" y="0"/>
                  </a:lnTo>
                  <a:lnTo>
                    <a:pt x="5814" y="1155"/>
                  </a:lnTo>
                  <a:lnTo>
                    <a:pt x="1160" y="5803"/>
                  </a:lnTo>
                  <a:lnTo>
                    <a:pt x="0" y="8623"/>
                  </a:lnTo>
                  <a:lnTo>
                    <a:pt x="0" y="1340650"/>
                  </a:lnTo>
                  <a:lnTo>
                    <a:pt x="0" y="1343926"/>
                  </a:lnTo>
                  <a:lnTo>
                    <a:pt x="1160" y="1346733"/>
                  </a:lnTo>
                  <a:lnTo>
                    <a:pt x="5814" y="1351381"/>
                  </a:lnTo>
                  <a:lnTo>
                    <a:pt x="8616" y="1352550"/>
                  </a:lnTo>
                  <a:lnTo>
                    <a:pt x="5001526" y="1352550"/>
                  </a:lnTo>
                  <a:lnTo>
                    <a:pt x="5004333" y="1351381"/>
                  </a:lnTo>
                  <a:lnTo>
                    <a:pt x="5008994" y="1346733"/>
                  </a:lnTo>
                  <a:lnTo>
                    <a:pt x="5010150" y="1343926"/>
                  </a:lnTo>
                  <a:lnTo>
                    <a:pt x="5010150" y="8623"/>
                  </a:lnTo>
                  <a:lnTo>
                    <a:pt x="5008994" y="5803"/>
                  </a:lnTo>
                  <a:lnTo>
                    <a:pt x="5006657" y="3492"/>
                  </a:lnTo>
                  <a:lnTo>
                    <a:pt x="5004333" y="1155"/>
                  </a:lnTo>
                  <a:lnTo>
                    <a:pt x="5001526" y="0"/>
                  </a:lnTo>
                  <a:close/>
                </a:path>
              </a:pathLst>
            </a:custGeom>
            <a:solidFill>
              <a:srgbClr val="1B1C1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09600" y="3219449"/>
              <a:ext cx="5010150" cy="1352550"/>
            </a:xfrm>
            <a:custGeom>
              <a:avLst/>
              <a:gdLst/>
              <a:ahLst/>
              <a:cxnLst/>
              <a:rect l="l" t="t" r="r" b="b"/>
              <a:pathLst>
                <a:path w="5010150" h="1352550">
                  <a:moveTo>
                    <a:pt x="0" y="1340650"/>
                  </a:moveTo>
                  <a:lnTo>
                    <a:pt x="0" y="11912"/>
                  </a:lnTo>
                  <a:lnTo>
                    <a:pt x="0" y="8623"/>
                  </a:lnTo>
                  <a:lnTo>
                    <a:pt x="1160" y="5803"/>
                  </a:lnTo>
                  <a:lnTo>
                    <a:pt x="3487" y="3492"/>
                  </a:lnTo>
                  <a:lnTo>
                    <a:pt x="5814" y="1155"/>
                  </a:lnTo>
                  <a:lnTo>
                    <a:pt x="8616" y="0"/>
                  </a:lnTo>
                  <a:lnTo>
                    <a:pt x="11906" y="0"/>
                  </a:lnTo>
                  <a:lnTo>
                    <a:pt x="4998250" y="0"/>
                  </a:lnTo>
                  <a:lnTo>
                    <a:pt x="5001526" y="0"/>
                  </a:lnTo>
                  <a:lnTo>
                    <a:pt x="5004333" y="1155"/>
                  </a:lnTo>
                  <a:lnTo>
                    <a:pt x="5006657" y="3492"/>
                  </a:lnTo>
                  <a:lnTo>
                    <a:pt x="5008994" y="5803"/>
                  </a:lnTo>
                  <a:lnTo>
                    <a:pt x="5010150" y="8623"/>
                  </a:lnTo>
                  <a:lnTo>
                    <a:pt x="5010150" y="11912"/>
                  </a:lnTo>
                  <a:lnTo>
                    <a:pt x="5010150" y="1340650"/>
                  </a:lnTo>
                  <a:lnTo>
                    <a:pt x="5010150" y="1343926"/>
                  </a:lnTo>
                  <a:lnTo>
                    <a:pt x="5008994" y="1346733"/>
                  </a:lnTo>
                  <a:lnTo>
                    <a:pt x="5006657" y="1349057"/>
                  </a:lnTo>
                  <a:lnTo>
                    <a:pt x="5004333" y="1351381"/>
                  </a:lnTo>
                  <a:lnTo>
                    <a:pt x="5001526" y="1352550"/>
                  </a:lnTo>
                  <a:lnTo>
                    <a:pt x="4998250" y="1352550"/>
                  </a:lnTo>
                  <a:lnTo>
                    <a:pt x="11906" y="1352550"/>
                  </a:lnTo>
                  <a:lnTo>
                    <a:pt x="8616" y="1352550"/>
                  </a:lnTo>
                  <a:lnTo>
                    <a:pt x="5814" y="1351381"/>
                  </a:lnTo>
                  <a:lnTo>
                    <a:pt x="3487" y="1349057"/>
                  </a:lnTo>
                  <a:lnTo>
                    <a:pt x="1160" y="1346733"/>
                  </a:lnTo>
                  <a:lnTo>
                    <a:pt x="0" y="1343926"/>
                  </a:lnTo>
                  <a:lnTo>
                    <a:pt x="0" y="1340650"/>
                  </a:lnTo>
                  <a:close/>
                </a:path>
              </a:pathLst>
            </a:custGeom>
            <a:ln w="19050">
              <a:solidFill>
                <a:srgbClr val="52535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828675" y="3857624"/>
              <a:ext cx="4610100" cy="533400"/>
            </a:xfrm>
            <a:custGeom>
              <a:avLst/>
              <a:gdLst/>
              <a:ahLst/>
              <a:cxnLst/>
              <a:rect l="l" t="t" r="r" b="b"/>
              <a:pathLst>
                <a:path w="4610100" h="533400">
                  <a:moveTo>
                    <a:pt x="4591507" y="0"/>
                  </a:moveTo>
                  <a:lnTo>
                    <a:pt x="18588" y="0"/>
                  </a:lnTo>
                  <a:lnTo>
                    <a:pt x="15854" y="546"/>
                  </a:lnTo>
                  <a:lnTo>
                    <a:pt x="0" y="18592"/>
                  </a:lnTo>
                  <a:lnTo>
                    <a:pt x="0" y="511975"/>
                  </a:lnTo>
                  <a:lnTo>
                    <a:pt x="0" y="514807"/>
                  </a:lnTo>
                  <a:lnTo>
                    <a:pt x="18588" y="533400"/>
                  </a:lnTo>
                  <a:lnTo>
                    <a:pt x="4591507" y="533400"/>
                  </a:lnTo>
                  <a:lnTo>
                    <a:pt x="4610100" y="514807"/>
                  </a:lnTo>
                  <a:lnTo>
                    <a:pt x="4610100" y="18592"/>
                  </a:lnTo>
                  <a:lnTo>
                    <a:pt x="4594250" y="546"/>
                  </a:lnTo>
                  <a:lnTo>
                    <a:pt x="4591507" y="0"/>
                  </a:lnTo>
                  <a:close/>
                </a:path>
              </a:pathLst>
            </a:custGeom>
            <a:solidFill>
              <a:srgbClr val="28292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828674" y="3857625"/>
              <a:ext cx="4610100" cy="533400"/>
            </a:xfrm>
            <a:custGeom>
              <a:avLst/>
              <a:gdLst/>
              <a:ahLst/>
              <a:cxnLst/>
              <a:rect l="l" t="t" r="r" b="b"/>
              <a:pathLst>
                <a:path w="4610100" h="533400">
                  <a:moveTo>
                    <a:pt x="4594592" y="0"/>
                  </a:moveTo>
                  <a:lnTo>
                    <a:pt x="15513" y="0"/>
                  </a:lnTo>
                  <a:lnTo>
                    <a:pt x="10462" y="2095"/>
                  </a:lnTo>
                  <a:lnTo>
                    <a:pt x="2092" y="10464"/>
                  </a:lnTo>
                  <a:lnTo>
                    <a:pt x="0" y="15519"/>
                  </a:lnTo>
                  <a:lnTo>
                    <a:pt x="0" y="517893"/>
                  </a:lnTo>
                  <a:lnTo>
                    <a:pt x="2092" y="522935"/>
                  </a:lnTo>
                  <a:lnTo>
                    <a:pt x="10462" y="531304"/>
                  </a:lnTo>
                  <a:lnTo>
                    <a:pt x="15513" y="533399"/>
                  </a:lnTo>
                  <a:lnTo>
                    <a:pt x="4594592" y="533399"/>
                  </a:lnTo>
                  <a:lnTo>
                    <a:pt x="4599634" y="531304"/>
                  </a:lnTo>
                  <a:lnTo>
                    <a:pt x="4608004" y="522935"/>
                  </a:lnTo>
                  <a:lnTo>
                    <a:pt x="4610099" y="517893"/>
                  </a:lnTo>
                  <a:lnTo>
                    <a:pt x="4610099" y="15519"/>
                  </a:lnTo>
                  <a:lnTo>
                    <a:pt x="4608004" y="10464"/>
                  </a:lnTo>
                  <a:lnTo>
                    <a:pt x="4599634" y="2095"/>
                  </a:lnTo>
                  <a:lnTo>
                    <a:pt x="4594592" y="0"/>
                  </a:lnTo>
                  <a:close/>
                </a:path>
              </a:pathLst>
            </a:custGeom>
            <a:solidFill>
              <a:srgbClr val="28292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978941" y="4006850"/>
            <a:ext cx="2172335" cy="231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spc="80" dirty="0">
                <a:solidFill>
                  <a:srgbClr val="CFCBBE"/>
                </a:solidFill>
                <a:latin typeface="Trebuchet MS"/>
                <a:cs typeface="Trebuchet MS"/>
              </a:rPr>
              <a:t>sudo</a:t>
            </a:r>
            <a:r>
              <a:rPr sz="1350" spc="-50" dirty="0">
                <a:solidFill>
                  <a:srgbClr val="CFCBBE"/>
                </a:solidFill>
                <a:latin typeface="Trebuchet MS"/>
                <a:cs typeface="Trebuchet MS"/>
              </a:rPr>
              <a:t> </a:t>
            </a:r>
            <a:r>
              <a:rPr sz="1350" spc="70" dirty="0">
                <a:solidFill>
                  <a:srgbClr val="CFCBBE"/>
                </a:solidFill>
                <a:latin typeface="Trebuchet MS"/>
                <a:cs typeface="Trebuchet MS"/>
              </a:rPr>
              <a:t>nano</a:t>
            </a:r>
            <a:r>
              <a:rPr sz="1350" spc="-50" dirty="0">
                <a:solidFill>
                  <a:srgbClr val="CFCBBE"/>
                </a:solidFill>
                <a:latin typeface="Trebuchet MS"/>
                <a:cs typeface="Trebuchet MS"/>
              </a:rPr>
              <a:t> </a:t>
            </a:r>
            <a:r>
              <a:rPr sz="1350" spc="-25" dirty="0">
                <a:solidFill>
                  <a:srgbClr val="CFCBBE"/>
                </a:solidFill>
                <a:latin typeface="Trebuchet MS"/>
                <a:cs typeface="Trebuchet MS"/>
              </a:rPr>
              <a:t>/etc/vsftpd.conf</a:t>
            </a:r>
            <a:endParaRPr sz="1350">
              <a:latin typeface="Trebuchet MS"/>
              <a:cs typeface="Trebuchet MS"/>
            </a:endParaRPr>
          </a:p>
        </p:txBody>
      </p:sp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0074" y="3209925"/>
            <a:ext cx="38099" cy="1371599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815975" y="3373437"/>
            <a:ext cx="2520315" cy="2825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spc="225" dirty="0">
                <a:solidFill>
                  <a:srgbClr val="CFCBBE"/>
                </a:solidFill>
                <a:latin typeface="Calibri"/>
                <a:cs typeface="Calibri"/>
              </a:rPr>
              <a:t>Open</a:t>
            </a:r>
            <a:r>
              <a:rPr sz="1650" spc="65" dirty="0">
                <a:solidFill>
                  <a:srgbClr val="CFCBBE"/>
                </a:solidFill>
                <a:latin typeface="Calibri"/>
                <a:cs typeface="Calibri"/>
              </a:rPr>
              <a:t> </a:t>
            </a:r>
            <a:r>
              <a:rPr sz="1650" spc="150" dirty="0">
                <a:solidFill>
                  <a:srgbClr val="CFCBBE"/>
                </a:solidFill>
                <a:latin typeface="Calibri"/>
                <a:cs typeface="Calibri"/>
              </a:rPr>
              <a:t>Configuration</a:t>
            </a:r>
            <a:r>
              <a:rPr sz="1650" spc="65" dirty="0">
                <a:solidFill>
                  <a:srgbClr val="CFCBBE"/>
                </a:solidFill>
                <a:latin typeface="Calibri"/>
                <a:cs typeface="Calibri"/>
              </a:rPr>
              <a:t> </a:t>
            </a:r>
            <a:r>
              <a:rPr sz="1650" spc="155" dirty="0">
                <a:solidFill>
                  <a:srgbClr val="CFCBBE"/>
                </a:solidFill>
                <a:latin typeface="Calibri"/>
                <a:cs typeface="Calibri"/>
              </a:rPr>
              <a:t>File</a:t>
            </a:r>
            <a:endParaRPr sz="1650">
              <a:latin typeface="Calibri"/>
              <a:cs typeface="Calibri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5800724" y="3209924"/>
            <a:ext cx="5029200" cy="1371600"/>
            <a:chOff x="5800724" y="3209924"/>
            <a:chExt cx="5029200" cy="1371600"/>
          </a:xfrm>
        </p:grpSpPr>
        <p:sp>
          <p:nvSpPr>
            <p:cNvPr id="13" name="object 13"/>
            <p:cNvSpPr/>
            <p:nvPr/>
          </p:nvSpPr>
          <p:spPr>
            <a:xfrm>
              <a:off x="5810250" y="3219449"/>
              <a:ext cx="5010150" cy="1352550"/>
            </a:xfrm>
            <a:custGeom>
              <a:avLst/>
              <a:gdLst/>
              <a:ahLst/>
              <a:cxnLst/>
              <a:rect l="l" t="t" r="r" b="b"/>
              <a:pathLst>
                <a:path w="5010150" h="1352550">
                  <a:moveTo>
                    <a:pt x="5001526" y="0"/>
                  </a:moveTo>
                  <a:lnTo>
                    <a:pt x="8623" y="0"/>
                  </a:lnTo>
                  <a:lnTo>
                    <a:pt x="5816" y="1155"/>
                  </a:lnTo>
                  <a:lnTo>
                    <a:pt x="3492" y="3492"/>
                  </a:lnTo>
                  <a:lnTo>
                    <a:pt x="1155" y="5803"/>
                  </a:lnTo>
                  <a:lnTo>
                    <a:pt x="0" y="8623"/>
                  </a:lnTo>
                  <a:lnTo>
                    <a:pt x="0" y="1340650"/>
                  </a:lnTo>
                  <a:lnTo>
                    <a:pt x="0" y="1343926"/>
                  </a:lnTo>
                  <a:lnTo>
                    <a:pt x="1155" y="1346733"/>
                  </a:lnTo>
                  <a:lnTo>
                    <a:pt x="5816" y="1351381"/>
                  </a:lnTo>
                  <a:lnTo>
                    <a:pt x="8623" y="1352550"/>
                  </a:lnTo>
                  <a:lnTo>
                    <a:pt x="5001526" y="1352550"/>
                  </a:lnTo>
                  <a:lnTo>
                    <a:pt x="5004333" y="1351381"/>
                  </a:lnTo>
                  <a:lnTo>
                    <a:pt x="5008981" y="1346733"/>
                  </a:lnTo>
                  <a:lnTo>
                    <a:pt x="5010150" y="1343926"/>
                  </a:lnTo>
                  <a:lnTo>
                    <a:pt x="5010150" y="8623"/>
                  </a:lnTo>
                  <a:lnTo>
                    <a:pt x="5008981" y="5803"/>
                  </a:lnTo>
                  <a:lnTo>
                    <a:pt x="5004333" y="1155"/>
                  </a:lnTo>
                  <a:lnTo>
                    <a:pt x="5001526" y="0"/>
                  </a:lnTo>
                  <a:close/>
                </a:path>
              </a:pathLst>
            </a:custGeom>
            <a:solidFill>
              <a:srgbClr val="1B1C1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810250" y="3219449"/>
              <a:ext cx="5010150" cy="1352550"/>
            </a:xfrm>
            <a:custGeom>
              <a:avLst/>
              <a:gdLst/>
              <a:ahLst/>
              <a:cxnLst/>
              <a:rect l="l" t="t" r="r" b="b"/>
              <a:pathLst>
                <a:path w="5010150" h="1352550">
                  <a:moveTo>
                    <a:pt x="0" y="1340650"/>
                  </a:moveTo>
                  <a:lnTo>
                    <a:pt x="0" y="11912"/>
                  </a:lnTo>
                  <a:lnTo>
                    <a:pt x="0" y="8623"/>
                  </a:lnTo>
                  <a:lnTo>
                    <a:pt x="1155" y="5803"/>
                  </a:lnTo>
                  <a:lnTo>
                    <a:pt x="3492" y="3492"/>
                  </a:lnTo>
                  <a:lnTo>
                    <a:pt x="5816" y="1155"/>
                  </a:lnTo>
                  <a:lnTo>
                    <a:pt x="8623" y="0"/>
                  </a:lnTo>
                  <a:lnTo>
                    <a:pt x="11912" y="0"/>
                  </a:lnTo>
                  <a:lnTo>
                    <a:pt x="4998250" y="0"/>
                  </a:lnTo>
                  <a:lnTo>
                    <a:pt x="5001526" y="0"/>
                  </a:lnTo>
                  <a:lnTo>
                    <a:pt x="5004333" y="1155"/>
                  </a:lnTo>
                  <a:lnTo>
                    <a:pt x="5006657" y="3492"/>
                  </a:lnTo>
                  <a:lnTo>
                    <a:pt x="5008981" y="5803"/>
                  </a:lnTo>
                  <a:lnTo>
                    <a:pt x="5010150" y="8623"/>
                  </a:lnTo>
                  <a:lnTo>
                    <a:pt x="5010150" y="11912"/>
                  </a:lnTo>
                  <a:lnTo>
                    <a:pt x="5010150" y="1340650"/>
                  </a:lnTo>
                  <a:lnTo>
                    <a:pt x="5010150" y="1343926"/>
                  </a:lnTo>
                  <a:lnTo>
                    <a:pt x="5008981" y="1346733"/>
                  </a:lnTo>
                  <a:lnTo>
                    <a:pt x="5006657" y="1349057"/>
                  </a:lnTo>
                  <a:lnTo>
                    <a:pt x="5004333" y="1351381"/>
                  </a:lnTo>
                  <a:lnTo>
                    <a:pt x="5001526" y="1352550"/>
                  </a:lnTo>
                  <a:lnTo>
                    <a:pt x="4998250" y="1352550"/>
                  </a:lnTo>
                  <a:lnTo>
                    <a:pt x="11912" y="1352550"/>
                  </a:lnTo>
                  <a:lnTo>
                    <a:pt x="8623" y="1352550"/>
                  </a:lnTo>
                  <a:lnTo>
                    <a:pt x="5816" y="1351381"/>
                  </a:lnTo>
                  <a:lnTo>
                    <a:pt x="3492" y="1349057"/>
                  </a:lnTo>
                  <a:lnTo>
                    <a:pt x="1155" y="1346733"/>
                  </a:lnTo>
                  <a:lnTo>
                    <a:pt x="0" y="1343926"/>
                  </a:lnTo>
                  <a:lnTo>
                    <a:pt x="0" y="1340650"/>
                  </a:lnTo>
                  <a:close/>
                </a:path>
              </a:pathLst>
            </a:custGeom>
            <a:ln w="19050">
              <a:solidFill>
                <a:srgbClr val="52535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800724" y="3209925"/>
              <a:ext cx="38099" cy="1371599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6019800" y="3790962"/>
              <a:ext cx="2476500" cy="514350"/>
            </a:xfrm>
            <a:custGeom>
              <a:avLst/>
              <a:gdLst/>
              <a:ahLst/>
              <a:cxnLst/>
              <a:rect l="l" t="t" r="r" b="b"/>
              <a:pathLst>
                <a:path w="2476500" h="514350">
                  <a:moveTo>
                    <a:pt x="809625" y="304330"/>
                  </a:moveTo>
                  <a:lnTo>
                    <a:pt x="791032" y="285737"/>
                  </a:lnTo>
                  <a:lnTo>
                    <a:pt x="18592" y="285737"/>
                  </a:lnTo>
                  <a:lnTo>
                    <a:pt x="0" y="304330"/>
                  </a:lnTo>
                  <a:lnTo>
                    <a:pt x="0" y="492912"/>
                  </a:lnTo>
                  <a:lnTo>
                    <a:pt x="0" y="495744"/>
                  </a:lnTo>
                  <a:lnTo>
                    <a:pt x="18592" y="514337"/>
                  </a:lnTo>
                  <a:lnTo>
                    <a:pt x="791032" y="514337"/>
                  </a:lnTo>
                  <a:lnTo>
                    <a:pt x="809625" y="495744"/>
                  </a:lnTo>
                  <a:lnTo>
                    <a:pt x="809625" y="304330"/>
                  </a:lnTo>
                  <a:close/>
                </a:path>
                <a:path w="2476500" h="514350">
                  <a:moveTo>
                    <a:pt x="2476500" y="18580"/>
                  </a:moveTo>
                  <a:lnTo>
                    <a:pt x="2457907" y="0"/>
                  </a:lnTo>
                  <a:lnTo>
                    <a:pt x="1666417" y="0"/>
                  </a:lnTo>
                  <a:lnTo>
                    <a:pt x="1647825" y="18580"/>
                  </a:lnTo>
                  <a:lnTo>
                    <a:pt x="1647825" y="207162"/>
                  </a:lnTo>
                  <a:lnTo>
                    <a:pt x="1647825" y="209994"/>
                  </a:lnTo>
                  <a:lnTo>
                    <a:pt x="1666417" y="228587"/>
                  </a:lnTo>
                  <a:lnTo>
                    <a:pt x="2457907" y="228587"/>
                  </a:lnTo>
                  <a:lnTo>
                    <a:pt x="2476500" y="209994"/>
                  </a:lnTo>
                  <a:lnTo>
                    <a:pt x="2476500" y="18580"/>
                  </a:lnTo>
                  <a:close/>
                </a:path>
              </a:pathLst>
            </a:custGeom>
            <a:solidFill>
              <a:srgbClr val="28292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6016625" y="3373437"/>
            <a:ext cx="4507230" cy="93154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spc="195" dirty="0">
                <a:solidFill>
                  <a:srgbClr val="CFCBBE"/>
                </a:solidFill>
                <a:latin typeface="Calibri"/>
                <a:cs typeface="Calibri"/>
              </a:rPr>
              <a:t>Change</a:t>
            </a:r>
            <a:r>
              <a:rPr sz="1650" spc="45" dirty="0">
                <a:solidFill>
                  <a:srgbClr val="CFCBBE"/>
                </a:solidFill>
                <a:latin typeface="Calibri"/>
                <a:cs typeface="Calibri"/>
              </a:rPr>
              <a:t> </a:t>
            </a:r>
            <a:r>
              <a:rPr sz="1650" spc="165" dirty="0">
                <a:solidFill>
                  <a:srgbClr val="CFCBBE"/>
                </a:solidFill>
                <a:latin typeface="Calibri"/>
                <a:cs typeface="Calibri"/>
              </a:rPr>
              <a:t>Listen</a:t>
            </a:r>
            <a:r>
              <a:rPr sz="1650" spc="45" dirty="0">
                <a:solidFill>
                  <a:srgbClr val="CFCBBE"/>
                </a:solidFill>
                <a:latin typeface="Calibri"/>
                <a:cs typeface="Calibri"/>
              </a:rPr>
              <a:t> </a:t>
            </a:r>
            <a:r>
              <a:rPr sz="1650" spc="140" dirty="0">
                <a:solidFill>
                  <a:srgbClr val="CFCBBE"/>
                </a:solidFill>
                <a:latin typeface="Calibri"/>
                <a:cs typeface="Calibri"/>
              </a:rPr>
              <a:t>Directive</a:t>
            </a:r>
            <a:endParaRPr sz="165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245"/>
              </a:spcBef>
            </a:pPr>
            <a:r>
              <a:rPr sz="1350" dirty="0">
                <a:solidFill>
                  <a:srgbClr val="CFCBBE"/>
                </a:solidFill>
                <a:latin typeface="Trebuchet MS"/>
                <a:cs typeface="Trebuchet MS"/>
              </a:rPr>
              <a:t>Inside</a:t>
            </a:r>
            <a:r>
              <a:rPr sz="1350" spc="5" dirty="0">
                <a:solidFill>
                  <a:srgbClr val="CFCBBE"/>
                </a:solidFill>
                <a:latin typeface="Trebuchet MS"/>
                <a:cs typeface="Trebuchet MS"/>
              </a:rPr>
              <a:t> </a:t>
            </a:r>
            <a:r>
              <a:rPr sz="1350" dirty="0">
                <a:solidFill>
                  <a:srgbClr val="CFCBBE"/>
                </a:solidFill>
                <a:latin typeface="Trebuchet MS"/>
                <a:cs typeface="Trebuchet MS"/>
              </a:rPr>
              <a:t>the</a:t>
            </a:r>
            <a:r>
              <a:rPr sz="1350" spc="5" dirty="0">
                <a:solidFill>
                  <a:srgbClr val="CFCBBE"/>
                </a:solidFill>
                <a:latin typeface="Trebuchet MS"/>
                <a:cs typeface="Trebuchet MS"/>
              </a:rPr>
              <a:t> </a:t>
            </a:r>
            <a:r>
              <a:rPr sz="1350" spc="-55" dirty="0">
                <a:solidFill>
                  <a:srgbClr val="CFCBBE"/>
                </a:solidFill>
                <a:latin typeface="Trebuchet MS"/>
                <a:cs typeface="Trebuchet MS"/>
              </a:rPr>
              <a:t>editor,</a:t>
            </a:r>
            <a:r>
              <a:rPr sz="1350" spc="5" dirty="0">
                <a:solidFill>
                  <a:srgbClr val="CFCBBE"/>
                </a:solidFill>
                <a:latin typeface="Trebuchet MS"/>
                <a:cs typeface="Trebuchet MS"/>
              </a:rPr>
              <a:t> </a:t>
            </a:r>
            <a:r>
              <a:rPr sz="1350" dirty="0">
                <a:solidFill>
                  <a:srgbClr val="CFCBBE"/>
                </a:solidFill>
                <a:latin typeface="Trebuchet MS"/>
                <a:cs typeface="Trebuchet MS"/>
              </a:rPr>
              <a:t>the</a:t>
            </a:r>
            <a:r>
              <a:rPr sz="1350" spc="5" dirty="0">
                <a:solidFill>
                  <a:srgbClr val="CFCBBE"/>
                </a:solidFill>
                <a:latin typeface="Trebuchet MS"/>
                <a:cs typeface="Trebuchet MS"/>
              </a:rPr>
              <a:t> </a:t>
            </a:r>
            <a:r>
              <a:rPr sz="1350" dirty="0">
                <a:solidFill>
                  <a:srgbClr val="CFCBBE"/>
                </a:solidFill>
                <a:latin typeface="Trebuchet MS"/>
                <a:cs typeface="Trebuchet MS"/>
              </a:rPr>
              <a:t>listen=YES</a:t>
            </a:r>
            <a:r>
              <a:rPr sz="1350" spc="10" dirty="0">
                <a:solidFill>
                  <a:srgbClr val="CFCBBE"/>
                </a:solidFill>
                <a:latin typeface="Trebuchet MS"/>
                <a:cs typeface="Trebuchet MS"/>
              </a:rPr>
              <a:t> </a:t>
            </a:r>
            <a:r>
              <a:rPr sz="1350" spc="-10" dirty="0">
                <a:solidFill>
                  <a:srgbClr val="CFCBBE"/>
                </a:solidFill>
                <a:latin typeface="Trebuchet MS"/>
                <a:cs typeface="Trebuchet MS"/>
              </a:rPr>
              <a:t>directive</a:t>
            </a:r>
            <a:r>
              <a:rPr sz="1350" spc="-40" dirty="0">
                <a:solidFill>
                  <a:srgbClr val="CFCBBE"/>
                </a:solidFill>
                <a:latin typeface="Trebuchet MS"/>
                <a:cs typeface="Trebuchet MS"/>
              </a:rPr>
              <a:t> </a:t>
            </a:r>
            <a:r>
              <a:rPr sz="1350" spc="-10" dirty="0">
                <a:solidFill>
                  <a:srgbClr val="CFCBBE"/>
                </a:solidFill>
                <a:latin typeface="Trebuchet MS"/>
                <a:cs typeface="Trebuchet MS"/>
              </a:rPr>
              <a:t>w</a:t>
            </a:r>
            <a:r>
              <a:rPr lang="en-US" sz="1350" spc="-10" dirty="0">
                <a:solidFill>
                  <a:srgbClr val="CFCBBE"/>
                </a:solidFill>
                <a:latin typeface="Trebuchet MS"/>
                <a:cs typeface="Trebuchet MS"/>
              </a:rPr>
              <a:t>a</a:t>
            </a:r>
            <a:r>
              <a:rPr sz="1350" spc="-10" dirty="0">
                <a:solidFill>
                  <a:srgbClr val="CFCBBE"/>
                </a:solidFill>
                <a:latin typeface="Trebuchet MS"/>
                <a:cs typeface="Trebuchet MS"/>
              </a:rPr>
              <a:t>s</a:t>
            </a:r>
            <a:r>
              <a:rPr sz="1350" spc="5" dirty="0">
                <a:solidFill>
                  <a:srgbClr val="CFCBBE"/>
                </a:solidFill>
                <a:latin typeface="Trebuchet MS"/>
                <a:cs typeface="Trebuchet MS"/>
              </a:rPr>
              <a:t> </a:t>
            </a:r>
            <a:r>
              <a:rPr sz="1350" dirty="0">
                <a:solidFill>
                  <a:srgbClr val="CFCBBE"/>
                </a:solidFill>
                <a:latin typeface="Trebuchet MS"/>
                <a:cs typeface="Trebuchet MS"/>
              </a:rPr>
              <a:t>ch</a:t>
            </a:r>
            <a:r>
              <a:rPr lang="en-US" sz="1350" dirty="0">
                <a:solidFill>
                  <a:srgbClr val="CFCBBE"/>
                </a:solidFill>
                <a:latin typeface="Trebuchet MS"/>
                <a:cs typeface="Trebuchet MS"/>
              </a:rPr>
              <a:t>a</a:t>
            </a:r>
            <a:r>
              <a:rPr sz="1350" dirty="0">
                <a:solidFill>
                  <a:srgbClr val="CFCBBE"/>
                </a:solidFill>
                <a:latin typeface="Trebuchet MS"/>
                <a:cs typeface="Trebuchet MS"/>
              </a:rPr>
              <a:t>nged</a:t>
            </a:r>
            <a:r>
              <a:rPr sz="1350" spc="5" dirty="0">
                <a:solidFill>
                  <a:srgbClr val="CFCBBE"/>
                </a:solidFill>
                <a:latin typeface="Trebuchet MS"/>
                <a:cs typeface="Trebuchet MS"/>
              </a:rPr>
              <a:t> </a:t>
            </a:r>
            <a:r>
              <a:rPr sz="1350" spc="-25" dirty="0">
                <a:solidFill>
                  <a:srgbClr val="CFCBBE"/>
                </a:solidFill>
                <a:latin typeface="Trebuchet MS"/>
                <a:cs typeface="Trebuchet MS"/>
              </a:rPr>
              <a:t>to</a:t>
            </a:r>
            <a:endParaRPr sz="1350" dirty="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630"/>
              </a:spcBef>
            </a:pPr>
            <a:r>
              <a:rPr sz="1350" spc="-10" dirty="0">
                <a:solidFill>
                  <a:srgbClr val="CFCBBE"/>
                </a:solidFill>
                <a:latin typeface="Trebuchet MS"/>
                <a:cs typeface="Trebuchet MS"/>
              </a:rPr>
              <a:t>listen=NO.</a:t>
            </a:r>
            <a:endParaRPr sz="1350" dirty="0">
              <a:latin typeface="Trebuchet MS"/>
              <a:cs typeface="Trebuchet MS"/>
            </a:endParaRPr>
          </a:p>
        </p:txBody>
      </p:sp>
      <p:pic>
        <p:nvPicPr>
          <p:cNvPr id="18" name="object 18">
            <a:hlinkClick r:id="rId4"/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580244" y="5926073"/>
            <a:ext cx="1754504" cy="4191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1000" y="555625"/>
            <a:ext cx="10256960" cy="1182052"/>
          </a:xfrm>
          <a:prstGeom prst="rect">
            <a:avLst/>
          </a:prstGeom>
        </p:spPr>
        <p:txBody>
          <a:bodyPr vert="horz" wrap="square" lIns="0" tIns="3683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350" dirty="0"/>
              <a:t>Phase</a:t>
            </a:r>
            <a:r>
              <a:rPr spc="65" dirty="0"/>
              <a:t> </a:t>
            </a:r>
            <a:r>
              <a:rPr spc="140" dirty="0"/>
              <a:t>2:</a:t>
            </a:r>
            <a:r>
              <a:rPr spc="65" dirty="0"/>
              <a:t> </a:t>
            </a:r>
            <a:r>
              <a:rPr spc="320" dirty="0"/>
              <a:t>Permanent</a:t>
            </a:r>
            <a:r>
              <a:rPr spc="65" dirty="0"/>
              <a:t> </a:t>
            </a:r>
            <a:r>
              <a:rPr spc="229" dirty="0"/>
              <a:t>Mitigation</a:t>
            </a:r>
          </a:p>
        </p:txBody>
      </p:sp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0074" y="3209925"/>
            <a:ext cx="38099" cy="1371599"/>
          </a:xfrm>
          <a:prstGeom prst="rect">
            <a:avLst/>
          </a:prstGeom>
        </p:spPr>
      </p:pic>
      <p:pic>
        <p:nvPicPr>
          <p:cNvPr id="18" name="object 18">
            <a:hlinkClick r:id="rId3"/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580244" y="5926073"/>
            <a:ext cx="1754504" cy="419100"/>
          </a:xfrm>
          <a:prstGeom prst="rect">
            <a:avLst/>
          </a:prstGeom>
        </p:spPr>
      </p:pic>
      <p:pic>
        <p:nvPicPr>
          <p:cNvPr id="26" name="Picture 25" descr="A screenshot of a computer program&#10;&#10;Description automatically generated">
            <a:extLst>
              <a:ext uri="{FF2B5EF4-FFF2-40B4-BE49-F238E27FC236}">
                <a16:creationId xmlns:a16="http://schemas.microsoft.com/office/drawing/2014/main" id="{BA19010F-5CAB-DC82-2EBB-CC483082779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8966" y="1592612"/>
            <a:ext cx="8306933" cy="4458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108286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143750" y="253"/>
            <a:ext cx="4286250" cy="6438900"/>
            <a:chOff x="7143750" y="253"/>
            <a:chExt cx="4286250" cy="64389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143750" y="253"/>
              <a:ext cx="4286249" cy="6438900"/>
            </a:xfrm>
            <a:prstGeom prst="rect">
              <a:avLst/>
            </a:prstGeom>
          </p:spPr>
        </p:pic>
        <p:pic>
          <p:nvPicPr>
            <p:cNvPr id="4" name="object 4">
              <a:hlinkClick r:id="rId3"/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580244" y="5926073"/>
              <a:ext cx="1754504" cy="419100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68209" y="536787"/>
            <a:ext cx="10256960" cy="693138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400" spc="350" dirty="0"/>
              <a:t>Phase</a:t>
            </a:r>
            <a:r>
              <a:rPr sz="4400" spc="60" dirty="0"/>
              <a:t> </a:t>
            </a:r>
            <a:r>
              <a:rPr sz="4400" spc="155" dirty="0"/>
              <a:t>3:</a:t>
            </a:r>
            <a:r>
              <a:rPr sz="4400" spc="55" dirty="0"/>
              <a:t> </a:t>
            </a:r>
            <a:r>
              <a:rPr sz="4400" spc="315" dirty="0"/>
              <a:t>Applying</a:t>
            </a:r>
            <a:r>
              <a:rPr sz="4400" spc="60" dirty="0"/>
              <a:t> </a:t>
            </a:r>
            <a:r>
              <a:rPr sz="4400" spc="335" dirty="0"/>
              <a:t>Changes</a:t>
            </a:r>
          </a:p>
        </p:txBody>
      </p:sp>
      <p:grpSp>
        <p:nvGrpSpPr>
          <p:cNvPr id="6" name="object 6"/>
          <p:cNvGrpSpPr/>
          <p:nvPr/>
        </p:nvGrpSpPr>
        <p:grpSpPr>
          <a:xfrm>
            <a:off x="381000" y="3065275"/>
            <a:ext cx="5943600" cy="1333500"/>
            <a:chOff x="600075" y="3590925"/>
            <a:chExt cx="5943600" cy="1333500"/>
          </a:xfrm>
        </p:grpSpPr>
        <p:sp>
          <p:nvSpPr>
            <p:cNvPr id="7" name="object 7"/>
            <p:cNvSpPr/>
            <p:nvPr/>
          </p:nvSpPr>
          <p:spPr>
            <a:xfrm>
              <a:off x="600075" y="3590925"/>
              <a:ext cx="5943600" cy="1333500"/>
            </a:xfrm>
            <a:custGeom>
              <a:avLst/>
              <a:gdLst/>
              <a:ahLst/>
              <a:cxnLst/>
              <a:rect l="l" t="t" r="r" b="b"/>
              <a:pathLst>
                <a:path w="5943600" h="1333500">
                  <a:moveTo>
                    <a:pt x="5925007" y="0"/>
                  </a:moveTo>
                  <a:lnTo>
                    <a:pt x="18588" y="0"/>
                  </a:lnTo>
                  <a:lnTo>
                    <a:pt x="15854" y="546"/>
                  </a:lnTo>
                  <a:lnTo>
                    <a:pt x="0" y="18592"/>
                  </a:lnTo>
                  <a:lnTo>
                    <a:pt x="0" y="1312075"/>
                  </a:lnTo>
                  <a:lnTo>
                    <a:pt x="0" y="1314907"/>
                  </a:lnTo>
                  <a:lnTo>
                    <a:pt x="18588" y="1333500"/>
                  </a:lnTo>
                  <a:lnTo>
                    <a:pt x="5925007" y="1333500"/>
                  </a:lnTo>
                  <a:lnTo>
                    <a:pt x="5943600" y="1314907"/>
                  </a:lnTo>
                  <a:lnTo>
                    <a:pt x="5943600" y="18592"/>
                  </a:lnTo>
                  <a:lnTo>
                    <a:pt x="5927750" y="546"/>
                  </a:lnTo>
                  <a:lnTo>
                    <a:pt x="5925007" y="0"/>
                  </a:lnTo>
                  <a:close/>
                </a:path>
              </a:pathLst>
            </a:custGeom>
            <a:solidFill>
              <a:srgbClr val="3A3B3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71512" y="4219574"/>
              <a:ext cx="5601335" cy="534035"/>
            </a:xfrm>
            <a:custGeom>
              <a:avLst/>
              <a:gdLst/>
              <a:ahLst/>
              <a:cxnLst/>
              <a:rect l="l" t="t" r="r" b="b"/>
              <a:pathLst>
                <a:path w="5601335" h="534035">
                  <a:moveTo>
                    <a:pt x="5600712" y="18592"/>
                  </a:moveTo>
                  <a:lnTo>
                    <a:pt x="5600700" y="15532"/>
                  </a:lnTo>
                  <a:lnTo>
                    <a:pt x="5598604" y="10477"/>
                  </a:lnTo>
                  <a:lnTo>
                    <a:pt x="5596509" y="8394"/>
                  </a:lnTo>
                  <a:lnTo>
                    <a:pt x="5592419" y="4267"/>
                  </a:lnTo>
                  <a:lnTo>
                    <a:pt x="5590235" y="2108"/>
                  </a:lnTo>
                  <a:lnTo>
                    <a:pt x="5585193" y="12"/>
                  </a:lnTo>
                  <a:lnTo>
                    <a:pt x="5582170" y="12"/>
                  </a:lnTo>
                  <a:lnTo>
                    <a:pt x="18592" y="0"/>
                  </a:lnTo>
                  <a:lnTo>
                    <a:pt x="15519" y="12"/>
                  </a:lnTo>
                  <a:lnTo>
                    <a:pt x="10464" y="2108"/>
                  </a:lnTo>
                  <a:lnTo>
                    <a:pt x="8331" y="4241"/>
                  </a:lnTo>
                  <a:lnTo>
                    <a:pt x="4267" y="8280"/>
                  </a:lnTo>
                  <a:lnTo>
                    <a:pt x="2095" y="10477"/>
                  </a:lnTo>
                  <a:lnTo>
                    <a:pt x="0" y="15532"/>
                  </a:lnTo>
                  <a:lnTo>
                    <a:pt x="0" y="517906"/>
                  </a:lnTo>
                  <a:lnTo>
                    <a:pt x="2095" y="522947"/>
                  </a:lnTo>
                  <a:lnTo>
                    <a:pt x="10464" y="531317"/>
                  </a:lnTo>
                  <a:lnTo>
                    <a:pt x="15519" y="533412"/>
                  </a:lnTo>
                  <a:lnTo>
                    <a:pt x="5585193" y="533412"/>
                  </a:lnTo>
                  <a:lnTo>
                    <a:pt x="5590235" y="531317"/>
                  </a:lnTo>
                  <a:lnTo>
                    <a:pt x="5592419" y="529132"/>
                  </a:lnTo>
                  <a:lnTo>
                    <a:pt x="5596445" y="525106"/>
                  </a:lnTo>
                  <a:lnTo>
                    <a:pt x="5598604" y="522947"/>
                  </a:lnTo>
                  <a:lnTo>
                    <a:pt x="5600700" y="517906"/>
                  </a:lnTo>
                  <a:lnTo>
                    <a:pt x="5600700" y="514870"/>
                  </a:lnTo>
                  <a:lnTo>
                    <a:pt x="5600712" y="18592"/>
                  </a:lnTo>
                  <a:close/>
                </a:path>
              </a:pathLst>
            </a:custGeom>
            <a:solidFill>
              <a:srgbClr val="28292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>
            <a:spLocks noGrp="1"/>
          </p:cNvSpPr>
          <p:nvPr>
            <p:ph type="body" idx="1"/>
          </p:nvPr>
        </p:nvSpPr>
        <p:spPr>
          <a:xfrm>
            <a:off x="381000" y="2072754"/>
            <a:ext cx="5230495" cy="20269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34300"/>
              </a:lnSpc>
              <a:spcBef>
                <a:spcPts val="100"/>
              </a:spcBef>
            </a:pPr>
            <a:r>
              <a:rPr sz="1600" dirty="0"/>
              <a:t>The</a:t>
            </a:r>
            <a:r>
              <a:rPr sz="1600" spc="50" dirty="0"/>
              <a:t> </a:t>
            </a:r>
            <a:r>
              <a:rPr sz="1600" spc="-80" dirty="0"/>
              <a:t>fin</a:t>
            </a:r>
            <a:r>
              <a:rPr lang="en-US" sz="1600" spc="-80" dirty="0"/>
              <a:t>a</a:t>
            </a:r>
            <a:r>
              <a:rPr sz="1600" spc="-80" dirty="0"/>
              <a:t>l</a:t>
            </a:r>
            <a:r>
              <a:rPr sz="1600" dirty="0"/>
              <a:t> defense</a:t>
            </a:r>
            <a:r>
              <a:rPr sz="1600" spc="55" dirty="0"/>
              <a:t> </a:t>
            </a:r>
            <a:r>
              <a:rPr sz="1600" dirty="0"/>
              <a:t>step</a:t>
            </a:r>
            <a:r>
              <a:rPr sz="1600" spc="55" dirty="0"/>
              <a:t> </a:t>
            </a:r>
            <a:r>
              <a:rPr sz="1600" dirty="0"/>
              <a:t>involved</a:t>
            </a:r>
            <a:r>
              <a:rPr sz="1600" spc="50" dirty="0"/>
              <a:t> </a:t>
            </a:r>
            <a:r>
              <a:rPr sz="1600" dirty="0"/>
              <a:t>rebooting</a:t>
            </a:r>
            <a:r>
              <a:rPr sz="1600" spc="55" dirty="0"/>
              <a:t> </a:t>
            </a:r>
            <a:r>
              <a:rPr sz="1600" dirty="0"/>
              <a:t>the</a:t>
            </a:r>
            <a:r>
              <a:rPr sz="1600" spc="55" dirty="0"/>
              <a:t> </a:t>
            </a:r>
            <a:r>
              <a:rPr sz="1600" dirty="0"/>
              <a:t>m</a:t>
            </a:r>
            <a:r>
              <a:rPr lang="en-US" sz="1600" dirty="0"/>
              <a:t>a</a:t>
            </a:r>
            <a:r>
              <a:rPr sz="1600" dirty="0"/>
              <a:t>chine</a:t>
            </a:r>
            <a:r>
              <a:rPr sz="1600" spc="50" dirty="0"/>
              <a:t> </a:t>
            </a:r>
            <a:r>
              <a:rPr sz="1600" dirty="0"/>
              <a:t>to</a:t>
            </a:r>
            <a:r>
              <a:rPr sz="1600" spc="55" dirty="0"/>
              <a:t> </a:t>
            </a:r>
            <a:r>
              <a:rPr sz="1600" dirty="0"/>
              <a:t>ensure</a:t>
            </a:r>
            <a:r>
              <a:rPr sz="1600" spc="55" dirty="0"/>
              <a:t> </a:t>
            </a:r>
            <a:r>
              <a:rPr lang="en-US" sz="1600" spc="-60" dirty="0"/>
              <a:t>a</a:t>
            </a:r>
            <a:r>
              <a:rPr sz="1600" spc="-60" dirty="0"/>
              <a:t>ll </a:t>
            </a:r>
            <a:r>
              <a:rPr sz="1600" spc="-10" dirty="0"/>
              <a:t>modific</a:t>
            </a:r>
            <a:r>
              <a:rPr lang="en-US" sz="1600" spc="-10" dirty="0"/>
              <a:t>a</a:t>
            </a:r>
            <a:r>
              <a:rPr sz="1600" spc="-10" dirty="0"/>
              <a:t>tions</a:t>
            </a:r>
            <a:r>
              <a:rPr sz="1600" spc="-70" dirty="0"/>
              <a:t> </a:t>
            </a:r>
            <a:r>
              <a:rPr sz="1600" dirty="0"/>
              <a:t>were</a:t>
            </a:r>
            <a:r>
              <a:rPr sz="1600" spc="-25" dirty="0"/>
              <a:t> </a:t>
            </a:r>
            <a:r>
              <a:rPr sz="1600" spc="-10" dirty="0"/>
              <a:t>fully</a:t>
            </a:r>
            <a:r>
              <a:rPr sz="1600" spc="-65" dirty="0"/>
              <a:t> </a:t>
            </a:r>
            <a:r>
              <a:rPr lang="en-US" sz="1600" spc="-10" dirty="0"/>
              <a:t>a</a:t>
            </a:r>
            <a:r>
              <a:rPr sz="1600" spc="-10" dirty="0"/>
              <a:t>pplied</a:t>
            </a:r>
            <a:r>
              <a:rPr sz="1600" spc="-25" dirty="0"/>
              <a:t> </a:t>
            </a:r>
            <a:r>
              <a:rPr lang="en-US" sz="1600" spc="-35" dirty="0"/>
              <a:t>a</a:t>
            </a:r>
            <a:r>
              <a:rPr sz="1600" spc="-35" dirty="0"/>
              <a:t>nd</a:t>
            </a:r>
            <a:r>
              <a:rPr sz="1600" spc="-25" dirty="0"/>
              <a:t> </a:t>
            </a:r>
            <a:r>
              <a:rPr lang="en-US" sz="1600" spc="-10" dirty="0"/>
              <a:t>a</a:t>
            </a:r>
            <a:r>
              <a:rPr sz="1600" spc="-10" dirty="0"/>
              <a:t>ctive.</a:t>
            </a:r>
          </a:p>
          <a:p>
            <a:pPr>
              <a:lnSpc>
                <a:spcPct val="100000"/>
              </a:lnSpc>
            </a:pPr>
            <a:endParaRPr sz="1600" spc="-10" dirty="0"/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600" spc="-10" dirty="0"/>
          </a:p>
          <a:p>
            <a:pPr marL="184150">
              <a:lnSpc>
                <a:spcPct val="100000"/>
              </a:lnSpc>
              <a:spcBef>
                <a:spcPts val="5"/>
              </a:spcBef>
            </a:pPr>
            <a:r>
              <a:rPr sz="2000" spc="160" dirty="0">
                <a:latin typeface="Calibri"/>
                <a:cs typeface="Calibri"/>
              </a:rPr>
              <a:t>Reboot</a:t>
            </a:r>
            <a:r>
              <a:rPr sz="2000" spc="40" dirty="0">
                <a:latin typeface="Calibri"/>
                <a:cs typeface="Calibri"/>
              </a:rPr>
              <a:t> </a:t>
            </a:r>
            <a:r>
              <a:rPr sz="2000" spc="110" dirty="0">
                <a:latin typeface="Calibri"/>
                <a:cs typeface="Calibri"/>
              </a:rPr>
              <a:t>the</a:t>
            </a:r>
            <a:r>
              <a:rPr sz="2000" spc="40" dirty="0">
                <a:latin typeface="Calibri"/>
                <a:cs typeface="Calibri"/>
              </a:rPr>
              <a:t> </a:t>
            </a:r>
            <a:r>
              <a:rPr sz="2000" spc="170" dirty="0">
                <a:latin typeface="Calibri"/>
                <a:cs typeface="Calibri"/>
              </a:rPr>
              <a:t>Machine</a:t>
            </a:r>
            <a:endParaRPr sz="2000" dirty="0">
              <a:latin typeface="Calibri"/>
              <a:cs typeface="Calibri"/>
            </a:endParaRPr>
          </a:p>
          <a:p>
            <a:pPr marL="346710">
              <a:lnSpc>
                <a:spcPct val="100000"/>
              </a:lnSpc>
            </a:pPr>
            <a:endParaRPr lang="en-US" sz="2000" dirty="0">
              <a:latin typeface="Calibri"/>
              <a:cs typeface="Calibri"/>
            </a:endParaRPr>
          </a:p>
          <a:p>
            <a:pPr marL="346710">
              <a:lnSpc>
                <a:spcPct val="100000"/>
              </a:lnSpc>
            </a:pPr>
            <a:r>
              <a:rPr sz="1600" spc="80" dirty="0" err="1"/>
              <a:t>sudo</a:t>
            </a:r>
            <a:r>
              <a:rPr sz="1600" spc="-50" dirty="0"/>
              <a:t> </a:t>
            </a:r>
            <a:r>
              <a:rPr sz="1600" spc="-10" dirty="0"/>
              <a:t>reboot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143750" y="253"/>
            <a:ext cx="4286250" cy="6438900"/>
            <a:chOff x="7143750" y="253"/>
            <a:chExt cx="4286250" cy="64389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143750" y="253"/>
              <a:ext cx="4286249" cy="6438900"/>
            </a:xfrm>
            <a:prstGeom prst="rect">
              <a:avLst/>
            </a:prstGeom>
          </p:spPr>
        </p:pic>
        <p:pic>
          <p:nvPicPr>
            <p:cNvPr id="4" name="object 4">
              <a:hlinkClick r:id="rId3"/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580244" y="5926073"/>
              <a:ext cx="1754504" cy="419100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68209" y="536787"/>
            <a:ext cx="10256960" cy="693138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400" spc="350" dirty="0"/>
              <a:t>Phase</a:t>
            </a:r>
            <a:r>
              <a:rPr sz="4400" spc="60" dirty="0"/>
              <a:t> </a:t>
            </a:r>
            <a:r>
              <a:rPr sz="4400" spc="155" dirty="0"/>
              <a:t>3:</a:t>
            </a:r>
            <a:r>
              <a:rPr sz="4400" spc="55" dirty="0"/>
              <a:t> </a:t>
            </a:r>
            <a:r>
              <a:rPr sz="4400" spc="315" dirty="0"/>
              <a:t>Applying</a:t>
            </a:r>
            <a:r>
              <a:rPr sz="4400" spc="60" dirty="0"/>
              <a:t> </a:t>
            </a:r>
            <a:r>
              <a:rPr sz="4400" spc="335" dirty="0"/>
              <a:t>Changes</a:t>
            </a:r>
          </a:p>
        </p:txBody>
      </p:sp>
      <p:pic>
        <p:nvPicPr>
          <p:cNvPr id="13" name="Picture 12" descr="A screenshot of a computer&#10;&#10;Description automatically generated">
            <a:extLst>
              <a:ext uri="{FF2B5EF4-FFF2-40B4-BE49-F238E27FC236}">
                <a16:creationId xmlns:a16="http://schemas.microsoft.com/office/drawing/2014/main" id="{E218DB17-8EBC-12D4-ECD2-1EB3A9B58C1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2" y="1395430"/>
            <a:ext cx="7439616" cy="4530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377850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350" dirty="0"/>
              <a:t>Phase</a:t>
            </a:r>
            <a:r>
              <a:rPr spc="55" dirty="0"/>
              <a:t> </a:t>
            </a:r>
            <a:r>
              <a:rPr spc="100" dirty="0"/>
              <a:t>4:</a:t>
            </a:r>
            <a:r>
              <a:rPr spc="60" dirty="0"/>
              <a:t> </a:t>
            </a:r>
            <a:r>
              <a:rPr spc="360" dirty="0"/>
              <a:t>Final</a:t>
            </a:r>
            <a:r>
              <a:rPr spc="50" dirty="0"/>
              <a:t> </a:t>
            </a:r>
            <a:r>
              <a:rPr spc="215" dirty="0"/>
              <a:t>Verification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87375" y="2501900"/>
            <a:ext cx="9284335" cy="22057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spc="110" dirty="0">
                <a:solidFill>
                  <a:srgbClr val="CFCBBE"/>
                </a:solidFill>
                <a:latin typeface="Trebuchet MS"/>
                <a:cs typeface="Trebuchet MS"/>
              </a:rPr>
              <a:t>A</a:t>
            </a:r>
            <a:r>
              <a:rPr sz="1350" spc="-65" dirty="0">
                <a:solidFill>
                  <a:srgbClr val="CFCBBE"/>
                </a:solidFill>
                <a:latin typeface="Trebuchet MS"/>
                <a:cs typeface="Trebuchet MS"/>
              </a:rPr>
              <a:t> </a:t>
            </a:r>
            <a:r>
              <a:rPr sz="1350" dirty="0">
                <a:solidFill>
                  <a:srgbClr val="CFCBBE"/>
                </a:solidFill>
                <a:latin typeface="Trebuchet MS"/>
                <a:cs typeface="Trebuchet MS"/>
              </a:rPr>
              <a:t>sc</a:t>
            </a:r>
            <a:r>
              <a:rPr lang="en-US" sz="1350" dirty="0">
                <a:solidFill>
                  <a:srgbClr val="CFCBBE"/>
                </a:solidFill>
                <a:latin typeface="Trebuchet MS"/>
                <a:cs typeface="Trebuchet MS"/>
              </a:rPr>
              <a:t>a</a:t>
            </a:r>
            <a:r>
              <a:rPr sz="1350" dirty="0">
                <a:solidFill>
                  <a:srgbClr val="CFCBBE"/>
                </a:solidFill>
                <a:latin typeface="Trebuchet MS"/>
                <a:cs typeface="Trebuchet MS"/>
              </a:rPr>
              <a:t>n</a:t>
            </a:r>
            <a:r>
              <a:rPr sz="1350" spc="-15" dirty="0">
                <a:solidFill>
                  <a:srgbClr val="CFCBBE"/>
                </a:solidFill>
                <a:latin typeface="Trebuchet MS"/>
                <a:cs typeface="Trebuchet MS"/>
              </a:rPr>
              <a:t> </a:t>
            </a:r>
            <a:r>
              <a:rPr sz="1350" dirty="0">
                <a:solidFill>
                  <a:srgbClr val="CFCBBE"/>
                </a:solidFill>
                <a:latin typeface="Trebuchet MS"/>
                <a:cs typeface="Trebuchet MS"/>
              </a:rPr>
              <a:t>from</a:t>
            </a:r>
            <a:r>
              <a:rPr sz="1350" spc="-15" dirty="0">
                <a:solidFill>
                  <a:srgbClr val="CFCBBE"/>
                </a:solidFill>
                <a:latin typeface="Trebuchet MS"/>
                <a:cs typeface="Trebuchet MS"/>
              </a:rPr>
              <a:t> </a:t>
            </a:r>
            <a:r>
              <a:rPr sz="1350" dirty="0">
                <a:solidFill>
                  <a:srgbClr val="CFCBBE"/>
                </a:solidFill>
                <a:latin typeface="Trebuchet MS"/>
                <a:cs typeface="Trebuchet MS"/>
              </a:rPr>
              <a:t>the</a:t>
            </a:r>
            <a:r>
              <a:rPr sz="1350" spc="-15" dirty="0">
                <a:solidFill>
                  <a:srgbClr val="CFCBBE"/>
                </a:solidFill>
                <a:latin typeface="Trebuchet MS"/>
                <a:cs typeface="Trebuchet MS"/>
              </a:rPr>
              <a:t> </a:t>
            </a:r>
            <a:r>
              <a:rPr sz="1350" spc="-70" dirty="0">
                <a:solidFill>
                  <a:srgbClr val="CFCBBE"/>
                </a:solidFill>
                <a:latin typeface="Trebuchet MS"/>
                <a:cs typeface="Trebuchet MS"/>
              </a:rPr>
              <a:t>K</a:t>
            </a:r>
            <a:r>
              <a:rPr lang="en-US" sz="1350" spc="-70" dirty="0">
                <a:solidFill>
                  <a:srgbClr val="CFCBBE"/>
                </a:solidFill>
                <a:latin typeface="Trebuchet MS"/>
                <a:cs typeface="Trebuchet MS"/>
              </a:rPr>
              <a:t>a</a:t>
            </a:r>
            <a:r>
              <a:rPr sz="1350" spc="-70" dirty="0">
                <a:solidFill>
                  <a:srgbClr val="CFCBBE"/>
                </a:solidFill>
                <a:latin typeface="Trebuchet MS"/>
                <a:cs typeface="Trebuchet MS"/>
              </a:rPr>
              <a:t>li</a:t>
            </a:r>
            <a:r>
              <a:rPr sz="1350" spc="-15" dirty="0">
                <a:solidFill>
                  <a:srgbClr val="CFCBBE"/>
                </a:solidFill>
                <a:latin typeface="Trebuchet MS"/>
                <a:cs typeface="Trebuchet MS"/>
              </a:rPr>
              <a:t> </a:t>
            </a:r>
            <a:r>
              <a:rPr sz="1350" dirty="0">
                <a:solidFill>
                  <a:srgbClr val="CFCBBE"/>
                </a:solidFill>
                <a:latin typeface="Trebuchet MS"/>
                <a:cs typeface="Trebuchet MS"/>
              </a:rPr>
              <a:t>Linux</a:t>
            </a:r>
            <a:r>
              <a:rPr sz="1350" spc="-20" dirty="0">
                <a:solidFill>
                  <a:srgbClr val="CFCBBE"/>
                </a:solidFill>
                <a:latin typeface="Trebuchet MS"/>
                <a:cs typeface="Trebuchet MS"/>
              </a:rPr>
              <a:t> </a:t>
            </a:r>
            <a:r>
              <a:rPr sz="1350" dirty="0">
                <a:solidFill>
                  <a:srgbClr val="CFCBBE"/>
                </a:solidFill>
                <a:latin typeface="Trebuchet MS"/>
                <a:cs typeface="Trebuchet MS"/>
              </a:rPr>
              <a:t>m</a:t>
            </a:r>
            <a:r>
              <a:rPr lang="en-US" sz="1350" dirty="0">
                <a:solidFill>
                  <a:srgbClr val="CFCBBE"/>
                </a:solidFill>
                <a:latin typeface="Trebuchet MS"/>
                <a:cs typeface="Trebuchet MS"/>
              </a:rPr>
              <a:t>a</a:t>
            </a:r>
            <a:r>
              <a:rPr sz="1350" dirty="0">
                <a:solidFill>
                  <a:srgbClr val="CFCBBE"/>
                </a:solidFill>
                <a:latin typeface="Trebuchet MS"/>
                <a:cs typeface="Trebuchet MS"/>
              </a:rPr>
              <a:t>chine</a:t>
            </a:r>
            <a:r>
              <a:rPr sz="1350" spc="-15" dirty="0">
                <a:solidFill>
                  <a:srgbClr val="CFCBBE"/>
                </a:solidFill>
                <a:latin typeface="Trebuchet MS"/>
                <a:cs typeface="Trebuchet MS"/>
              </a:rPr>
              <a:t> </a:t>
            </a:r>
            <a:r>
              <a:rPr sz="1350" dirty="0">
                <a:solidFill>
                  <a:srgbClr val="CFCBBE"/>
                </a:solidFill>
                <a:latin typeface="Trebuchet MS"/>
                <a:cs typeface="Trebuchet MS"/>
              </a:rPr>
              <a:t>confirmed</a:t>
            </a:r>
            <a:r>
              <a:rPr sz="1350" spc="-15" dirty="0">
                <a:solidFill>
                  <a:srgbClr val="CFCBBE"/>
                </a:solidFill>
                <a:latin typeface="Trebuchet MS"/>
                <a:cs typeface="Trebuchet MS"/>
              </a:rPr>
              <a:t> </a:t>
            </a:r>
            <a:r>
              <a:rPr sz="1350" dirty="0">
                <a:solidFill>
                  <a:srgbClr val="CFCBBE"/>
                </a:solidFill>
                <a:latin typeface="Trebuchet MS"/>
                <a:cs typeface="Trebuchet MS"/>
              </a:rPr>
              <a:t>the</a:t>
            </a:r>
            <a:r>
              <a:rPr sz="1350" spc="-15" dirty="0">
                <a:solidFill>
                  <a:srgbClr val="CFCBBE"/>
                </a:solidFill>
                <a:latin typeface="Trebuchet MS"/>
                <a:cs typeface="Trebuchet MS"/>
              </a:rPr>
              <a:t> </a:t>
            </a:r>
            <a:r>
              <a:rPr sz="1350" spc="75" dirty="0">
                <a:solidFill>
                  <a:srgbClr val="CFCBBE"/>
                </a:solidFill>
                <a:latin typeface="Trebuchet MS"/>
                <a:cs typeface="Trebuchet MS"/>
              </a:rPr>
              <a:t>success</a:t>
            </a:r>
            <a:r>
              <a:rPr sz="1350" spc="-15" dirty="0">
                <a:solidFill>
                  <a:srgbClr val="CFCBBE"/>
                </a:solidFill>
                <a:latin typeface="Trebuchet MS"/>
                <a:cs typeface="Trebuchet MS"/>
              </a:rPr>
              <a:t> </a:t>
            </a:r>
            <a:r>
              <a:rPr sz="1350" dirty="0">
                <a:solidFill>
                  <a:srgbClr val="CFCBBE"/>
                </a:solidFill>
                <a:latin typeface="Trebuchet MS"/>
                <a:cs typeface="Trebuchet MS"/>
              </a:rPr>
              <a:t>of</a:t>
            </a:r>
            <a:r>
              <a:rPr sz="1350" spc="-50" dirty="0">
                <a:solidFill>
                  <a:srgbClr val="CFCBBE"/>
                </a:solidFill>
                <a:latin typeface="Trebuchet MS"/>
                <a:cs typeface="Trebuchet MS"/>
              </a:rPr>
              <a:t> </a:t>
            </a:r>
            <a:r>
              <a:rPr sz="1350" dirty="0">
                <a:solidFill>
                  <a:srgbClr val="CFCBBE"/>
                </a:solidFill>
                <a:latin typeface="Trebuchet MS"/>
                <a:cs typeface="Trebuchet MS"/>
              </a:rPr>
              <a:t>the</a:t>
            </a:r>
            <a:r>
              <a:rPr sz="1350" spc="-20" dirty="0">
                <a:solidFill>
                  <a:srgbClr val="CFCBBE"/>
                </a:solidFill>
                <a:latin typeface="Trebuchet MS"/>
                <a:cs typeface="Trebuchet MS"/>
              </a:rPr>
              <a:t> </a:t>
            </a:r>
            <a:r>
              <a:rPr sz="1350" dirty="0">
                <a:solidFill>
                  <a:srgbClr val="CFCBBE"/>
                </a:solidFill>
                <a:latin typeface="Trebuchet MS"/>
                <a:cs typeface="Trebuchet MS"/>
              </a:rPr>
              <a:t>defense</a:t>
            </a:r>
            <a:r>
              <a:rPr sz="1350" spc="-15" dirty="0">
                <a:solidFill>
                  <a:srgbClr val="CFCBBE"/>
                </a:solidFill>
                <a:latin typeface="Trebuchet MS"/>
                <a:cs typeface="Trebuchet MS"/>
              </a:rPr>
              <a:t> </a:t>
            </a:r>
            <a:r>
              <a:rPr sz="1350" spc="60" dirty="0">
                <a:solidFill>
                  <a:srgbClr val="CFCBBE"/>
                </a:solidFill>
                <a:latin typeface="Trebuchet MS"/>
                <a:cs typeface="Trebuchet MS"/>
              </a:rPr>
              <a:t>by</a:t>
            </a:r>
            <a:r>
              <a:rPr sz="1350" spc="-55" dirty="0">
                <a:solidFill>
                  <a:srgbClr val="CFCBBE"/>
                </a:solidFill>
                <a:latin typeface="Trebuchet MS"/>
                <a:cs typeface="Trebuchet MS"/>
              </a:rPr>
              <a:t> </a:t>
            </a:r>
            <a:r>
              <a:rPr sz="1350" spc="55" dirty="0">
                <a:solidFill>
                  <a:srgbClr val="CFCBBE"/>
                </a:solidFill>
                <a:latin typeface="Trebuchet MS"/>
                <a:cs typeface="Trebuchet MS"/>
              </a:rPr>
              <a:t>showing</a:t>
            </a:r>
            <a:r>
              <a:rPr sz="1350" spc="-15" dirty="0">
                <a:solidFill>
                  <a:srgbClr val="CFCBBE"/>
                </a:solidFill>
                <a:latin typeface="Trebuchet MS"/>
                <a:cs typeface="Trebuchet MS"/>
              </a:rPr>
              <a:t> </a:t>
            </a:r>
            <a:r>
              <a:rPr sz="1350" dirty="0">
                <a:solidFill>
                  <a:srgbClr val="CFCBBE"/>
                </a:solidFill>
                <a:latin typeface="Trebuchet MS"/>
                <a:cs typeface="Trebuchet MS"/>
              </a:rPr>
              <a:t>the</a:t>
            </a:r>
            <a:r>
              <a:rPr sz="1350" spc="-15" dirty="0">
                <a:solidFill>
                  <a:srgbClr val="CFCBBE"/>
                </a:solidFill>
                <a:latin typeface="Trebuchet MS"/>
                <a:cs typeface="Trebuchet MS"/>
              </a:rPr>
              <a:t> </a:t>
            </a:r>
            <a:r>
              <a:rPr sz="1350" spc="-20" dirty="0">
                <a:solidFill>
                  <a:srgbClr val="CFCBBE"/>
                </a:solidFill>
                <a:latin typeface="Trebuchet MS"/>
                <a:cs typeface="Trebuchet MS"/>
              </a:rPr>
              <a:t>t</a:t>
            </a:r>
            <a:r>
              <a:rPr lang="en-US" sz="1350" spc="-20" dirty="0">
                <a:solidFill>
                  <a:srgbClr val="CFCBBE"/>
                </a:solidFill>
                <a:latin typeface="Trebuchet MS"/>
                <a:cs typeface="Trebuchet MS"/>
              </a:rPr>
              <a:t>a</a:t>
            </a:r>
            <a:r>
              <a:rPr sz="1350" spc="-20" dirty="0">
                <a:solidFill>
                  <a:srgbClr val="CFCBBE"/>
                </a:solidFill>
                <a:latin typeface="Trebuchet MS"/>
                <a:cs typeface="Trebuchet MS"/>
              </a:rPr>
              <a:t>rgeted</a:t>
            </a:r>
            <a:r>
              <a:rPr sz="1350" spc="-15" dirty="0">
                <a:solidFill>
                  <a:srgbClr val="CFCBBE"/>
                </a:solidFill>
                <a:latin typeface="Trebuchet MS"/>
                <a:cs typeface="Trebuchet MS"/>
              </a:rPr>
              <a:t> </a:t>
            </a:r>
            <a:r>
              <a:rPr sz="1350" dirty="0">
                <a:solidFill>
                  <a:srgbClr val="CFCBBE"/>
                </a:solidFill>
                <a:latin typeface="Trebuchet MS"/>
                <a:cs typeface="Trebuchet MS"/>
              </a:rPr>
              <a:t>ports</a:t>
            </a:r>
            <a:r>
              <a:rPr sz="1350" spc="-65" dirty="0">
                <a:solidFill>
                  <a:srgbClr val="CFCBBE"/>
                </a:solidFill>
                <a:latin typeface="Trebuchet MS"/>
                <a:cs typeface="Trebuchet MS"/>
              </a:rPr>
              <a:t> </a:t>
            </a:r>
            <a:r>
              <a:rPr sz="1350" dirty="0">
                <a:solidFill>
                  <a:srgbClr val="CFCBBE"/>
                </a:solidFill>
                <a:latin typeface="Trebuchet MS"/>
                <a:cs typeface="Trebuchet MS"/>
              </a:rPr>
              <a:t>were</a:t>
            </a:r>
            <a:r>
              <a:rPr sz="1350" spc="-15" dirty="0">
                <a:solidFill>
                  <a:srgbClr val="CFCBBE"/>
                </a:solidFill>
                <a:latin typeface="Trebuchet MS"/>
                <a:cs typeface="Trebuchet MS"/>
              </a:rPr>
              <a:t> </a:t>
            </a:r>
            <a:r>
              <a:rPr sz="1350" spc="-10" dirty="0">
                <a:solidFill>
                  <a:srgbClr val="CFCBBE"/>
                </a:solidFill>
                <a:latin typeface="Trebuchet MS"/>
                <a:cs typeface="Trebuchet MS"/>
              </a:rPr>
              <a:t>closed.</a:t>
            </a:r>
            <a:endParaRPr sz="1350" dirty="0">
              <a:latin typeface="Trebuchet MS"/>
              <a:cs typeface="Trebuchet MS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600074" y="3219449"/>
            <a:ext cx="5029200" cy="1609725"/>
            <a:chOff x="600074" y="3219449"/>
            <a:chExt cx="5029200" cy="1609725"/>
          </a:xfrm>
        </p:grpSpPr>
        <p:sp>
          <p:nvSpPr>
            <p:cNvPr id="5" name="object 5"/>
            <p:cNvSpPr/>
            <p:nvPr/>
          </p:nvSpPr>
          <p:spPr>
            <a:xfrm>
              <a:off x="609600" y="3219449"/>
              <a:ext cx="5010150" cy="1600200"/>
            </a:xfrm>
            <a:custGeom>
              <a:avLst/>
              <a:gdLst/>
              <a:ahLst/>
              <a:cxnLst/>
              <a:rect l="l" t="t" r="r" b="b"/>
              <a:pathLst>
                <a:path w="5010150" h="1600200">
                  <a:moveTo>
                    <a:pt x="4947856" y="0"/>
                  </a:moveTo>
                  <a:lnTo>
                    <a:pt x="62299" y="0"/>
                  </a:lnTo>
                  <a:lnTo>
                    <a:pt x="57964" y="482"/>
                  </a:lnTo>
                  <a:lnTo>
                    <a:pt x="22622" y="18783"/>
                  </a:lnTo>
                  <a:lnTo>
                    <a:pt x="2133" y="56426"/>
                  </a:lnTo>
                  <a:lnTo>
                    <a:pt x="0" y="71196"/>
                  </a:lnTo>
                  <a:lnTo>
                    <a:pt x="0" y="1588300"/>
                  </a:lnTo>
                  <a:lnTo>
                    <a:pt x="0" y="1591576"/>
                  </a:lnTo>
                  <a:lnTo>
                    <a:pt x="1160" y="1594383"/>
                  </a:lnTo>
                  <a:lnTo>
                    <a:pt x="5814" y="1599031"/>
                  </a:lnTo>
                  <a:lnTo>
                    <a:pt x="8616" y="1600200"/>
                  </a:lnTo>
                  <a:lnTo>
                    <a:pt x="5001526" y="1600200"/>
                  </a:lnTo>
                  <a:lnTo>
                    <a:pt x="5004333" y="1599031"/>
                  </a:lnTo>
                  <a:lnTo>
                    <a:pt x="5008994" y="1594383"/>
                  </a:lnTo>
                  <a:lnTo>
                    <a:pt x="5010150" y="1591576"/>
                  </a:lnTo>
                  <a:lnTo>
                    <a:pt x="5010150" y="71196"/>
                  </a:lnTo>
                  <a:lnTo>
                    <a:pt x="4996484" y="29705"/>
                  </a:lnTo>
                  <a:lnTo>
                    <a:pt x="4964950" y="3886"/>
                  </a:lnTo>
                  <a:lnTo>
                    <a:pt x="4952187" y="482"/>
                  </a:lnTo>
                  <a:lnTo>
                    <a:pt x="4947856" y="0"/>
                  </a:lnTo>
                  <a:close/>
                </a:path>
              </a:pathLst>
            </a:custGeom>
            <a:solidFill>
              <a:srgbClr val="1B1C1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00062" y="3220300"/>
              <a:ext cx="5029200" cy="1609090"/>
            </a:xfrm>
            <a:custGeom>
              <a:avLst/>
              <a:gdLst/>
              <a:ahLst/>
              <a:cxnLst/>
              <a:rect l="l" t="t" r="r" b="b"/>
              <a:pathLst>
                <a:path w="5029200" h="1609089">
                  <a:moveTo>
                    <a:pt x="5029200" y="75361"/>
                  </a:moveTo>
                  <a:lnTo>
                    <a:pt x="5016373" y="33020"/>
                  </a:lnTo>
                  <a:lnTo>
                    <a:pt x="4982159" y="4965"/>
                  </a:lnTo>
                  <a:lnTo>
                    <a:pt x="4963769" y="0"/>
                  </a:lnTo>
                  <a:lnTo>
                    <a:pt x="4967871" y="1092"/>
                  </a:lnTo>
                  <a:lnTo>
                    <a:pt x="4981867" y="8826"/>
                  </a:lnTo>
                  <a:lnTo>
                    <a:pt x="5005794" y="46202"/>
                  </a:lnTo>
                  <a:lnTo>
                    <a:pt x="5010150" y="75361"/>
                  </a:lnTo>
                  <a:lnTo>
                    <a:pt x="5010150" y="1589049"/>
                  </a:lnTo>
                  <a:lnTo>
                    <a:pt x="5009756" y="1589443"/>
                  </a:lnTo>
                  <a:lnTo>
                    <a:pt x="5009362" y="1589836"/>
                  </a:lnTo>
                  <a:lnTo>
                    <a:pt x="19850" y="1589836"/>
                  </a:lnTo>
                  <a:lnTo>
                    <a:pt x="19050" y="1589049"/>
                  </a:lnTo>
                  <a:lnTo>
                    <a:pt x="19050" y="75361"/>
                  </a:lnTo>
                  <a:lnTo>
                    <a:pt x="19329" y="67843"/>
                  </a:lnTo>
                  <a:lnTo>
                    <a:pt x="32004" y="27038"/>
                  </a:lnTo>
                  <a:lnTo>
                    <a:pt x="61341" y="1092"/>
                  </a:lnTo>
                  <a:lnTo>
                    <a:pt x="65443" y="0"/>
                  </a:lnTo>
                  <a:lnTo>
                    <a:pt x="61341" y="609"/>
                  </a:lnTo>
                  <a:lnTo>
                    <a:pt x="22326" y="21475"/>
                  </a:lnTo>
                  <a:lnTo>
                    <a:pt x="1460" y="60490"/>
                  </a:lnTo>
                  <a:lnTo>
                    <a:pt x="0" y="75361"/>
                  </a:lnTo>
                  <a:lnTo>
                    <a:pt x="0" y="1593380"/>
                  </a:lnTo>
                  <a:lnTo>
                    <a:pt x="2095" y="1598422"/>
                  </a:lnTo>
                  <a:lnTo>
                    <a:pt x="6756" y="1603082"/>
                  </a:lnTo>
                  <a:lnTo>
                    <a:pt x="10464" y="1606791"/>
                  </a:lnTo>
                  <a:lnTo>
                    <a:pt x="15519" y="1608886"/>
                  </a:lnTo>
                  <a:lnTo>
                    <a:pt x="5013693" y="1608886"/>
                  </a:lnTo>
                  <a:lnTo>
                    <a:pt x="5018735" y="1606791"/>
                  </a:lnTo>
                  <a:lnTo>
                    <a:pt x="5022443" y="1603082"/>
                  </a:lnTo>
                  <a:lnTo>
                    <a:pt x="5022926" y="1602600"/>
                  </a:lnTo>
                  <a:lnTo>
                    <a:pt x="5027104" y="1598422"/>
                  </a:lnTo>
                  <a:lnTo>
                    <a:pt x="5029200" y="1593380"/>
                  </a:lnTo>
                  <a:lnTo>
                    <a:pt x="5029200" y="75361"/>
                  </a:lnTo>
                  <a:close/>
                </a:path>
              </a:pathLst>
            </a:custGeom>
            <a:solidFill>
              <a:srgbClr val="52535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790562" y="4105274"/>
              <a:ext cx="4648835" cy="534035"/>
            </a:xfrm>
            <a:custGeom>
              <a:avLst/>
              <a:gdLst/>
              <a:ahLst/>
              <a:cxnLst/>
              <a:rect l="l" t="t" r="r" b="b"/>
              <a:pathLst>
                <a:path w="4648835" h="534035">
                  <a:moveTo>
                    <a:pt x="4648212" y="18592"/>
                  </a:moveTo>
                  <a:lnTo>
                    <a:pt x="4648200" y="15532"/>
                  </a:lnTo>
                  <a:lnTo>
                    <a:pt x="4646104" y="10477"/>
                  </a:lnTo>
                  <a:lnTo>
                    <a:pt x="4644009" y="8394"/>
                  </a:lnTo>
                  <a:lnTo>
                    <a:pt x="4639919" y="4267"/>
                  </a:lnTo>
                  <a:lnTo>
                    <a:pt x="4637735" y="2108"/>
                  </a:lnTo>
                  <a:lnTo>
                    <a:pt x="4632693" y="12"/>
                  </a:lnTo>
                  <a:lnTo>
                    <a:pt x="4629670" y="12"/>
                  </a:lnTo>
                  <a:lnTo>
                    <a:pt x="18592" y="0"/>
                  </a:lnTo>
                  <a:lnTo>
                    <a:pt x="15519" y="12"/>
                  </a:lnTo>
                  <a:lnTo>
                    <a:pt x="10464" y="2108"/>
                  </a:lnTo>
                  <a:lnTo>
                    <a:pt x="8331" y="4241"/>
                  </a:lnTo>
                  <a:lnTo>
                    <a:pt x="4267" y="8280"/>
                  </a:lnTo>
                  <a:lnTo>
                    <a:pt x="2095" y="10477"/>
                  </a:lnTo>
                  <a:lnTo>
                    <a:pt x="0" y="15532"/>
                  </a:lnTo>
                  <a:lnTo>
                    <a:pt x="0" y="517906"/>
                  </a:lnTo>
                  <a:lnTo>
                    <a:pt x="2095" y="522947"/>
                  </a:lnTo>
                  <a:lnTo>
                    <a:pt x="10464" y="531317"/>
                  </a:lnTo>
                  <a:lnTo>
                    <a:pt x="15519" y="533412"/>
                  </a:lnTo>
                  <a:lnTo>
                    <a:pt x="4632693" y="533412"/>
                  </a:lnTo>
                  <a:lnTo>
                    <a:pt x="4637735" y="531317"/>
                  </a:lnTo>
                  <a:lnTo>
                    <a:pt x="4639919" y="529132"/>
                  </a:lnTo>
                  <a:lnTo>
                    <a:pt x="4643945" y="525106"/>
                  </a:lnTo>
                  <a:lnTo>
                    <a:pt x="4646104" y="522947"/>
                  </a:lnTo>
                  <a:lnTo>
                    <a:pt x="4648200" y="517906"/>
                  </a:lnTo>
                  <a:lnTo>
                    <a:pt x="4648200" y="514870"/>
                  </a:lnTo>
                  <a:lnTo>
                    <a:pt x="4648212" y="18592"/>
                  </a:lnTo>
                  <a:close/>
                </a:path>
              </a:pathLst>
            </a:custGeom>
            <a:solidFill>
              <a:srgbClr val="28292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940841" y="4254500"/>
            <a:ext cx="2630805" cy="231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spc="70" dirty="0">
                <a:solidFill>
                  <a:srgbClr val="CFCBBE"/>
                </a:solidFill>
                <a:latin typeface="Trebuchet MS"/>
                <a:cs typeface="Trebuchet MS"/>
              </a:rPr>
              <a:t>nmap</a:t>
            </a:r>
            <a:r>
              <a:rPr sz="1350" spc="10" dirty="0">
                <a:solidFill>
                  <a:srgbClr val="CFCBBE"/>
                </a:solidFill>
                <a:latin typeface="Trebuchet MS"/>
                <a:cs typeface="Trebuchet MS"/>
              </a:rPr>
              <a:t> </a:t>
            </a:r>
            <a:r>
              <a:rPr sz="1350" dirty="0">
                <a:solidFill>
                  <a:srgbClr val="CFCBBE"/>
                </a:solidFill>
                <a:latin typeface="Trebuchet MS"/>
                <a:cs typeface="Trebuchet MS"/>
              </a:rPr>
              <a:t>-p</a:t>
            </a:r>
            <a:r>
              <a:rPr sz="1350" spc="10" dirty="0">
                <a:solidFill>
                  <a:srgbClr val="CFCBBE"/>
                </a:solidFill>
                <a:latin typeface="Trebuchet MS"/>
                <a:cs typeface="Trebuchet MS"/>
              </a:rPr>
              <a:t> </a:t>
            </a:r>
            <a:r>
              <a:rPr sz="1350" dirty="0">
                <a:solidFill>
                  <a:srgbClr val="CFCBBE"/>
                </a:solidFill>
                <a:latin typeface="Trebuchet MS"/>
                <a:cs typeface="Trebuchet MS"/>
              </a:rPr>
              <a:t>21,6200</a:t>
            </a:r>
            <a:r>
              <a:rPr sz="1350" spc="10" dirty="0">
                <a:solidFill>
                  <a:srgbClr val="CFCBBE"/>
                </a:solidFill>
                <a:latin typeface="Trebuchet MS"/>
                <a:cs typeface="Trebuchet MS"/>
              </a:rPr>
              <a:t> </a:t>
            </a:r>
            <a:r>
              <a:rPr sz="1350" spc="-10" dirty="0">
                <a:solidFill>
                  <a:srgbClr val="CFCBBE"/>
                </a:solidFill>
                <a:latin typeface="Trebuchet MS"/>
                <a:cs typeface="Trebuchet MS"/>
              </a:rPr>
              <a:t>192.168.100.25</a:t>
            </a:r>
            <a:endParaRPr sz="1350">
              <a:latin typeface="Trebuchet MS"/>
              <a:cs typeface="Trebuchet MS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600074" y="2962275"/>
            <a:ext cx="5029200" cy="514350"/>
            <a:chOff x="600074" y="2962275"/>
            <a:chExt cx="5029200" cy="514350"/>
          </a:xfrm>
        </p:grpSpPr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00074" y="2962275"/>
              <a:ext cx="5029199" cy="514349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012444" y="3110119"/>
              <a:ext cx="200587" cy="214786"/>
            </a:xfrm>
            <a:prstGeom prst="rect">
              <a:avLst/>
            </a:prstGeom>
          </p:spPr>
        </p:pic>
      </p:grpSp>
      <p:sp>
        <p:nvSpPr>
          <p:cNvPr id="12" name="object 12"/>
          <p:cNvSpPr txBox="1"/>
          <p:nvPr/>
        </p:nvSpPr>
        <p:spPr>
          <a:xfrm>
            <a:off x="777875" y="3621087"/>
            <a:ext cx="2017395" cy="2825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spc="245" dirty="0">
                <a:solidFill>
                  <a:srgbClr val="CFCBBE"/>
                </a:solidFill>
                <a:latin typeface="Calibri"/>
                <a:cs typeface="Calibri"/>
              </a:rPr>
              <a:t>Run</a:t>
            </a:r>
            <a:r>
              <a:rPr sz="1650" spc="35" dirty="0">
                <a:solidFill>
                  <a:srgbClr val="CFCBBE"/>
                </a:solidFill>
                <a:latin typeface="Calibri"/>
                <a:cs typeface="Calibri"/>
              </a:rPr>
              <a:t> </a:t>
            </a:r>
            <a:r>
              <a:rPr sz="1650" spc="225" dirty="0">
                <a:solidFill>
                  <a:srgbClr val="CFCBBE"/>
                </a:solidFill>
                <a:latin typeface="Calibri"/>
                <a:cs typeface="Calibri"/>
              </a:rPr>
              <a:t>Scan</a:t>
            </a:r>
            <a:r>
              <a:rPr sz="1650" spc="35" dirty="0">
                <a:solidFill>
                  <a:srgbClr val="CFCBBE"/>
                </a:solidFill>
                <a:latin typeface="Calibri"/>
                <a:cs typeface="Calibri"/>
              </a:rPr>
              <a:t> </a:t>
            </a:r>
            <a:r>
              <a:rPr sz="1650" spc="155" dirty="0">
                <a:solidFill>
                  <a:srgbClr val="CFCBBE"/>
                </a:solidFill>
                <a:latin typeface="Calibri"/>
                <a:cs typeface="Calibri"/>
              </a:rPr>
              <a:t>from</a:t>
            </a:r>
            <a:r>
              <a:rPr sz="1650" spc="35" dirty="0">
                <a:solidFill>
                  <a:srgbClr val="CFCBBE"/>
                </a:solidFill>
                <a:latin typeface="Calibri"/>
                <a:cs typeface="Calibri"/>
              </a:rPr>
              <a:t> </a:t>
            </a:r>
            <a:r>
              <a:rPr sz="1650" spc="160" dirty="0">
                <a:solidFill>
                  <a:srgbClr val="CFCBBE"/>
                </a:solidFill>
                <a:latin typeface="Calibri"/>
                <a:cs typeface="Calibri"/>
              </a:rPr>
              <a:t>Kali</a:t>
            </a:r>
            <a:endParaRPr sz="1650">
              <a:latin typeface="Calibri"/>
              <a:cs typeface="Calibri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5800724" y="2962275"/>
            <a:ext cx="5029200" cy="1866900"/>
            <a:chOff x="5800724" y="2962275"/>
            <a:chExt cx="5029200" cy="1866900"/>
          </a:xfrm>
        </p:grpSpPr>
        <p:sp>
          <p:nvSpPr>
            <p:cNvPr id="14" name="object 14"/>
            <p:cNvSpPr/>
            <p:nvPr/>
          </p:nvSpPr>
          <p:spPr>
            <a:xfrm>
              <a:off x="5810250" y="3219449"/>
              <a:ext cx="5010150" cy="1600200"/>
            </a:xfrm>
            <a:custGeom>
              <a:avLst/>
              <a:gdLst/>
              <a:ahLst/>
              <a:cxnLst/>
              <a:rect l="l" t="t" r="r" b="b"/>
              <a:pathLst>
                <a:path w="5010150" h="1600200">
                  <a:moveTo>
                    <a:pt x="4947856" y="0"/>
                  </a:moveTo>
                  <a:lnTo>
                    <a:pt x="62293" y="0"/>
                  </a:lnTo>
                  <a:lnTo>
                    <a:pt x="57962" y="482"/>
                  </a:lnTo>
                  <a:lnTo>
                    <a:pt x="22618" y="18783"/>
                  </a:lnTo>
                  <a:lnTo>
                    <a:pt x="2133" y="56426"/>
                  </a:lnTo>
                  <a:lnTo>
                    <a:pt x="0" y="71196"/>
                  </a:lnTo>
                  <a:lnTo>
                    <a:pt x="0" y="1588300"/>
                  </a:lnTo>
                  <a:lnTo>
                    <a:pt x="0" y="1591576"/>
                  </a:lnTo>
                  <a:lnTo>
                    <a:pt x="1155" y="1594383"/>
                  </a:lnTo>
                  <a:lnTo>
                    <a:pt x="5816" y="1599031"/>
                  </a:lnTo>
                  <a:lnTo>
                    <a:pt x="8623" y="1600200"/>
                  </a:lnTo>
                  <a:lnTo>
                    <a:pt x="5001526" y="1600200"/>
                  </a:lnTo>
                  <a:lnTo>
                    <a:pt x="5004333" y="1599031"/>
                  </a:lnTo>
                  <a:lnTo>
                    <a:pt x="5008981" y="1594383"/>
                  </a:lnTo>
                  <a:lnTo>
                    <a:pt x="5010150" y="1591576"/>
                  </a:lnTo>
                  <a:lnTo>
                    <a:pt x="5010150" y="71196"/>
                  </a:lnTo>
                  <a:lnTo>
                    <a:pt x="4996484" y="29705"/>
                  </a:lnTo>
                  <a:lnTo>
                    <a:pt x="4964950" y="3886"/>
                  </a:lnTo>
                  <a:lnTo>
                    <a:pt x="4952187" y="482"/>
                  </a:lnTo>
                  <a:lnTo>
                    <a:pt x="4947856" y="0"/>
                  </a:lnTo>
                  <a:close/>
                </a:path>
              </a:pathLst>
            </a:custGeom>
            <a:solidFill>
              <a:srgbClr val="1B1C1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5800712" y="3220300"/>
              <a:ext cx="5029200" cy="1609090"/>
            </a:xfrm>
            <a:custGeom>
              <a:avLst/>
              <a:gdLst/>
              <a:ahLst/>
              <a:cxnLst/>
              <a:rect l="l" t="t" r="r" b="b"/>
              <a:pathLst>
                <a:path w="5029200" h="1609089">
                  <a:moveTo>
                    <a:pt x="5029200" y="75361"/>
                  </a:moveTo>
                  <a:lnTo>
                    <a:pt x="5016373" y="33020"/>
                  </a:lnTo>
                  <a:lnTo>
                    <a:pt x="4982159" y="4965"/>
                  </a:lnTo>
                  <a:lnTo>
                    <a:pt x="4963757" y="0"/>
                  </a:lnTo>
                  <a:lnTo>
                    <a:pt x="4967871" y="1092"/>
                  </a:lnTo>
                  <a:lnTo>
                    <a:pt x="4981867" y="8826"/>
                  </a:lnTo>
                  <a:lnTo>
                    <a:pt x="5005794" y="46202"/>
                  </a:lnTo>
                  <a:lnTo>
                    <a:pt x="5010150" y="75361"/>
                  </a:lnTo>
                  <a:lnTo>
                    <a:pt x="5010150" y="1589049"/>
                  </a:lnTo>
                  <a:lnTo>
                    <a:pt x="5009756" y="1589443"/>
                  </a:lnTo>
                  <a:lnTo>
                    <a:pt x="5009362" y="1589836"/>
                  </a:lnTo>
                  <a:lnTo>
                    <a:pt x="19850" y="1589836"/>
                  </a:lnTo>
                  <a:lnTo>
                    <a:pt x="19050" y="1589049"/>
                  </a:lnTo>
                  <a:lnTo>
                    <a:pt x="19050" y="75361"/>
                  </a:lnTo>
                  <a:lnTo>
                    <a:pt x="19329" y="67843"/>
                  </a:lnTo>
                  <a:lnTo>
                    <a:pt x="32004" y="27038"/>
                  </a:lnTo>
                  <a:lnTo>
                    <a:pt x="61328" y="1092"/>
                  </a:lnTo>
                  <a:lnTo>
                    <a:pt x="65443" y="0"/>
                  </a:lnTo>
                  <a:lnTo>
                    <a:pt x="61341" y="609"/>
                  </a:lnTo>
                  <a:lnTo>
                    <a:pt x="22313" y="21475"/>
                  </a:lnTo>
                  <a:lnTo>
                    <a:pt x="1460" y="60490"/>
                  </a:lnTo>
                  <a:lnTo>
                    <a:pt x="0" y="75361"/>
                  </a:lnTo>
                  <a:lnTo>
                    <a:pt x="0" y="1593380"/>
                  </a:lnTo>
                  <a:lnTo>
                    <a:pt x="2095" y="1598422"/>
                  </a:lnTo>
                  <a:lnTo>
                    <a:pt x="6756" y="1603082"/>
                  </a:lnTo>
                  <a:lnTo>
                    <a:pt x="10464" y="1606791"/>
                  </a:lnTo>
                  <a:lnTo>
                    <a:pt x="15506" y="1608886"/>
                  </a:lnTo>
                  <a:lnTo>
                    <a:pt x="5013693" y="1608886"/>
                  </a:lnTo>
                  <a:lnTo>
                    <a:pt x="5018735" y="1606791"/>
                  </a:lnTo>
                  <a:lnTo>
                    <a:pt x="5022443" y="1603082"/>
                  </a:lnTo>
                  <a:lnTo>
                    <a:pt x="5022926" y="1602600"/>
                  </a:lnTo>
                  <a:lnTo>
                    <a:pt x="5027104" y="1598422"/>
                  </a:lnTo>
                  <a:lnTo>
                    <a:pt x="5029200" y="1593380"/>
                  </a:lnTo>
                  <a:lnTo>
                    <a:pt x="5029200" y="75361"/>
                  </a:lnTo>
                  <a:close/>
                </a:path>
              </a:pathLst>
            </a:custGeom>
            <a:solidFill>
              <a:srgbClr val="52535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800724" y="2962275"/>
              <a:ext cx="5029199" cy="514349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206515" y="3110119"/>
              <a:ext cx="213744" cy="214786"/>
            </a:xfrm>
            <a:prstGeom prst="rect">
              <a:avLst/>
            </a:prstGeom>
          </p:spPr>
        </p:pic>
      </p:grpSp>
      <p:sp>
        <p:nvSpPr>
          <p:cNvPr id="18" name="object 18"/>
          <p:cNvSpPr txBox="1"/>
          <p:nvPr/>
        </p:nvSpPr>
        <p:spPr>
          <a:xfrm>
            <a:off x="5978525" y="3621087"/>
            <a:ext cx="4410710" cy="875176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spc="140" dirty="0">
                <a:solidFill>
                  <a:srgbClr val="CFCBBE"/>
                </a:solidFill>
                <a:latin typeface="Calibri"/>
                <a:cs typeface="Calibri"/>
              </a:rPr>
              <a:t>Ports</a:t>
            </a:r>
            <a:r>
              <a:rPr sz="1650" spc="45" dirty="0">
                <a:solidFill>
                  <a:srgbClr val="CFCBBE"/>
                </a:solidFill>
                <a:latin typeface="Calibri"/>
                <a:cs typeface="Calibri"/>
              </a:rPr>
              <a:t> </a:t>
            </a:r>
            <a:r>
              <a:rPr sz="1650" spc="175" dirty="0">
                <a:solidFill>
                  <a:srgbClr val="CFCBBE"/>
                </a:solidFill>
                <a:latin typeface="Calibri"/>
                <a:cs typeface="Calibri"/>
              </a:rPr>
              <a:t>Closed</a:t>
            </a:r>
            <a:endParaRPr sz="1650" dirty="0">
              <a:latin typeface="Calibri"/>
              <a:cs typeface="Calibri"/>
            </a:endParaRPr>
          </a:p>
          <a:p>
            <a:pPr marL="12700" marR="5080">
              <a:lnSpc>
                <a:spcPct val="134300"/>
              </a:lnSpc>
              <a:spcBef>
                <a:spcPts val="615"/>
              </a:spcBef>
            </a:pPr>
            <a:r>
              <a:rPr sz="1350" dirty="0">
                <a:solidFill>
                  <a:srgbClr val="CFCBBE"/>
                </a:solidFill>
                <a:latin typeface="Trebuchet MS"/>
                <a:cs typeface="Trebuchet MS"/>
              </a:rPr>
              <a:t>This</a:t>
            </a:r>
            <a:r>
              <a:rPr sz="1350" spc="20" dirty="0">
                <a:solidFill>
                  <a:srgbClr val="CFCBBE"/>
                </a:solidFill>
                <a:latin typeface="Trebuchet MS"/>
                <a:cs typeface="Trebuchet MS"/>
              </a:rPr>
              <a:t> </a:t>
            </a:r>
            <a:r>
              <a:rPr sz="1350" dirty="0">
                <a:solidFill>
                  <a:srgbClr val="CFCBBE"/>
                </a:solidFill>
                <a:latin typeface="Trebuchet MS"/>
                <a:cs typeface="Trebuchet MS"/>
              </a:rPr>
              <a:t>comm</a:t>
            </a:r>
            <a:r>
              <a:rPr lang="en-US" sz="1350" dirty="0">
                <a:solidFill>
                  <a:srgbClr val="CFCBBE"/>
                </a:solidFill>
                <a:latin typeface="Trebuchet MS"/>
                <a:cs typeface="Trebuchet MS"/>
              </a:rPr>
              <a:t>a</a:t>
            </a:r>
            <a:r>
              <a:rPr sz="1350" dirty="0">
                <a:solidFill>
                  <a:srgbClr val="CFCBBE"/>
                </a:solidFill>
                <a:latin typeface="Trebuchet MS"/>
                <a:cs typeface="Trebuchet MS"/>
              </a:rPr>
              <a:t>nd</a:t>
            </a:r>
            <a:r>
              <a:rPr sz="1350" spc="-15" dirty="0">
                <a:solidFill>
                  <a:srgbClr val="CFCBBE"/>
                </a:solidFill>
                <a:latin typeface="Trebuchet MS"/>
                <a:cs typeface="Trebuchet MS"/>
              </a:rPr>
              <a:t> </a:t>
            </a:r>
            <a:r>
              <a:rPr sz="1350" spc="-10" dirty="0">
                <a:solidFill>
                  <a:srgbClr val="CFCBBE"/>
                </a:solidFill>
                <a:latin typeface="Trebuchet MS"/>
                <a:cs typeface="Trebuchet MS"/>
              </a:rPr>
              <a:t>verified</a:t>
            </a:r>
            <a:r>
              <a:rPr sz="1350" spc="30" dirty="0">
                <a:solidFill>
                  <a:srgbClr val="CFCBBE"/>
                </a:solidFill>
                <a:latin typeface="Trebuchet MS"/>
                <a:cs typeface="Trebuchet MS"/>
              </a:rPr>
              <a:t> </a:t>
            </a:r>
            <a:r>
              <a:rPr sz="1350" spc="-100" dirty="0">
                <a:solidFill>
                  <a:srgbClr val="CFCBBE"/>
                </a:solidFill>
                <a:latin typeface="Trebuchet MS"/>
                <a:cs typeface="Trebuchet MS"/>
              </a:rPr>
              <a:t>th</a:t>
            </a:r>
            <a:r>
              <a:rPr lang="en-US" sz="1350" spc="-100" dirty="0">
                <a:solidFill>
                  <a:srgbClr val="CFCBBE"/>
                </a:solidFill>
                <a:latin typeface="Trebuchet MS"/>
                <a:cs typeface="Trebuchet MS"/>
              </a:rPr>
              <a:t>a</a:t>
            </a:r>
            <a:r>
              <a:rPr sz="1350" spc="-100" dirty="0">
                <a:solidFill>
                  <a:srgbClr val="CFCBBE"/>
                </a:solidFill>
                <a:latin typeface="Trebuchet MS"/>
                <a:cs typeface="Trebuchet MS"/>
              </a:rPr>
              <a:t>t</a:t>
            </a:r>
            <a:r>
              <a:rPr sz="1350" spc="30" dirty="0">
                <a:solidFill>
                  <a:srgbClr val="CFCBBE"/>
                </a:solidFill>
                <a:latin typeface="Trebuchet MS"/>
                <a:cs typeface="Trebuchet MS"/>
              </a:rPr>
              <a:t> </a:t>
            </a:r>
            <a:r>
              <a:rPr sz="1350" dirty="0">
                <a:solidFill>
                  <a:srgbClr val="CFCBBE"/>
                </a:solidFill>
                <a:latin typeface="Trebuchet MS"/>
                <a:cs typeface="Trebuchet MS"/>
              </a:rPr>
              <a:t>the</a:t>
            </a:r>
            <a:r>
              <a:rPr sz="1350" spc="30" dirty="0">
                <a:solidFill>
                  <a:srgbClr val="CFCBBE"/>
                </a:solidFill>
                <a:latin typeface="Trebuchet MS"/>
                <a:cs typeface="Trebuchet MS"/>
              </a:rPr>
              <a:t> </a:t>
            </a:r>
            <a:r>
              <a:rPr sz="1350" dirty="0">
                <a:solidFill>
                  <a:srgbClr val="CFCBBE"/>
                </a:solidFill>
                <a:latin typeface="Trebuchet MS"/>
                <a:cs typeface="Trebuchet MS"/>
              </a:rPr>
              <a:t>defense</a:t>
            </a:r>
            <a:r>
              <a:rPr sz="1350" spc="-20" dirty="0">
                <a:solidFill>
                  <a:srgbClr val="CFCBBE"/>
                </a:solidFill>
                <a:latin typeface="Trebuchet MS"/>
                <a:cs typeface="Trebuchet MS"/>
              </a:rPr>
              <a:t> </a:t>
            </a:r>
            <a:r>
              <a:rPr sz="1350" spc="-10" dirty="0">
                <a:solidFill>
                  <a:srgbClr val="CFCBBE"/>
                </a:solidFill>
                <a:latin typeface="Trebuchet MS"/>
                <a:cs typeface="Trebuchet MS"/>
              </a:rPr>
              <a:t>w</a:t>
            </a:r>
            <a:r>
              <a:rPr lang="en-US" sz="1350" spc="-10" dirty="0">
                <a:solidFill>
                  <a:srgbClr val="CFCBBE"/>
                </a:solidFill>
                <a:latin typeface="Trebuchet MS"/>
                <a:cs typeface="Trebuchet MS"/>
              </a:rPr>
              <a:t>a</a:t>
            </a:r>
            <a:r>
              <a:rPr sz="1350" spc="-10" dirty="0">
                <a:solidFill>
                  <a:srgbClr val="CFCBBE"/>
                </a:solidFill>
                <a:latin typeface="Trebuchet MS"/>
                <a:cs typeface="Trebuchet MS"/>
              </a:rPr>
              <a:t>s</a:t>
            </a:r>
            <a:r>
              <a:rPr sz="1350" spc="35" dirty="0">
                <a:solidFill>
                  <a:srgbClr val="CFCBBE"/>
                </a:solidFill>
                <a:latin typeface="Trebuchet MS"/>
                <a:cs typeface="Trebuchet MS"/>
              </a:rPr>
              <a:t> </a:t>
            </a:r>
            <a:r>
              <a:rPr lang="en-US" sz="1350" spc="-10" dirty="0">
                <a:solidFill>
                  <a:srgbClr val="CFCBBE"/>
                </a:solidFill>
                <a:latin typeface="Trebuchet MS"/>
                <a:cs typeface="Trebuchet MS"/>
              </a:rPr>
              <a:t>successful,</a:t>
            </a:r>
            <a:r>
              <a:rPr sz="1350" spc="-10" dirty="0">
                <a:solidFill>
                  <a:srgbClr val="CFCBBE"/>
                </a:solidFill>
                <a:latin typeface="Trebuchet MS"/>
                <a:cs typeface="Trebuchet MS"/>
              </a:rPr>
              <a:t> </a:t>
            </a:r>
            <a:r>
              <a:rPr lang="en-US" sz="1350" spc="-35" dirty="0">
                <a:solidFill>
                  <a:srgbClr val="CFCBBE"/>
                </a:solidFill>
                <a:latin typeface="Trebuchet MS"/>
                <a:cs typeface="Trebuchet MS"/>
              </a:rPr>
              <a:t>a</a:t>
            </a:r>
            <a:r>
              <a:rPr sz="1350" spc="-35" dirty="0">
                <a:solidFill>
                  <a:srgbClr val="CFCBBE"/>
                </a:solidFill>
                <a:latin typeface="Trebuchet MS"/>
                <a:cs typeface="Trebuchet MS"/>
              </a:rPr>
              <a:t>nd</a:t>
            </a:r>
            <a:r>
              <a:rPr sz="1350" spc="15" dirty="0">
                <a:solidFill>
                  <a:srgbClr val="CFCBBE"/>
                </a:solidFill>
                <a:latin typeface="Trebuchet MS"/>
                <a:cs typeface="Trebuchet MS"/>
              </a:rPr>
              <a:t> </a:t>
            </a:r>
            <a:r>
              <a:rPr sz="1350" dirty="0">
                <a:solidFill>
                  <a:srgbClr val="CFCBBE"/>
                </a:solidFill>
                <a:latin typeface="Trebuchet MS"/>
                <a:cs typeface="Trebuchet MS"/>
              </a:rPr>
              <a:t>the</a:t>
            </a:r>
            <a:r>
              <a:rPr sz="1350" spc="15" dirty="0">
                <a:solidFill>
                  <a:srgbClr val="CFCBBE"/>
                </a:solidFill>
                <a:latin typeface="Trebuchet MS"/>
                <a:cs typeface="Trebuchet MS"/>
              </a:rPr>
              <a:t> </a:t>
            </a:r>
            <a:r>
              <a:rPr sz="1350" dirty="0">
                <a:solidFill>
                  <a:srgbClr val="CFCBBE"/>
                </a:solidFill>
                <a:latin typeface="Trebuchet MS"/>
                <a:cs typeface="Trebuchet MS"/>
              </a:rPr>
              <a:t>ports</a:t>
            </a:r>
            <a:r>
              <a:rPr sz="1350" spc="-35" dirty="0">
                <a:solidFill>
                  <a:srgbClr val="CFCBBE"/>
                </a:solidFill>
                <a:latin typeface="Trebuchet MS"/>
                <a:cs typeface="Trebuchet MS"/>
              </a:rPr>
              <a:t> </a:t>
            </a:r>
            <a:r>
              <a:rPr sz="1350" dirty="0">
                <a:solidFill>
                  <a:srgbClr val="CFCBBE"/>
                </a:solidFill>
                <a:latin typeface="Trebuchet MS"/>
                <a:cs typeface="Trebuchet MS"/>
              </a:rPr>
              <a:t>were</a:t>
            </a:r>
            <a:r>
              <a:rPr sz="1350" spc="15" dirty="0">
                <a:solidFill>
                  <a:srgbClr val="CFCBBE"/>
                </a:solidFill>
                <a:latin typeface="Trebuchet MS"/>
                <a:cs typeface="Trebuchet MS"/>
              </a:rPr>
              <a:t> </a:t>
            </a:r>
            <a:r>
              <a:rPr sz="1350" spc="55" dirty="0">
                <a:solidFill>
                  <a:srgbClr val="CFCBBE"/>
                </a:solidFill>
                <a:latin typeface="Trebuchet MS"/>
                <a:cs typeface="Trebuchet MS"/>
              </a:rPr>
              <a:t>no</a:t>
            </a:r>
            <a:r>
              <a:rPr sz="1350" spc="15" dirty="0">
                <a:solidFill>
                  <a:srgbClr val="CFCBBE"/>
                </a:solidFill>
                <a:latin typeface="Trebuchet MS"/>
                <a:cs typeface="Trebuchet MS"/>
              </a:rPr>
              <a:t> </a:t>
            </a:r>
            <a:r>
              <a:rPr sz="1350" dirty="0">
                <a:solidFill>
                  <a:srgbClr val="CFCBBE"/>
                </a:solidFill>
                <a:latin typeface="Trebuchet MS"/>
                <a:cs typeface="Trebuchet MS"/>
              </a:rPr>
              <a:t>longer</a:t>
            </a:r>
            <a:r>
              <a:rPr sz="1350" spc="-65" dirty="0">
                <a:solidFill>
                  <a:srgbClr val="CFCBBE"/>
                </a:solidFill>
                <a:latin typeface="Trebuchet MS"/>
                <a:cs typeface="Trebuchet MS"/>
              </a:rPr>
              <a:t> </a:t>
            </a:r>
            <a:r>
              <a:rPr sz="1350" spc="-10" dirty="0">
                <a:solidFill>
                  <a:srgbClr val="CFCBBE"/>
                </a:solidFill>
                <a:latin typeface="Trebuchet MS"/>
                <a:cs typeface="Trebuchet MS"/>
              </a:rPr>
              <a:t>vulner</a:t>
            </a:r>
            <a:r>
              <a:rPr lang="en-US" sz="1350" spc="-10" dirty="0">
                <a:solidFill>
                  <a:srgbClr val="CFCBBE"/>
                </a:solidFill>
                <a:latin typeface="Trebuchet MS"/>
                <a:cs typeface="Trebuchet MS"/>
              </a:rPr>
              <a:t>a</a:t>
            </a:r>
            <a:r>
              <a:rPr sz="1350" spc="-10" dirty="0">
                <a:solidFill>
                  <a:srgbClr val="CFCBBE"/>
                </a:solidFill>
                <a:latin typeface="Trebuchet MS"/>
                <a:cs typeface="Trebuchet MS"/>
              </a:rPr>
              <a:t>ble.</a:t>
            </a:r>
            <a:endParaRPr sz="1350" dirty="0">
              <a:latin typeface="Trebuchet MS"/>
              <a:cs typeface="Trebuchet MS"/>
            </a:endParaRPr>
          </a:p>
        </p:txBody>
      </p:sp>
      <p:pic>
        <p:nvPicPr>
          <p:cNvPr id="19" name="object 19">
            <a:hlinkClick r:id="rId6"/>
          </p:cNvPr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9580244" y="5926073"/>
            <a:ext cx="1754504" cy="4191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4800" y="327025"/>
            <a:ext cx="10256960" cy="1182052"/>
          </a:xfrm>
          <a:prstGeom prst="rect">
            <a:avLst/>
          </a:prstGeom>
        </p:spPr>
        <p:txBody>
          <a:bodyPr vert="horz" wrap="square" lIns="0" tIns="1206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350" dirty="0"/>
              <a:t>Phase</a:t>
            </a:r>
            <a:r>
              <a:rPr spc="55" dirty="0"/>
              <a:t> </a:t>
            </a:r>
            <a:r>
              <a:rPr spc="100" dirty="0"/>
              <a:t>4:</a:t>
            </a:r>
            <a:r>
              <a:rPr spc="60" dirty="0"/>
              <a:t> </a:t>
            </a:r>
            <a:r>
              <a:rPr spc="360" dirty="0"/>
              <a:t>Final</a:t>
            </a:r>
            <a:r>
              <a:rPr spc="50" dirty="0"/>
              <a:t> </a:t>
            </a:r>
            <a:r>
              <a:rPr spc="215" dirty="0"/>
              <a:t>Verification</a:t>
            </a:r>
          </a:p>
        </p:txBody>
      </p:sp>
      <p:pic>
        <p:nvPicPr>
          <p:cNvPr id="19" name="object 19">
            <a:hlinkClick r:id="rId2"/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580244" y="5926073"/>
            <a:ext cx="1754504" cy="419100"/>
          </a:xfrm>
          <a:prstGeom prst="rect">
            <a:avLst/>
          </a:prstGeom>
        </p:spPr>
      </p:pic>
      <p:pic>
        <p:nvPicPr>
          <p:cNvPr id="21" name="Picture 20" descr="A screenshot of a computer&#10;&#10;Description automatically generated">
            <a:extLst>
              <a:ext uri="{FF2B5EF4-FFF2-40B4-BE49-F238E27FC236}">
                <a16:creationId xmlns:a16="http://schemas.microsoft.com/office/drawing/2014/main" id="{1ECB1BB2-BA1A-F4A4-706F-1E6384E6949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" y="1317625"/>
            <a:ext cx="6934200" cy="4505954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AE552050-717C-0064-C512-66E2DA6C543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74274" y="0"/>
            <a:ext cx="3855726" cy="6445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05756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4D1B6F37-8AA9-F05D-03D4-0C6776B9A6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1382374" cy="6445250"/>
          </a:xfrm>
          <a:prstGeom prst="rect">
            <a:avLst/>
          </a:prstGeom>
        </p:spPr>
      </p:pic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xfrm>
            <a:off x="4800600" y="2003425"/>
            <a:ext cx="9715500" cy="731611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b="1" spc="315" dirty="0">
                <a:solidFill>
                  <a:srgbClr val="000000"/>
                </a:solidFill>
              </a:rPr>
              <a:t>Successfully</a:t>
            </a:r>
            <a:r>
              <a:rPr b="1" spc="90" dirty="0">
                <a:solidFill>
                  <a:srgbClr val="000000"/>
                </a:solidFill>
              </a:rPr>
              <a:t> </a:t>
            </a:r>
            <a:r>
              <a:rPr b="1" spc="330" dirty="0">
                <a:solidFill>
                  <a:srgbClr val="000000"/>
                </a:solidFill>
              </a:rPr>
              <a:t>Defended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076926" y="3279140"/>
            <a:ext cx="5562600" cy="53982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47189" marR="5080" indent="-1635125">
              <a:lnSpc>
                <a:spcPct val="134300"/>
              </a:lnSpc>
              <a:spcBef>
                <a:spcPts val="100"/>
              </a:spcBef>
            </a:pPr>
            <a:r>
              <a:rPr sz="1350" spc="45" dirty="0">
                <a:latin typeface="Trebuchet MS"/>
                <a:cs typeface="Trebuchet MS"/>
              </a:rPr>
              <a:t>Through</a:t>
            </a:r>
            <a:r>
              <a:rPr sz="1350" spc="-40" dirty="0">
                <a:latin typeface="Trebuchet MS"/>
                <a:cs typeface="Trebuchet MS"/>
              </a:rPr>
              <a:t> </a:t>
            </a:r>
            <a:r>
              <a:rPr sz="1350" spc="-10" dirty="0">
                <a:latin typeface="Trebuchet MS"/>
                <a:cs typeface="Trebuchet MS"/>
              </a:rPr>
              <a:t>swift</a:t>
            </a:r>
            <a:r>
              <a:rPr sz="1350" spc="-40" dirty="0">
                <a:latin typeface="Trebuchet MS"/>
                <a:cs typeface="Trebuchet MS"/>
              </a:rPr>
              <a:t> </a:t>
            </a:r>
            <a:r>
              <a:rPr lang="en-US" sz="1350" spc="-35" dirty="0">
                <a:latin typeface="Trebuchet MS"/>
                <a:cs typeface="Trebuchet MS"/>
              </a:rPr>
              <a:t>a</a:t>
            </a:r>
            <a:r>
              <a:rPr sz="1350" spc="-35" dirty="0">
                <a:latin typeface="Trebuchet MS"/>
                <a:cs typeface="Trebuchet MS"/>
              </a:rPr>
              <a:t>ction</a:t>
            </a:r>
            <a:r>
              <a:rPr sz="1350" spc="-40" dirty="0">
                <a:latin typeface="Trebuchet MS"/>
                <a:cs typeface="Trebuchet MS"/>
              </a:rPr>
              <a:t> </a:t>
            </a:r>
            <a:r>
              <a:rPr lang="en-US" sz="1350" spc="-35" dirty="0">
                <a:latin typeface="Trebuchet MS"/>
                <a:cs typeface="Trebuchet MS"/>
              </a:rPr>
              <a:t>a</a:t>
            </a:r>
            <a:r>
              <a:rPr sz="1350" spc="-35" dirty="0">
                <a:latin typeface="Trebuchet MS"/>
                <a:cs typeface="Trebuchet MS"/>
              </a:rPr>
              <a:t>nd</a:t>
            </a:r>
            <a:r>
              <a:rPr sz="1350" spc="-40" dirty="0">
                <a:latin typeface="Trebuchet MS"/>
                <a:cs typeface="Trebuchet MS"/>
              </a:rPr>
              <a:t> </a:t>
            </a:r>
            <a:r>
              <a:rPr sz="1350" spc="-25" dirty="0">
                <a:latin typeface="Trebuchet MS"/>
                <a:cs typeface="Trebuchet MS"/>
              </a:rPr>
              <a:t>str</a:t>
            </a:r>
            <a:r>
              <a:rPr lang="en-US" sz="1350" spc="-25" dirty="0">
                <a:latin typeface="Trebuchet MS"/>
                <a:cs typeface="Trebuchet MS"/>
              </a:rPr>
              <a:t>a</a:t>
            </a:r>
            <a:r>
              <a:rPr sz="1350" spc="-25" dirty="0">
                <a:latin typeface="Trebuchet MS"/>
                <a:cs typeface="Trebuchet MS"/>
              </a:rPr>
              <a:t>tegic</a:t>
            </a:r>
            <a:r>
              <a:rPr sz="1350" spc="-40" dirty="0">
                <a:latin typeface="Trebuchet MS"/>
                <a:cs typeface="Trebuchet MS"/>
              </a:rPr>
              <a:t> </a:t>
            </a:r>
            <a:r>
              <a:rPr sz="1350" spc="-10" dirty="0">
                <a:latin typeface="Trebuchet MS"/>
                <a:cs typeface="Trebuchet MS"/>
              </a:rPr>
              <a:t>configur</a:t>
            </a:r>
            <a:r>
              <a:rPr lang="en-US" sz="1350" spc="-10" dirty="0">
                <a:latin typeface="Trebuchet MS"/>
                <a:cs typeface="Trebuchet MS"/>
              </a:rPr>
              <a:t>a</a:t>
            </a:r>
            <a:r>
              <a:rPr sz="1350" spc="-10" dirty="0">
                <a:latin typeface="Trebuchet MS"/>
                <a:cs typeface="Trebuchet MS"/>
              </a:rPr>
              <a:t>tion</a:t>
            </a:r>
            <a:r>
              <a:rPr sz="1350" spc="-40" dirty="0">
                <a:latin typeface="Trebuchet MS"/>
                <a:cs typeface="Trebuchet MS"/>
              </a:rPr>
              <a:t> </a:t>
            </a:r>
            <a:r>
              <a:rPr sz="1350" dirty="0">
                <a:latin typeface="Trebuchet MS"/>
                <a:cs typeface="Trebuchet MS"/>
              </a:rPr>
              <a:t>ch</a:t>
            </a:r>
            <a:r>
              <a:rPr lang="en-US" sz="1350" dirty="0">
                <a:latin typeface="Trebuchet MS"/>
                <a:cs typeface="Trebuchet MS"/>
              </a:rPr>
              <a:t>a</a:t>
            </a:r>
            <a:r>
              <a:rPr sz="1350" dirty="0">
                <a:latin typeface="Trebuchet MS"/>
                <a:cs typeface="Trebuchet MS"/>
              </a:rPr>
              <a:t>nges,</a:t>
            </a:r>
            <a:r>
              <a:rPr sz="1350" spc="-40" dirty="0">
                <a:latin typeface="Trebuchet MS"/>
                <a:cs typeface="Trebuchet MS"/>
              </a:rPr>
              <a:t> </a:t>
            </a:r>
            <a:r>
              <a:rPr sz="1350" dirty="0">
                <a:latin typeface="Trebuchet MS"/>
                <a:cs typeface="Trebuchet MS"/>
              </a:rPr>
              <a:t>our</a:t>
            </a:r>
            <a:r>
              <a:rPr sz="1350" spc="-70" dirty="0">
                <a:latin typeface="Trebuchet MS"/>
                <a:cs typeface="Trebuchet MS"/>
              </a:rPr>
              <a:t> </a:t>
            </a:r>
            <a:r>
              <a:rPr sz="1350" spc="45" dirty="0">
                <a:latin typeface="Trebuchet MS"/>
                <a:cs typeface="Trebuchet MS"/>
              </a:rPr>
              <a:t>systems </a:t>
            </a:r>
            <a:r>
              <a:rPr sz="1350" spc="20" dirty="0">
                <a:latin typeface="Trebuchet MS"/>
                <a:cs typeface="Trebuchet MS"/>
              </a:rPr>
              <a:t>were</a:t>
            </a:r>
            <a:r>
              <a:rPr sz="1350" spc="85" dirty="0">
                <a:latin typeface="Trebuchet MS"/>
                <a:cs typeface="Trebuchet MS"/>
              </a:rPr>
              <a:t> </a:t>
            </a:r>
            <a:r>
              <a:rPr sz="1350" spc="20" dirty="0">
                <a:latin typeface="Trebuchet MS"/>
                <a:cs typeface="Trebuchet MS"/>
              </a:rPr>
              <a:t>successfully</a:t>
            </a:r>
            <a:r>
              <a:rPr sz="1350" spc="40" dirty="0">
                <a:latin typeface="Trebuchet MS"/>
                <a:cs typeface="Trebuchet MS"/>
              </a:rPr>
              <a:t> </a:t>
            </a:r>
            <a:r>
              <a:rPr sz="1350" spc="-10" dirty="0">
                <a:latin typeface="Trebuchet MS"/>
                <a:cs typeface="Trebuchet MS"/>
              </a:rPr>
              <a:t>protected.</a:t>
            </a:r>
            <a:endParaRPr sz="1350" dirty="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36</TotalTime>
  <Words>772</Words>
  <Application>Microsoft Office PowerPoint</Application>
  <PresentationFormat>Custom</PresentationFormat>
  <Paragraphs>95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Calibri</vt:lpstr>
      <vt:lpstr>Tahoma</vt:lpstr>
      <vt:lpstr>Trebuchet MS</vt:lpstr>
      <vt:lpstr>Office Theme</vt:lpstr>
      <vt:lpstr>Cybersecurity Project: Attack a Defense</vt:lpstr>
      <vt:lpstr>PowerPoint Presentation</vt:lpstr>
      <vt:lpstr>Attack Simulation: Setup</vt:lpstr>
      <vt:lpstr>Attack Simulation: Setup</vt:lpstr>
      <vt:lpstr>Port Scanning a Service Discovery</vt:lpstr>
      <vt:lpstr>Exploit Selection: Metasploit</vt:lpstr>
      <vt:lpstr>Exploit Selection: Metasploit</vt:lpstr>
      <vt:lpstr>Exploit Selection: Metasploit</vt:lpstr>
      <vt:lpstr>Exploit Configuration a Attempt</vt:lpstr>
      <vt:lpstr>Exploit Configuration a Attempt</vt:lpstr>
      <vt:lpstr>Verification a Manual Connection</vt:lpstr>
      <vt:lpstr>PowerPoint Presentation</vt:lpstr>
      <vt:lpstr>Defense on Metasploitable2</vt:lpstr>
      <vt:lpstr>Phase 1: Stopping the Service</vt:lpstr>
      <vt:lpstr>Phase 1: Stopping the Service</vt:lpstr>
      <vt:lpstr>Phase 2: Permanent Mitigation</vt:lpstr>
      <vt:lpstr>Phase 2: Permanent Mitigation</vt:lpstr>
      <vt:lpstr>Phase 3: Applying Changes</vt:lpstr>
      <vt:lpstr>Phase 3: Applying Changes</vt:lpstr>
      <vt:lpstr>Phase 4: Final Verification</vt:lpstr>
      <vt:lpstr>Phase 4: Final Verification</vt:lpstr>
      <vt:lpstr>Successfully Defended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Untitled</dc:title>
  <cp:lastModifiedBy>aya hisham</cp:lastModifiedBy>
  <cp:revision>2</cp:revision>
  <dcterms:created xsi:type="dcterms:W3CDTF">2025-08-24T16:54:34Z</dcterms:created>
  <dcterms:modified xsi:type="dcterms:W3CDTF">2025-08-24T17:31:32Z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2025-08-24T00:00:00Z</vt:filetime>
  </property>
  <property fmtid="{D5CDD505-2E9C-101B-9397-08002B2CF9AE}" pid="3" name="Creator">
    <vt:lpwstr>pdf-lib (https://github.com/Hopding/pdf-lib)</vt:lpwstr>
  </property>
  <property fmtid="{D5CDD505-2E9C-101B-9397-08002B2CF9AE}" pid="4" name="LastSaved">
    <vt:filetime>2025-08-24T00:00:00Z</vt:filetime>
  </property>
  <property fmtid="{D5CDD505-2E9C-101B-9397-08002B2CF9AE}" pid="5" name="Producer">
    <vt:lpwstr>GPL Ghostscript 9.56.1</vt:lpwstr>
  </property>
</Properties>
</file>